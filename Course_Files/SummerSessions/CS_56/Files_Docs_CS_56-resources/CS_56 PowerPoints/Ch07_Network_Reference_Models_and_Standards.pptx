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46"/>
  </p:notesMasterIdLst>
  <p:handoutMasterIdLst>
    <p:handoutMasterId r:id="rId47"/>
  </p:handoutMasterIdLst>
  <p:sldIdLst>
    <p:sldId id="257" r:id="rId5"/>
    <p:sldId id="259" r:id="rId6"/>
    <p:sldId id="401" r:id="rId7"/>
    <p:sldId id="402" r:id="rId8"/>
    <p:sldId id="403" r:id="rId9"/>
    <p:sldId id="404" r:id="rId10"/>
    <p:sldId id="268" r:id="rId11"/>
    <p:sldId id="405" r:id="rId12"/>
    <p:sldId id="406" r:id="rId13"/>
    <p:sldId id="407" r:id="rId14"/>
    <p:sldId id="408" r:id="rId15"/>
    <p:sldId id="409" r:id="rId16"/>
    <p:sldId id="410" r:id="rId17"/>
    <p:sldId id="411" r:id="rId18"/>
    <p:sldId id="412" r:id="rId19"/>
    <p:sldId id="413" r:id="rId20"/>
    <p:sldId id="400" r:id="rId21"/>
    <p:sldId id="414" r:id="rId22"/>
    <p:sldId id="415" r:id="rId23"/>
    <p:sldId id="416" r:id="rId24"/>
    <p:sldId id="417" r:id="rId25"/>
    <p:sldId id="418" r:id="rId26"/>
    <p:sldId id="419" r:id="rId27"/>
    <p:sldId id="420" r:id="rId28"/>
    <p:sldId id="421" r:id="rId29"/>
    <p:sldId id="422" r:id="rId30"/>
    <p:sldId id="423" r:id="rId31"/>
    <p:sldId id="424" r:id="rId32"/>
    <p:sldId id="262" r:id="rId33"/>
    <p:sldId id="263" r:id="rId34"/>
    <p:sldId id="425" r:id="rId35"/>
    <p:sldId id="426" r:id="rId36"/>
    <p:sldId id="428" r:id="rId37"/>
    <p:sldId id="427" r:id="rId38"/>
    <p:sldId id="429" r:id="rId39"/>
    <p:sldId id="430" r:id="rId40"/>
    <p:sldId id="283" r:id="rId41"/>
    <p:sldId id="313" r:id="rId42"/>
    <p:sldId id="314" r:id="rId43"/>
    <p:sldId id="269" r:id="rId44"/>
    <p:sldId id="270" r:id="rId45"/>
  </p:sldIdLst>
  <p:sldSz cx="12192000" cy="6858000"/>
  <p:notesSz cx="6858000" cy="9144000"/>
  <p:custDataLst>
    <p:tags r:id="rId48"/>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1041" autoAdjust="0"/>
  </p:normalViewPr>
  <p:slideViewPr>
    <p:cSldViewPr snapToGrid="0" snapToObjects="1">
      <p:cViewPr varScale="1">
        <p:scale>
          <a:sx n="98" d="100"/>
          <a:sy n="98" d="100"/>
        </p:scale>
        <p:origin x="254" y="8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10086265-A5FE-4DEB-8846-2D0A35332A8D}"/>
    <pc:docChg chg="custSel modSld modMainMaster">
      <pc:chgData name="Anthony Pacheco" userId="fdf46b62-f4f9-461f-bfbc-c3446c220a65" providerId="ADAL" clId="{10086265-A5FE-4DEB-8846-2D0A35332A8D}" dt="2026-03-03T16:30:05.006" v="56" actId="255"/>
      <pc:docMkLst>
        <pc:docMk/>
      </pc:docMkLst>
      <pc:sldChg chg="modSp mod">
        <pc:chgData name="Anthony Pacheco" userId="fdf46b62-f4f9-461f-bfbc-c3446c220a65" providerId="ADAL" clId="{10086265-A5FE-4DEB-8846-2D0A35332A8D}" dt="2026-03-03T16:26:18.108" v="5" actId="113"/>
        <pc:sldMkLst>
          <pc:docMk/>
          <pc:sldMk cId="3724899739" sldId="259"/>
        </pc:sldMkLst>
        <pc:spChg chg="mod">
          <ac:chgData name="Anthony Pacheco" userId="fdf46b62-f4f9-461f-bfbc-c3446c220a65" providerId="ADAL" clId="{10086265-A5FE-4DEB-8846-2D0A35332A8D}" dt="2026-03-03T16:26:18.108" v="5" actId="113"/>
          <ac:spMkLst>
            <pc:docMk/>
            <pc:sldMk cId="3724899739" sldId="259"/>
            <ac:spMk id="3" creationId="{5654B1CF-B9D3-4962-AD19-D9C1AB18881D}"/>
          </ac:spMkLst>
        </pc:spChg>
      </pc:sldChg>
      <pc:sldChg chg="modSp mod">
        <pc:chgData name="Anthony Pacheco" userId="fdf46b62-f4f9-461f-bfbc-c3446c220a65" providerId="ADAL" clId="{10086265-A5FE-4DEB-8846-2D0A35332A8D}" dt="2026-03-03T16:26:39.753" v="10" actId="113"/>
        <pc:sldMkLst>
          <pc:docMk/>
          <pc:sldMk cId="3793246627" sldId="401"/>
        </pc:sldMkLst>
        <pc:spChg chg="mod">
          <ac:chgData name="Anthony Pacheco" userId="fdf46b62-f4f9-461f-bfbc-c3446c220a65" providerId="ADAL" clId="{10086265-A5FE-4DEB-8846-2D0A35332A8D}" dt="2026-03-03T16:26:39.753" v="10" actId="113"/>
          <ac:spMkLst>
            <pc:docMk/>
            <pc:sldMk cId="3793246627" sldId="401"/>
            <ac:spMk id="3" creationId="{0E37EACE-ECEE-C8E9-70A2-9ED273D84A71}"/>
          </ac:spMkLst>
        </pc:spChg>
      </pc:sldChg>
      <pc:sldChg chg="modSp mod">
        <pc:chgData name="Anthony Pacheco" userId="fdf46b62-f4f9-461f-bfbc-c3446c220a65" providerId="ADAL" clId="{10086265-A5FE-4DEB-8846-2D0A35332A8D}" dt="2026-03-03T16:27:06.158" v="17" actId="113"/>
        <pc:sldMkLst>
          <pc:docMk/>
          <pc:sldMk cId="3143918432" sldId="402"/>
        </pc:sldMkLst>
        <pc:spChg chg="mod">
          <ac:chgData name="Anthony Pacheco" userId="fdf46b62-f4f9-461f-bfbc-c3446c220a65" providerId="ADAL" clId="{10086265-A5FE-4DEB-8846-2D0A35332A8D}" dt="2026-03-03T16:27:06.158" v="17" actId="113"/>
          <ac:spMkLst>
            <pc:docMk/>
            <pc:sldMk cId="3143918432" sldId="402"/>
            <ac:spMk id="3" creationId="{2989292C-7C50-D2EF-672F-16F67C2374BF}"/>
          </ac:spMkLst>
        </pc:spChg>
      </pc:sldChg>
      <pc:sldChg chg="modSp mod">
        <pc:chgData name="Anthony Pacheco" userId="fdf46b62-f4f9-461f-bfbc-c3446c220a65" providerId="ADAL" clId="{10086265-A5FE-4DEB-8846-2D0A35332A8D}" dt="2026-03-03T16:27:30.060" v="25" actId="113"/>
        <pc:sldMkLst>
          <pc:docMk/>
          <pc:sldMk cId="359652461" sldId="403"/>
        </pc:sldMkLst>
        <pc:spChg chg="mod">
          <ac:chgData name="Anthony Pacheco" userId="fdf46b62-f4f9-461f-bfbc-c3446c220a65" providerId="ADAL" clId="{10086265-A5FE-4DEB-8846-2D0A35332A8D}" dt="2026-03-03T16:27:30.060" v="25" actId="113"/>
          <ac:spMkLst>
            <pc:docMk/>
            <pc:sldMk cId="359652461" sldId="403"/>
            <ac:spMk id="3" creationId="{8F8FA2DB-8475-D853-0D4A-E9249316EE8D}"/>
          </ac:spMkLst>
        </pc:spChg>
      </pc:sldChg>
      <pc:sldChg chg="modSp mod">
        <pc:chgData name="Anthony Pacheco" userId="fdf46b62-f4f9-461f-bfbc-c3446c220a65" providerId="ADAL" clId="{10086265-A5FE-4DEB-8846-2D0A35332A8D}" dt="2026-03-03T16:27:57.850" v="28" actId="113"/>
        <pc:sldMkLst>
          <pc:docMk/>
          <pc:sldMk cId="3938739166" sldId="404"/>
        </pc:sldMkLst>
        <pc:spChg chg="mod">
          <ac:chgData name="Anthony Pacheco" userId="fdf46b62-f4f9-461f-bfbc-c3446c220a65" providerId="ADAL" clId="{10086265-A5FE-4DEB-8846-2D0A35332A8D}" dt="2026-03-03T16:27:57.850" v="28" actId="113"/>
          <ac:spMkLst>
            <pc:docMk/>
            <pc:sldMk cId="3938739166" sldId="404"/>
            <ac:spMk id="3" creationId="{9957CE74-9BE9-8886-6131-942FFFEC1170}"/>
          </ac:spMkLst>
        </pc:spChg>
      </pc:sldChg>
      <pc:sldChg chg="modSp mod">
        <pc:chgData name="Anthony Pacheco" userId="fdf46b62-f4f9-461f-bfbc-c3446c220a65" providerId="ADAL" clId="{10086265-A5FE-4DEB-8846-2D0A35332A8D}" dt="2026-03-03T16:28:18.809" v="31" actId="113"/>
        <pc:sldMkLst>
          <pc:docMk/>
          <pc:sldMk cId="3374006970" sldId="405"/>
        </pc:sldMkLst>
        <pc:spChg chg="mod">
          <ac:chgData name="Anthony Pacheco" userId="fdf46b62-f4f9-461f-bfbc-c3446c220a65" providerId="ADAL" clId="{10086265-A5FE-4DEB-8846-2D0A35332A8D}" dt="2026-03-03T16:28:18.809" v="31" actId="113"/>
          <ac:spMkLst>
            <pc:docMk/>
            <pc:sldMk cId="3374006970" sldId="405"/>
            <ac:spMk id="3" creationId="{2DDAD8DA-23E1-8973-F370-111AA96B7EC2}"/>
          </ac:spMkLst>
        </pc:spChg>
      </pc:sldChg>
      <pc:sldChg chg="modSp mod">
        <pc:chgData name="Anthony Pacheco" userId="fdf46b62-f4f9-461f-bfbc-c3446c220a65" providerId="ADAL" clId="{10086265-A5FE-4DEB-8846-2D0A35332A8D}" dt="2026-03-03T16:28:35.836" v="33" actId="113"/>
        <pc:sldMkLst>
          <pc:docMk/>
          <pc:sldMk cId="197280009" sldId="409"/>
        </pc:sldMkLst>
        <pc:spChg chg="mod">
          <ac:chgData name="Anthony Pacheco" userId="fdf46b62-f4f9-461f-bfbc-c3446c220a65" providerId="ADAL" clId="{10086265-A5FE-4DEB-8846-2D0A35332A8D}" dt="2026-03-03T16:28:35.836" v="33" actId="113"/>
          <ac:spMkLst>
            <pc:docMk/>
            <pc:sldMk cId="197280009" sldId="409"/>
            <ac:spMk id="3" creationId="{98860FAB-3C14-6BBE-BA72-80B025B1DA69}"/>
          </ac:spMkLst>
        </pc:spChg>
      </pc:sldChg>
      <pc:sldChg chg="modSp mod">
        <pc:chgData name="Anthony Pacheco" userId="fdf46b62-f4f9-461f-bfbc-c3446c220a65" providerId="ADAL" clId="{10086265-A5FE-4DEB-8846-2D0A35332A8D}" dt="2026-03-03T16:28:48.447" v="36" actId="113"/>
        <pc:sldMkLst>
          <pc:docMk/>
          <pc:sldMk cId="73445573" sldId="412"/>
        </pc:sldMkLst>
        <pc:spChg chg="mod">
          <ac:chgData name="Anthony Pacheco" userId="fdf46b62-f4f9-461f-bfbc-c3446c220a65" providerId="ADAL" clId="{10086265-A5FE-4DEB-8846-2D0A35332A8D}" dt="2026-03-03T16:28:48.447" v="36" actId="113"/>
          <ac:spMkLst>
            <pc:docMk/>
            <pc:sldMk cId="73445573" sldId="412"/>
            <ac:spMk id="3" creationId="{29FEFB20-0D4A-2F8D-C871-D49CE74008B0}"/>
          </ac:spMkLst>
        </pc:spChg>
      </pc:sldChg>
      <pc:sldChg chg="modSp mod">
        <pc:chgData name="Anthony Pacheco" userId="fdf46b62-f4f9-461f-bfbc-c3446c220a65" providerId="ADAL" clId="{10086265-A5FE-4DEB-8846-2D0A35332A8D}" dt="2026-03-03T16:28:54.558" v="38" actId="113"/>
        <pc:sldMkLst>
          <pc:docMk/>
          <pc:sldMk cId="271580151" sldId="413"/>
        </pc:sldMkLst>
        <pc:spChg chg="mod">
          <ac:chgData name="Anthony Pacheco" userId="fdf46b62-f4f9-461f-bfbc-c3446c220a65" providerId="ADAL" clId="{10086265-A5FE-4DEB-8846-2D0A35332A8D}" dt="2026-03-03T16:28:54.558" v="38" actId="113"/>
          <ac:spMkLst>
            <pc:docMk/>
            <pc:sldMk cId="271580151" sldId="413"/>
            <ac:spMk id="3" creationId="{EEF48783-51CC-8C93-66BD-D2074C780DAE}"/>
          </ac:spMkLst>
        </pc:spChg>
      </pc:sldChg>
      <pc:sldChg chg="modSp mod">
        <pc:chgData name="Anthony Pacheco" userId="fdf46b62-f4f9-461f-bfbc-c3446c220a65" providerId="ADAL" clId="{10086265-A5FE-4DEB-8846-2D0A35332A8D}" dt="2026-03-03T16:29:42.006" v="45" actId="14100"/>
        <pc:sldMkLst>
          <pc:docMk/>
          <pc:sldMk cId="3006071320" sldId="415"/>
        </pc:sldMkLst>
        <pc:spChg chg="mod">
          <ac:chgData name="Anthony Pacheco" userId="fdf46b62-f4f9-461f-bfbc-c3446c220a65" providerId="ADAL" clId="{10086265-A5FE-4DEB-8846-2D0A35332A8D}" dt="2026-03-03T16:29:42.006" v="45" actId="14100"/>
          <ac:spMkLst>
            <pc:docMk/>
            <pc:sldMk cId="3006071320" sldId="415"/>
            <ac:spMk id="3" creationId="{87861B8D-D068-610A-F14B-CF9EB0E65580}"/>
          </ac:spMkLst>
        </pc:spChg>
      </pc:sldChg>
      <pc:sldChg chg="addSp modSp mod">
        <pc:chgData name="Anthony Pacheco" userId="fdf46b62-f4f9-461f-bfbc-c3446c220a65" providerId="ADAL" clId="{10086265-A5FE-4DEB-8846-2D0A35332A8D}" dt="2026-03-03T16:30:05.006" v="56" actId="255"/>
        <pc:sldMkLst>
          <pc:docMk/>
          <pc:sldMk cId="3449307693" sldId="416"/>
        </pc:sldMkLst>
        <pc:spChg chg="add mod">
          <ac:chgData name="Anthony Pacheco" userId="fdf46b62-f4f9-461f-bfbc-c3446c220a65" providerId="ADAL" clId="{10086265-A5FE-4DEB-8846-2D0A35332A8D}" dt="2026-03-03T16:30:05.006" v="56" actId="255"/>
          <ac:spMkLst>
            <pc:docMk/>
            <pc:sldMk cId="3449307693" sldId="416"/>
            <ac:spMk id="5" creationId="{F6E41F0D-5CF1-4527-80AD-98DFE1A551FA}"/>
          </ac:spMkLst>
        </pc:spChg>
      </pc:sldChg>
      <pc:sldMasterChg chg="delSp modSp mod modSldLayout">
        <pc:chgData name="Anthony Pacheco" userId="fdf46b62-f4f9-461f-bfbc-c3446c220a65" providerId="ADAL" clId="{10086265-A5FE-4DEB-8846-2D0A35332A8D}" dt="2026-03-03T16:25:51.256" v="3" actId="14100"/>
        <pc:sldMasterMkLst>
          <pc:docMk/>
          <pc:sldMasterMk cId="682046013" sldId="2147483725"/>
        </pc:sldMasterMkLst>
        <pc:spChg chg="mod">
          <ac:chgData name="Anthony Pacheco" userId="fdf46b62-f4f9-461f-bfbc-c3446c220a65" providerId="ADAL" clId="{10086265-A5FE-4DEB-8846-2D0A35332A8D}" dt="2026-03-03T16:25:45.386" v="2" actId="20577"/>
          <ac:spMkLst>
            <pc:docMk/>
            <pc:sldMasterMk cId="682046013" sldId="2147483725"/>
            <ac:spMk id="8" creationId="{0E6636BF-D3CC-4DFC-A057-41CF18719446}"/>
          </ac:spMkLst>
        </pc:spChg>
        <pc:spChg chg="mod">
          <ac:chgData name="Anthony Pacheco" userId="fdf46b62-f4f9-461f-bfbc-c3446c220a65" providerId="ADAL" clId="{10086265-A5FE-4DEB-8846-2D0A35332A8D}" dt="2026-03-03T16:25:51.256" v="3" actId="14100"/>
          <ac:spMkLst>
            <pc:docMk/>
            <pc:sldMasterMk cId="682046013" sldId="2147483725"/>
            <ac:spMk id="13" creationId="{A34EF16C-F8E9-4C74-8268-011BE18366AF}"/>
          </ac:spMkLst>
        </pc:spChg>
        <pc:picChg chg="del">
          <ac:chgData name="Anthony Pacheco" userId="fdf46b62-f4f9-461f-bfbc-c3446c220a65" providerId="ADAL" clId="{10086265-A5FE-4DEB-8846-2D0A35332A8D}" dt="2026-03-03T16:25:42.007" v="1" actId="478"/>
          <ac:picMkLst>
            <pc:docMk/>
            <pc:sldMasterMk cId="682046013" sldId="2147483725"/>
            <ac:picMk id="14" creationId="{E7C5765A-7DA4-4F63-BBF6-FDB000C6FC14}"/>
          </ac:picMkLst>
        </pc:picChg>
        <pc:sldLayoutChg chg="delSp mod">
          <pc:chgData name="Anthony Pacheco" userId="fdf46b62-f4f9-461f-bfbc-c3446c220a65" providerId="ADAL" clId="{10086265-A5FE-4DEB-8846-2D0A35332A8D}" dt="2026-03-03T16:24:42.298" v="0" actId="478"/>
          <pc:sldLayoutMkLst>
            <pc:docMk/>
            <pc:sldMasterMk cId="682046013" sldId="2147483725"/>
            <pc:sldLayoutMk cId="2170826813" sldId="2147483765"/>
          </pc:sldLayoutMkLst>
          <pc:picChg chg="del">
            <ac:chgData name="Anthony Pacheco" userId="fdf46b62-f4f9-461f-bfbc-c3446c220a65" providerId="ADAL" clId="{10086265-A5FE-4DEB-8846-2D0A35332A8D}" dt="2026-03-03T16:24:42.298" v="0" actId="478"/>
            <ac:picMkLst>
              <pc:docMk/>
              <pc:sldMasterMk cId="682046013" sldId="2147483725"/>
              <pc:sldLayoutMk cId="2170826813" sldId="2147483765"/>
              <ac:picMk id="21" creationId="{FDE6C580-026E-426D-A0EE-BDE15B891A0A}"/>
            </ac:picMkLst>
          </pc:picChg>
        </pc:sldLayoutChg>
      </pc:sldMasterChg>
    </pc:docChg>
  </pc:docChgLst>
  <pc:docChgLst>
    <pc:chgData name="Anthony Pacheco" userId="fdf46b62-f4f9-461f-bfbc-c3446c220a65" providerId="ADAL" clId="{46C61306-57F8-4F30-B63F-8877BEB9A9E1}"/>
    <pc:docChg chg="modSld">
      <pc:chgData name="Anthony Pacheco" userId="fdf46b62-f4f9-461f-bfbc-c3446c220a65" providerId="ADAL" clId="{46C61306-57F8-4F30-B63F-8877BEB9A9E1}" dt="2026-02-24T05:41:37.086" v="30" actId="20577"/>
      <pc:docMkLst>
        <pc:docMk/>
      </pc:docMkLst>
      <pc:sldChg chg="modSp mod">
        <pc:chgData name="Anthony Pacheco" userId="fdf46b62-f4f9-461f-bfbc-c3446c220a65" providerId="ADAL" clId="{46C61306-57F8-4F30-B63F-8877BEB9A9E1}" dt="2026-02-24T05:41:37.086" v="30" actId="20577"/>
        <pc:sldMkLst>
          <pc:docMk/>
          <pc:sldMk cId="2293288057" sldId="257"/>
        </pc:sldMkLst>
        <pc:spChg chg="mod">
          <ac:chgData name="Anthony Pacheco" userId="fdf46b62-f4f9-461f-bfbc-c3446c220a65" providerId="ADAL" clId="{46C61306-57F8-4F30-B63F-8877BEB9A9E1}" dt="2026-02-24T05:40:29.164" v="0" actId="1076"/>
          <ac:spMkLst>
            <pc:docMk/>
            <pc:sldMk cId="2293288057" sldId="257"/>
            <ac:spMk id="3" creationId="{21966DE8-7575-4696-B84F-B4DD0C822D6A}"/>
          </ac:spMkLst>
        </pc:spChg>
        <pc:spChg chg="mod">
          <ac:chgData name="Anthony Pacheco" userId="fdf46b62-f4f9-461f-bfbc-c3446c220a65" providerId="ADAL" clId="{46C61306-57F8-4F30-B63F-8877BEB9A9E1}" dt="2026-02-24T05:41:32.537" v="29" actId="1036"/>
          <ac:spMkLst>
            <pc:docMk/>
            <pc:sldMk cId="2293288057" sldId="257"/>
            <ac:spMk id="4" creationId="{81DDBEBE-99BA-45B9-B4E5-D18D90F7A983}"/>
          </ac:spMkLst>
        </pc:spChg>
        <pc:spChg chg="mod">
          <ac:chgData name="Anthony Pacheco" userId="fdf46b62-f4f9-461f-bfbc-c3446c220a65" providerId="ADAL" clId="{46C61306-57F8-4F30-B63F-8877BEB9A9E1}" dt="2026-02-24T05:41:37.086" v="30" actId="20577"/>
          <ac:spMkLst>
            <pc:docMk/>
            <pc:sldMk cId="2293288057" sldId="257"/>
            <ac:spMk id="6" creationId="{8CA6B67B-9490-477D-A112-06C22B6F8640}"/>
          </ac:spMkLst>
        </pc:spChg>
        <pc:picChg chg="mod">
          <ac:chgData name="Anthony Pacheco" userId="fdf46b62-f4f9-461f-bfbc-c3446c220a65" providerId="ADAL" clId="{46C61306-57F8-4F30-B63F-8877BEB9A9E1}" dt="2026-02-24T05:40:52.275" v="5" actId="1076"/>
          <ac:picMkLst>
            <pc:docMk/>
            <pc:sldMk cId="2293288057" sldId="257"/>
            <ac:picMk id="5" creationId="{D9DA3F57-FCDA-E211-2D37-62F3E335156F}"/>
          </ac:picMkLst>
        </pc:pic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pic>
        <p:nvPicPr>
          <p:cNvPr id="17" name="Picture 16">
            <a:extLst>
              <a:ext uri="{FF2B5EF4-FFF2-40B4-BE49-F238E27FC236}">
                <a16:creationId xmlns:a16="http://schemas.microsoft.com/office/drawing/2014/main" id="{EAF0C6CA-9F2E-439D-8A9B-5B8BD35A936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83087" y="6223885"/>
            <a:ext cx="1820281" cy="610675"/>
          </a:xfrm>
          <a:prstGeom prst="rect">
            <a:avLst/>
          </a:prstGeom>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430887"/>
          </a:xfrm>
          <a:prstGeom prst="rect">
            <a:avLst/>
          </a:prstGeom>
          <a:noFill/>
        </p:spPr>
        <p:txBody>
          <a:bodyPr wrap="square" rtlCol="0">
            <a:spAutoFit/>
          </a:bodyPr>
          <a:lstStyle/>
          <a:p>
            <a:r>
              <a:rPr lang="en-US" sz="1100" dirty="0">
                <a:solidFill>
                  <a:schemeClr val="bg1"/>
                </a:solidFill>
                <a:latin typeface="+mn-lt"/>
              </a:rPr>
              <a:t>Greg Tomsho, Guide to Networking Essentials, 9th Edition. © 2026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575745"/>
            <a:ext cx="12192000" cy="2822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dirty="0">
                <a:solidFill>
                  <a:schemeClr val="bg1"/>
                </a:solidFill>
                <a:latin typeface="+mn-lt"/>
              </a:rPr>
              <a:t>.</a:t>
            </a: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a:xfrm>
            <a:off x="5522144" y="337405"/>
            <a:ext cx="6104302" cy="2387600"/>
          </a:xfrm>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a:xfrm>
            <a:off x="4683211" y="3255560"/>
            <a:ext cx="7067511" cy="2156703"/>
          </a:xfrm>
        </p:spPr>
        <p:txBody>
          <a:bodyPr/>
          <a:lstStyle/>
          <a:p>
            <a:r>
              <a:rPr lang="en-US" sz="3600" dirty="0"/>
              <a:t>Chapter 7: </a:t>
            </a:r>
            <a:r>
              <a:rPr lang="en-US" b="1" dirty="0"/>
              <a:t>Network Reference Models and Standards</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D9DA3F57-FCDA-E211-2D37-62F3E335156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62929" y="815765"/>
            <a:ext cx="3767773" cy="4825132"/>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6843" y="1690692"/>
            <a:ext cx="11241915" cy="4351338"/>
          </a:xfrm>
        </p:spPr>
        <p:txBody>
          <a:bodyPr/>
          <a:lstStyle/>
          <a:p>
            <a:pPr marL="0" indent="0">
              <a:buNone/>
            </a:pPr>
            <a:r>
              <a:rPr lang="en-US" dirty="0"/>
              <a:t>By the end of this chapter, you should be able to:</a:t>
            </a:r>
          </a:p>
          <a:p>
            <a:pPr marL="457200" indent="-457200">
              <a:buFont typeface="+mj-lt"/>
              <a:buAutoNum type="arabicPeriod"/>
            </a:pPr>
            <a:r>
              <a:rPr lang="en-US" altLang="zh-CN" dirty="0"/>
              <a:t>Describe the </a:t>
            </a:r>
            <a:r>
              <a:rPr lang="en-US" altLang="zh-CN" b="1" dirty="0"/>
              <a:t>OSI Model </a:t>
            </a:r>
            <a:r>
              <a:rPr lang="en-US" altLang="zh-CN" dirty="0"/>
              <a:t>and </a:t>
            </a:r>
            <a:r>
              <a:rPr lang="en-US" altLang="zh-CN" b="1" dirty="0"/>
              <a:t>IEEE 802 Networking Standards</a:t>
            </a:r>
          </a:p>
          <a:p>
            <a:pPr marL="457200" indent="-457200">
              <a:buFont typeface="+mj-lt"/>
              <a:buAutoNum type="arabicPeriod"/>
            </a:pPr>
            <a:r>
              <a:rPr lang="en-US" altLang="zh-CN" dirty="0"/>
              <a:t>Summarize the IEEE 802 Networking Standards</a:t>
            </a:r>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C9E83-6324-3B6B-6BF1-7769F278BAE2}"/>
              </a:ext>
            </a:extLst>
          </p:cNvPr>
          <p:cNvSpPr>
            <a:spLocks noGrp="1"/>
          </p:cNvSpPr>
          <p:nvPr>
            <p:ph type="title"/>
          </p:nvPr>
        </p:nvSpPr>
        <p:spPr/>
        <p:txBody>
          <a:bodyPr/>
          <a:lstStyle/>
          <a:p>
            <a:r>
              <a:rPr lang="en-US" dirty="0"/>
              <a:t>Introducing the OSI Model and the IEEE 802 Networking Standard</a:t>
            </a:r>
          </a:p>
        </p:txBody>
      </p:sp>
      <p:sp>
        <p:nvSpPr>
          <p:cNvPr id="3" name="Content Placeholder 2">
            <a:extLst>
              <a:ext uri="{FF2B5EF4-FFF2-40B4-BE49-F238E27FC236}">
                <a16:creationId xmlns:a16="http://schemas.microsoft.com/office/drawing/2014/main" id="{0E37EACE-ECEE-C8E9-70A2-9ED273D84A71}"/>
              </a:ext>
            </a:extLst>
          </p:cNvPr>
          <p:cNvSpPr>
            <a:spLocks noGrp="1"/>
          </p:cNvSpPr>
          <p:nvPr>
            <p:ph idx="1"/>
          </p:nvPr>
        </p:nvSpPr>
        <p:spPr/>
        <p:txBody>
          <a:bodyPr/>
          <a:lstStyle/>
          <a:p>
            <a:r>
              <a:rPr lang="en-US" dirty="0"/>
              <a:t>The </a:t>
            </a:r>
            <a:r>
              <a:rPr lang="en-US" b="1" dirty="0"/>
              <a:t>Open Systems Interconnection (OSI) reference model </a:t>
            </a:r>
            <a:r>
              <a:rPr lang="en-US" dirty="0"/>
              <a:t>proposed by the </a:t>
            </a:r>
            <a:r>
              <a:rPr lang="en-US" b="1" dirty="0"/>
              <a:t>International Organization for Standardization (ISO) </a:t>
            </a:r>
            <a:r>
              <a:rPr lang="en-US" dirty="0"/>
              <a:t>provides a common framework for developers and students of networking to work with and learn from</a:t>
            </a:r>
          </a:p>
          <a:p>
            <a:r>
              <a:rPr lang="en-US" dirty="0"/>
              <a:t>The </a:t>
            </a:r>
            <a:r>
              <a:rPr lang="en-US" b="1" dirty="0"/>
              <a:t>OSI model </a:t>
            </a:r>
            <a:r>
              <a:rPr lang="en-US" dirty="0"/>
              <a:t>is not specific to any protocol suite and can be </a:t>
            </a:r>
            <a:r>
              <a:rPr lang="en-US" b="1" dirty="0"/>
              <a:t>applied</a:t>
            </a:r>
            <a:r>
              <a:rPr lang="en-US" dirty="0"/>
              <a:t> to </a:t>
            </a:r>
            <a:r>
              <a:rPr lang="en-US" b="1" dirty="0"/>
              <a:t>most networking protocols</a:t>
            </a:r>
          </a:p>
          <a:p>
            <a:r>
              <a:rPr lang="en-US" dirty="0"/>
              <a:t>This model is a </a:t>
            </a:r>
            <a:r>
              <a:rPr lang="en-US" b="1" dirty="0"/>
              <a:t>seven-layer organization </a:t>
            </a:r>
            <a:r>
              <a:rPr lang="en-US" dirty="0"/>
              <a:t>of </a:t>
            </a:r>
            <a:r>
              <a:rPr lang="en-US" b="1" dirty="0"/>
              <a:t>how data travels </a:t>
            </a:r>
            <a:r>
              <a:rPr lang="en-US" dirty="0"/>
              <a:t>from place to place on any given network</a:t>
            </a:r>
          </a:p>
          <a:p>
            <a:endParaRPr lang="en-US" dirty="0"/>
          </a:p>
        </p:txBody>
      </p:sp>
    </p:spTree>
    <p:extLst>
      <p:ext uri="{BB962C8B-B14F-4D97-AF65-F5344CB8AC3E}">
        <p14:creationId xmlns:p14="http://schemas.microsoft.com/office/powerpoint/2010/main" val="3793246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1D4B4-A5D0-CABB-5E00-B61533C3D20D}"/>
              </a:ext>
            </a:extLst>
          </p:cNvPr>
          <p:cNvSpPr>
            <a:spLocks noGrp="1"/>
          </p:cNvSpPr>
          <p:nvPr>
            <p:ph type="title"/>
          </p:nvPr>
        </p:nvSpPr>
        <p:spPr/>
        <p:txBody>
          <a:bodyPr/>
          <a:lstStyle/>
          <a:p>
            <a:r>
              <a:rPr lang="en-US" dirty="0"/>
              <a:t>Role of a Reference Model (1 of 3)</a:t>
            </a:r>
          </a:p>
        </p:txBody>
      </p:sp>
      <p:sp>
        <p:nvSpPr>
          <p:cNvPr id="3" name="Content Placeholder 2">
            <a:extLst>
              <a:ext uri="{FF2B5EF4-FFF2-40B4-BE49-F238E27FC236}">
                <a16:creationId xmlns:a16="http://schemas.microsoft.com/office/drawing/2014/main" id="{2989292C-7C50-D2EF-672F-16F67C2374BF}"/>
              </a:ext>
            </a:extLst>
          </p:cNvPr>
          <p:cNvSpPr>
            <a:spLocks noGrp="1"/>
          </p:cNvSpPr>
          <p:nvPr>
            <p:ph idx="1"/>
          </p:nvPr>
        </p:nvSpPr>
        <p:spPr/>
        <p:txBody>
          <a:bodyPr/>
          <a:lstStyle/>
          <a:p>
            <a:r>
              <a:rPr lang="en-US" dirty="0"/>
              <a:t>To see the </a:t>
            </a:r>
            <a:r>
              <a:rPr lang="en-US" b="1" dirty="0"/>
              <a:t>value of a layered model</a:t>
            </a:r>
            <a:r>
              <a:rPr lang="en-US" dirty="0"/>
              <a:t>, look at an example of a letter being created, sent and delivered by the US Postal Service:</a:t>
            </a:r>
          </a:p>
          <a:p>
            <a:pPr lvl="1"/>
            <a:r>
              <a:rPr lang="en-US" sz="2200" dirty="0"/>
              <a:t>The </a:t>
            </a:r>
            <a:r>
              <a:rPr lang="en-US" sz="2200" b="1" dirty="0"/>
              <a:t>letter has to be written</a:t>
            </a:r>
          </a:p>
          <a:p>
            <a:pPr lvl="1"/>
            <a:r>
              <a:rPr lang="en-US" sz="2200" dirty="0"/>
              <a:t>The letter has to be </a:t>
            </a:r>
            <a:r>
              <a:rPr lang="en-US" sz="2200" b="1" dirty="0"/>
              <a:t>placed in an envelope </a:t>
            </a:r>
            <a:r>
              <a:rPr lang="en-US" sz="2200" dirty="0"/>
              <a:t>and </a:t>
            </a:r>
            <a:r>
              <a:rPr lang="en-US" sz="2200" b="1" dirty="0"/>
              <a:t>addressed</a:t>
            </a:r>
            <a:r>
              <a:rPr lang="en-US" sz="2200" dirty="0"/>
              <a:t> in the correct format</a:t>
            </a:r>
          </a:p>
          <a:p>
            <a:pPr lvl="1"/>
            <a:r>
              <a:rPr lang="en-US" sz="2200" dirty="0"/>
              <a:t>The envelope has to be </a:t>
            </a:r>
            <a:r>
              <a:rPr lang="en-US" sz="2200" b="1" dirty="0"/>
              <a:t>stamped</a:t>
            </a:r>
          </a:p>
          <a:p>
            <a:pPr lvl="1"/>
            <a:r>
              <a:rPr lang="en-US" sz="2200" dirty="0"/>
              <a:t>The local post office in the destination town has to </a:t>
            </a:r>
            <a:r>
              <a:rPr lang="en-US" sz="2200" b="1" dirty="0"/>
              <a:t>sort the letter </a:t>
            </a:r>
            <a:r>
              <a:rPr lang="en-US" sz="2200" dirty="0"/>
              <a:t>correctly </a:t>
            </a:r>
            <a:r>
              <a:rPr lang="en-US" sz="2200" b="1" dirty="0"/>
              <a:t>based one the zip code </a:t>
            </a:r>
            <a:r>
              <a:rPr lang="en-US" sz="2200" dirty="0"/>
              <a:t>and get it on the right plane to the destination</a:t>
            </a:r>
          </a:p>
          <a:p>
            <a:endParaRPr lang="en-US" dirty="0"/>
          </a:p>
        </p:txBody>
      </p:sp>
    </p:spTree>
    <p:extLst>
      <p:ext uri="{BB962C8B-B14F-4D97-AF65-F5344CB8AC3E}">
        <p14:creationId xmlns:p14="http://schemas.microsoft.com/office/powerpoint/2010/main" val="3143918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5ED9F-B04A-9E5F-368B-D965B5617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EB347-8979-FFF2-16BB-DC8C8C522324}"/>
              </a:ext>
            </a:extLst>
          </p:cNvPr>
          <p:cNvSpPr>
            <a:spLocks noGrp="1"/>
          </p:cNvSpPr>
          <p:nvPr>
            <p:ph type="title"/>
          </p:nvPr>
        </p:nvSpPr>
        <p:spPr/>
        <p:txBody>
          <a:bodyPr/>
          <a:lstStyle/>
          <a:p>
            <a:r>
              <a:rPr lang="en-US" dirty="0"/>
              <a:t>Role of a Reference Model (2 of 3)</a:t>
            </a:r>
          </a:p>
        </p:txBody>
      </p:sp>
      <p:sp>
        <p:nvSpPr>
          <p:cNvPr id="3" name="Content Placeholder 2">
            <a:extLst>
              <a:ext uri="{FF2B5EF4-FFF2-40B4-BE49-F238E27FC236}">
                <a16:creationId xmlns:a16="http://schemas.microsoft.com/office/drawing/2014/main" id="{8F8FA2DB-8475-D853-0D4A-E9249316EE8D}"/>
              </a:ext>
            </a:extLst>
          </p:cNvPr>
          <p:cNvSpPr>
            <a:spLocks noGrp="1"/>
          </p:cNvSpPr>
          <p:nvPr>
            <p:ph idx="1"/>
          </p:nvPr>
        </p:nvSpPr>
        <p:spPr/>
        <p:txBody>
          <a:bodyPr/>
          <a:lstStyle/>
          <a:p>
            <a:r>
              <a:rPr lang="en-US" dirty="0"/>
              <a:t>To see the value of a layered model, look at an </a:t>
            </a:r>
            <a:r>
              <a:rPr lang="en-US" b="1" dirty="0"/>
              <a:t>example of a letter </a:t>
            </a:r>
            <a:r>
              <a:rPr lang="en-US" dirty="0"/>
              <a:t>being </a:t>
            </a:r>
            <a:r>
              <a:rPr lang="en-US" b="1" dirty="0"/>
              <a:t>created</a:t>
            </a:r>
            <a:r>
              <a:rPr lang="en-US" dirty="0"/>
              <a:t>, </a:t>
            </a:r>
            <a:r>
              <a:rPr lang="en-US" b="1" dirty="0"/>
              <a:t>sent</a:t>
            </a:r>
            <a:r>
              <a:rPr lang="en-US" dirty="0"/>
              <a:t> and </a:t>
            </a:r>
            <a:r>
              <a:rPr lang="en-US" b="1" dirty="0"/>
              <a:t>delivered</a:t>
            </a:r>
            <a:r>
              <a:rPr lang="en-US" dirty="0"/>
              <a:t> by the US Postal Service (continued):</a:t>
            </a:r>
          </a:p>
          <a:p>
            <a:pPr lvl="1"/>
            <a:r>
              <a:rPr lang="en-US" sz="2200" dirty="0"/>
              <a:t>The post office in the destination town has to sort the letter correctly for the right part of town</a:t>
            </a:r>
          </a:p>
          <a:p>
            <a:pPr lvl="1"/>
            <a:r>
              <a:rPr lang="en-US" sz="2200" dirty="0"/>
              <a:t>The local carrier has to deliver the letter to the correct house</a:t>
            </a:r>
          </a:p>
          <a:p>
            <a:pPr lvl="1"/>
            <a:r>
              <a:rPr lang="en-US" sz="2200" dirty="0"/>
              <a:t>The </a:t>
            </a:r>
            <a:r>
              <a:rPr lang="en-US" sz="2200" b="1" dirty="0"/>
              <a:t>recipient</a:t>
            </a:r>
            <a:r>
              <a:rPr lang="en-US" sz="2200" dirty="0"/>
              <a:t> has to </a:t>
            </a:r>
            <a:r>
              <a:rPr lang="en-US" sz="2200" b="1" dirty="0"/>
              <a:t>receive the letter</a:t>
            </a:r>
            <a:r>
              <a:rPr lang="en-US" sz="2200" dirty="0"/>
              <a:t>, </a:t>
            </a:r>
            <a:r>
              <a:rPr lang="en-US" sz="2200" b="1" dirty="0"/>
              <a:t>open</a:t>
            </a:r>
            <a:r>
              <a:rPr lang="en-US" sz="2200" dirty="0"/>
              <a:t> it, and </a:t>
            </a:r>
            <a:r>
              <a:rPr lang="en-US" sz="2200" b="1" dirty="0"/>
              <a:t>read</a:t>
            </a:r>
            <a:r>
              <a:rPr lang="en-US" sz="2200" dirty="0"/>
              <a:t> it</a:t>
            </a:r>
          </a:p>
          <a:p>
            <a:r>
              <a:rPr lang="en-US" dirty="0"/>
              <a:t>A layered approach to a complicated process reduces its complexity and turns it into a series of interconnected tasks</a:t>
            </a:r>
          </a:p>
          <a:p>
            <a:endParaRPr lang="en-US" dirty="0"/>
          </a:p>
        </p:txBody>
      </p:sp>
    </p:spTree>
    <p:extLst>
      <p:ext uri="{BB962C8B-B14F-4D97-AF65-F5344CB8AC3E}">
        <p14:creationId xmlns:p14="http://schemas.microsoft.com/office/powerpoint/2010/main" val="359652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32222-6E47-C628-18A8-D10B3C702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CF545-5462-CAC4-9859-00C19B93469F}"/>
              </a:ext>
            </a:extLst>
          </p:cNvPr>
          <p:cNvSpPr>
            <a:spLocks noGrp="1"/>
          </p:cNvSpPr>
          <p:nvPr>
            <p:ph type="title"/>
          </p:nvPr>
        </p:nvSpPr>
        <p:spPr/>
        <p:txBody>
          <a:bodyPr/>
          <a:lstStyle/>
          <a:p>
            <a:r>
              <a:rPr lang="en-US" dirty="0"/>
              <a:t>Role of a Reference Model (3 of 3)</a:t>
            </a:r>
          </a:p>
        </p:txBody>
      </p:sp>
      <p:sp>
        <p:nvSpPr>
          <p:cNvPr id="3" name="Content Placeholder 2">
            <a:extLst>
              <a:ext uri="{FF2B5EF4-FFF2-40B4-BE49-F238E27FC236}">
                <a16:creationId xmlns:a16="http://schemas.microsoft.com/office/drawing/2014/main" id="{9957CE74-9BE9-8886-6131-942FFFEC1170}"/>
              </a:ext>
            </a:extLst>
          </p:cNvPr>
          <p:cNvSpPr>
            <a:spLocks noGrp="1"/>
          </p:cNvSpPr>
          <p:nvPr>
            <p:ph idx="1"/>
          </p:nvPr>
        </p:nvSpPr>
        <p:spPr/>
        <p:txBody>
          <a:bodyPr/>
          <a:lstStyle/>
          <a:p>
            <a:r>
              <a:rPr lang="en-US" altLang="zh-CN" b="1" dirty="0">
                <a:cs typeface="Arial" panose="020B0604020202020204" pitchFamily="34" charset="0"/>
              </a:rPr>
              <a:t>Each task of </a:t>
            </a:r>
            <a:r>
              <a:rPr lang="en-US" altLang="zh-CN" dirty="0">
                <a:cs typeface="Arial" panose="020B0604020202020204" pitchFamily="34" charset="0"/>
              </a:rPr>
              <a:t>the previous example can be handled separately without affecting the procedures of the other tasks.</a:t>
            </a:r>
          </a:p>
          <a:p>
            <a:r>
              <a:rPr lang="en-US" altLang="zh-CN" dirty="0">
                <a:cs typeface="Arial" panose="020B0604020202020204" pitchFamily="34" charset="0"/>
              </a:rPr>
              <a:t>For example, in the step where the local carrier delivers the letter to the correct house:</a:t>
            </a:r>
          </a:p>
          <a:p>
            <a:pPr lvl="1"/>
            <a:r>
              <a:rPr lang="en-US" altLang="zh-CN" sz="2200" dirty="0">
                <a:cs typeface="Arial" panose="020B0604020202020204" pitchFamily="34" charset="0"/>
              </a:rPr>
              <a:t>Let’s say he currently walks on his route, which takes a considerable amount of time</a:t>
            </a:r>
          </a:p>
          <a:p>
            <a:pPr lvl="1"/>
            <a:r>
              <a:rPr lang="en-US" altLang="zh-CN" sz="2200" dirty="0">
                <a:cs typeface="Arial" panose="020B0604020202020204" pitchFamily="34" charset="0"/>
              </a:rPr>
              <a:t>He gets an “</a:t>
            </a:r>
            <a:r>
              <a:rPr lang="en-US" altLang="zh-CN" sz="2200" b="1" dirty="0">
                <a:cs typeface="Arial" panose="020B0604020202020204" pitchFamily="34" charset="0"/>
              </a:rPr>
              <a:t>upgrade</a:t>
            </a:r>
            <a:r>
              <a:rPr lang="en-US" altLang="zh-CN" sz="2200" dirty="0">
                <a:cs typeface="Arial" panose="020B0604020202020204" pitchFamily="34" charset="0"/>
              </a:rPr>
              <a:t>” to a delivery truck so that he can </a:t>
            </a:r>
            <a:r>
              <a:rPr lang="en-US" altLang="zh-CN" sz="2200" b="1" dirty="0">
                <a:cs typeface="Arial" panose="020B0604020202020204" pitchFamily="34" charset="0"/>
              </a:rPr>
              <a:t>perform his task faster</a:t>
            </a:r>
          </a:p>
          <a:p>
            <a:pPr lvl="1"/>
            <a:r>
              <a:rPr lang="en-US" altLang="zh-CN" sz="2200" dirty="0">
                <a:cs typeface="Arial" panose="020B0604020202020204" pitchFamily="34" charset="0"/>
              </a:rPr>
              <a:t>As you can see, one part of the process can change but the rest of the process remains unchanged</a:t>
            </a:r>
          </a:p>
          <a:p>
            <a:endParaRPr lang="en-US" altLang="zh-CN" dirty="0"/>
          </a:p>
          <a:p>
            <a:endParaRPr lang="en-US" dirty="0"/>
          </a:p>
        </p:txBody>
      </p:sp>
    </p:spTree>
    <p:extLst>
      <p:ext uri="{BB962C8B-B14F-4D97-AF65-F5344CB8AC3E}">
        <p14:creationId xmlns:p14="http://schemas.microsoft.com/office/powerpoint/2010/main" val="3938739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Structure of the OSI Model (1 of 6)</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2755013"/>
            <a:ext cx="4294598" cy="1200329"/>
          </a:xfrm>
          <a:prstGeom prst="rect">
            <a:avLst/>
          </a:prstGeom>
          <a:noFill/>
        </p:spPr>
        <p:txBody>
          <a:bodyPr wrap="square" rtlCol="0">
            <a:spAutoFit/>
          </a:bodyPr>
          <a:lstStyle/>
          <a:p>
            <a:r>
              <a:rPr lang="en-US" sz="2400" b="1" dirty="0">
                <a:latin typeface="Work Sans" pitchFamily="2" charset="0"/>
              </a:rPr>
              <a:t>Figure 7-1  </a:t>
            </a:r>
            <a:r>
              <a:rPr lang="en-US" sz="2400" dirty="0">
                <a:latin typeface="Work Sans" pitchFamily="2" charset="0"/>
              </a:rPr>
              <a:t>The seven layers of the OSI reference model</a:t>
            </a:r>
          </a:p>
        </p:txBody>
      </p:sp>
      <p:pic>
        <p:nvPicPr>
          <p:cNvPr id="4" name="Picture 3" descr="The seven layers in the O S I reference model are the following from bottom to top. 1. Physical. 2. Data Link. 3. Network. 4. Transport. 5. Session. 6. Presentation. 7. Application.">
            <a:extLst>
              <a:ext uri="{FF2B5EF4-FFF2-40B4-BE49-F238E27FC236}">
                <a16:creationId xmlns:a16="http://schemas.microsoft.com/office/drawing/2014/main" id="{CEF01FD2-5B63-B0F0-13B9-3F3D7E269C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619910" y="1916044"/>
            <a:ext cx="3851402" cy="3354599"/>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A188-7F49-4999-A03D-87AFA781B0D0}"/>
              </a:ext>
            </a:extLst>
          </p:cNvPr>
          <p:cNvSpPr>
            <a:spLocks noGrp="1"/>
          </p:cNvSpPr>
          <p:nvPr>
            <p:ph type="title"/>
          </p:nvPr>
        </p:nvSpPr>
        <p:spPr/>
        <p:txBody>
          <a:bodyPr/>
          <a:lstStyle/>
          <a:p>
            <a:r>
              <a:rPr lang="en-US" dirty="0"/>
              <a:t>Structure of the OSI Model (2 of 6)</a:t>
            </a:r>
          </a:p>
        </p:txBody>
      </p:sp>
      <p:sp>
        <p:nvSpPr>
          <p:cNvPr id="3" name="Content Placeholder 2">
            <a:extLst>
              <a:ext uri="{FF2B5EF4-FFF2-40B4-BE49-F238E27FC236}">
                <a16:creationId xmlns:a16="http://schemas.microsoft.com/office/drawing/2014/main" id="{2DDAD8DA-23E1-8973-F370-111AA96B7EC2}"/>
              </a:ext>
            </a:extLst>
          </p:cNvPr>
          <p:cNvSpPr>
            <a:spLocks noGrp="1"/>
          </p:cNvSpPr>
          <p:nvPr>
            <p:ph idx="1"/>
          </p:nvPr>
        </p:nvSpPr>
        <p:spPr/>
        <p:txBody>
          <a:bodyPr/>
          <a:lstStyle/>
          <a:p>
            <a:r>
              <a:rPr lang="en-US" dirty="0"/>
              <a:t>Each layer in the OSI model </a:t>
            </a:r>
            <a:r>
              <a:rPr lang="en-US" b="1" dirty="0"/>
              <a:t>has its own set of well-defined functions</a:t>
            </a:r>
          </a:p>
          <a:p>
            <a:r>
              <a:rPr lang="en-US" dirty="0"/>
              <a:t>The </a:t>
            </a:r>
            <a:r>
              <a:rPr lang="en-US" b="1" dirty="0"/>
              <a:t>functions of each layer </a:t>
            </a:r>
            <a:r>
              <a:rPr lang="en-US" dirty="0"/>
              <a:t>communicate and interact with the layers immediately above and below it</a:t>
            </a:r>
          </a:p>
          <a:p>
            <a:pPr lvl="1"/>
            <a:r>
              <a:rPr lang="en-US" sz="2200" dirty="0"/>
              <a:t>Example: The </a:t>
            </a:r>
            <a:r>
              <a:rPr lang="en-US" sz="2200" b="1" dirty="0"/>
              <a:t>Transport layer works </a:t>
            </a:r>
            <a:r>
              <a:rPr lang="en-US" sz="2200" dirty="0"/>
              <a:t>with the Network layer below it and the Session layer above it</a:t>
            </a:r>
          </a:p>
          <a:p>
            <a:r>
              <a:rPr lang="en-US" dirty="0"/>
              <a:t>The next slide will compare the TCP/IP model with the OSI model</a:t>
            </a:r>
          </a:p>
          <a:p>
            <a:r>
              <a:rPr lang="en-US" dirty="0"/>
              <a:t>Each layer on one computer behaves as though it were communicating with the same layer on the other computer</a:t>
            </a:r>
          </a:p>
          <a:p>
            <a:pPr lvl="1"/>
            <a:r>
              <a:rPr lang="en-US" sz="2200" dirty="0"/>
              <a:t>This behavior is known as </a:t>
            </a:r>
            <a:r>
              <a:rPr lang="en-US" sz="2200" b="1" dirty="0"/>
              <a:t>peer communication </a:t>
            </a:r>
            <a:r>
              <a:rPr lang="en-US" sz="2200" dirty="0"/>
              <a:t>between layers</a:t>
            </a:r>
          </a:p>
          <a:p>
            <a:endParaRPr lang="en-US" dirty="0"/>
          </a:p>
        </p:txBody>
      </p:sp>
    </p:spTree>
    <p:extLst>
      <p:ext uri="{BB962C8B-B14F-4D97-AF65-F5344CB8AC3E}">
        <p14:creationId xmlns:p14="http://schemas.microsoft.com/office/powerpoint/2010/main" val="3374006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1BB0-E40C-8AFA-4BE5-DCAB5455A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1AFE2-5183-E39C-6A38-66F3A0B9FCAE}"/>
              </a:ext>
            </a:extLst>
          </p:cNvPr>
          <p:cNvSpPr>
            <a:spLocks noGrp="1"/>
          </p:cNvSpPr>
          <p:nvPr>
            <p:ph type="title"/>
          </p:nvPr>
        </p:nvSpPr>
        <p:spPr/>
        <p:txBody>
          <a:bodyPr/>
          <a:lstStyle/>
          <a:p>
            <a:r>
              <a:rPr lang="en-US" dirty="0"/>
              <a:t>Structure of the OSI Model (3 of 6)</a:t>
            </a:r>
          </a:p>
        </p:txBody>
      </p:sp>
      <p:sp>
        <p:nvSpPr>
          <p:cNvPr id="5" name="TextBox 4">
            <a:extLst>
              <a:ext uri="{FF2B5EF4-FFF2-40B4-BE49-F238E27FC236}">
                <a16:creationId xmlns:a16="http://schemas.microsoft.com/office/drawing/2014/main" id="{67F29E93-1DBB-F25F-2A14-40F514F0EA90}"/>
              </a:ext>
            </a:extLst>
          </p:cNvPr>
          <p:cNvSpPr txBox="1"/>
          <p:nvPr/>
        </p:nvSpPr>
        <p:spPr>
          <a:xfrm>
            <a:off x="7315200" y="2755013"/>
            <a:ext cx="4294598" cy="1200329"/>
          </a:xfrm>
          <a:prstGeom prst="rect">
            <a:avLst/>
          </a:prstGeom>
          <a:noFill/>
        </p:spPr>
        <p:txBody>
          <a:bodyPr wrap="square" rtlCol="0">
            <a:spAutoFit/>
          </a:bodyPr>
          <a:lstStyle/>
          <a:p>
            <a:r>
              <a:rPr lang="en-US" sz="2400" b="1" dirty="0">
                <a:latin typeface="Work Sans" pitchFamily="2" charset="0"/>
              </a:rPr>
              <a:t>Figure 7-2  </a:t>
            </a:r>
            <a:r>
              <a:rPr lang="en-US" sz="2400" dirty="0">
                <a:latin typeface="Work Sans" pitchFamily="2" charset="0"/>
              </a:rPr>
              <a:t>Comparing the OSI model and the TCP/IP model</a:t>
            </a:r>
          </a:p>
        </p:txBody>
      </p:sp>
      <p:pic>
        <p:nvPicPr>
          <p:cNvPr id="4" name="Picture 3" descr="A comparison between the O S I model and T C P / I P. In the O S I model, we have the Physical and Data link layers. These are combined into the Network access layer in T C P / I P. Next comes the Network layer in O S I. In T C P / I P, the equivalent layer is the Internetwork layer which provides the I C M P, A R P, and I P protocols. This is followed by the Transport layer in O S I. In T C P / I P also the equivalent layer is the Transport layer with the T C P and U D P protocols. In O S I, this is followed by the Session, Presentation, and Application layers. In T C P / I P, these three layers are combined into the Application layer which provides the Telnet, F T P, H T T P, S M T P, D H C P, T F T P, D N S, and S N M P protocols.&#10;">
            <a:extLst>
              <a:ext uri="{FF2B5EF4-FFF2-40B4-BE49-F238E27FC236}">
                <a16:creationId xmlns:a16="http://schemas.microsoft.com/office/drawing/2014/main" id="{372C6AE0-DD38-B45A-F9CD-20FF6E82715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81531" y="1669202"/>
            <a:ext cx="4688376" cy="3519595"/>
          </a:xfrm>
          <a:prstGeom prst="rect">
            <a:avLst/>
          </a:prstGeom>
        </p:spPr>
      </p:pic>
    </p:spTree>
    <p:extLst>
      <p:ext uri="{BB962C8B-B14F-4D97-AF65-F5344CB8AC3E}">
        <p14:creationId xmlns:p14="http://schemas.microsoft.com/office/powerpoint/2010/main" val="2650013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20302-7574-607C-1CBC-0ACB53FDA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E8841-AF26-92EC-4BEB-9CB0830108D5}"/>
              </a:ext>
            </a:extLst>
          </p:cNvPr>
          <p:cNvSpPr>
            <a:spLocks noGrp="1"/>
          </p:cNvSpPr>
          <p:nvPr>
            <p:ph type="title"/>
          </p:nvPr>
        </p:nvSpPr>
        <p:spPr/>
        <p:txBody>
          <a:bodyPr/>
          <a:lstStyle/>
          <a:p>
            <a:r>
              <a:rPr lang="en-US" dirty="0"/>
              <a:t>Structure of the OSI Model (4 of 6)</a:t>
            </a:r>
          </a:p>
        </p:txBody>
      </p:sp>
      <p:sp>
        <p:nvSpPr>
          <p:cNvPr id="5" name="TextBox 4">
            <a:extLst>
              <a:ext uri="{FF2B5EF4-FFF2-40B4-BE49-F238E27FC236}">
                <a16:creationId xmlns:a16="http://schemas.microsoft.com/office/drawing/2014/main" id="{CE398A24-65F0-6300-0093-8E9C07E954F0}"/>
              </a:ext>
            </a:extLst>
          </p:cNvPr>
          <p:cNvSpPr txBox="1"/>
          <p:nvPr/>
        </p:nvSpPr>
        <p:spPr>
          <a:xfrm>
            <a:off x="7315200" y="2755013"/>
            <a:ext cx="4294598" cy="1200329"/>
          </a:xfrm>
          <a:prstGeom prst="rect">
            <a:avLst/>
          </a:prstGeom>
          <a:noFill/>
        </p:spPr>
        <p:txBody>
          <a:bodyPr wrap="square" rtlCol="0">
            <a:spAutoFit/>
          </a:bodyPr>
          <a:lstStyle/>
          <a:p>
            <a:r>
              <a:rPr lang="en-US" sz="2400" b="1" dirty="0">
                <a:latin typeface="Work Sans" pitchFamily="2" charset="0"/>
              </a:rPr>
              <a:t>Figure 7-3  </a:t>
            </a:r>
            <a:r>
              <a:rPr lang="en-US" sz="2400" dirty="0">
                <a:latin typeface="Work Sans" pitchFamily="2" charset="0"/>
              </a:rPr>
              <a:t>Layers of the OSI model in the Ethernet Properties dialog box</a:t>
            </a:r>
          </a:p>
        </p:txBody>
      </p:sp>
      <p:pic>
        <p:nvPicPr>
          <p:cNvPr id="4" name="Picture 3" descr="The network connection properties dialog box in Windows is used to show the networking layers in an O S I context. The Ethernet 0 Properties dialog box is indicated. The Ethernet adapter below the &quot;Connect using&quot; text box represents the Physical and Data link layers. Internet Protocol Version 4 (T C P / I P v 4) and Internet Protocol Version 6 (T C P / I P v 6) represent the Network and Transport layers. Client for Microsoft Networks and File and Printer Sharing for Microsoft Networks represents the Session, Presentation, and Application layers.&#10;">
            <a:extLst>
              <a:ext uri="{FF2B5EF4-FFF2-40B4-BE49-F238E27FC236}">
                <a16:creationId xmlns:a16="http://schemas.microsoft.com/office/drawing/2014/main" id="{068A8466-B46F-F1FC-A0BE-CDE65ACEC33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02961" y="1634437"/>
            <a:ext cx="4764966" cy="3589125"/>
          </a:xfrm>
          <a:prstGeom prst="rect">
            <a:avLst/>
          </a:prstGeom>
        </p:spPr>
      </p:pic>
    </p:spTree>
    <p:extLst>
      <p:ext uri="{BB962C8B-B14F-4D97-AF65-F5344CB8AC3E}">
        <p14:creationId xmlns:p14="http://schemas.microsoft.com/office/powerpoint/2010/main" val="1773535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213A-CBAE-0501-6BD3-011140376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89FA0-BA8B-B89F-5646-97971A0F570F}"/>
              </a:ext>
            </a:extLst>
          </p:cNvPr>
          <p:cNvSpPr>
            <a:spLocks noGrp="1"/>
          </p:cNvSpPr>
          <p:nvPr>
            <p:ph type="title"/>
          </p:nvPr>
        </p:nvSpPr>
        <p:spPr/>
        <p:txBody>
          <a:bodyPr/>
          <a:lstStyle/>
          <a:p>
            <a:r>
              <a:rPr lang="en-US" dirty="0"/>
              <a:t>Structure of the OSI Model (5 of 6)</a:t>
            </a:r>
          </a:p>
        </p:txBody>
      </p:sp>
      <p:sp>
        <p:nvSpPr>
          <p:cNvPr id="5" name="TextBox 4">
            <a:extLst>
              <a:ext uri="{FF2B5EF4-FFF2-40B4-BE49-F238E27FC236}">
                <a16:creationId xmlns:a16="http://schemas.microsoft.com/office/drawing/2014/main" id="{FD491D8A-E97D-AE43-0C97-EF55DE77B0CD}"/>
              </a:ext>
            </a:extLst>
          </p:cNvPr>
          <p:cNvSpPr txBox="1"/>
          <p:nvPr/>
        </p:nvSpPr>
        <p:spPr>
          <a:xfrm>
            <a:off x="7315200" y="2755013"/>
            <a:ext cx="4294598" cy="1200329"/>
          </a:xfrm>
          <a:prstGeom prst="rect">
            <a:avLst/>
          </a:prstGeom>
          <a:noFill/>
        </p:spPr>
        <p:txBody>
          <a:bodyPr wrap="square" rtlCol="0">
            <a:spAutoFit/>
          </a:bodyPr>
          <a:lstStyle/>
          <a:p>
            <a:r>
              <a:rPr lang="en-US" sz="2400" b="1" dirty="0">
                <a:latin typeface="Work Sans" pitchFamily="2" charset="0"/>
              </a:rPr>
              <a:t>Figure 7-4  </a:t>
            </a:r>
            <a:r>
              <a:rPr lang="en-US" sz="2400" dirty="0">
                <a:latin typeface="Work Sans" pitchFamily="2" charset="0"/>
              </a:rPr>
              <a:t>Peer communication between OSI layers</a:t>
            </a:r>
          </a:p>
        </p:txBody>
      </p:sp>
      <p:pic>
        <p:nvPicPr>
          <p:cNvPr id="4" name="Picture 3" descr="Computer A and computer B implement the same O S I layers which include the physical, data link, network, transport, session, presentation, and application layers. Each layer on one computer communicates with its counterpart on the other computer. This is known as peer communication between layers.&#10;">
            <a:extLst>
              <a:ext uri="{FF2B5EF4-FFF2-40B4-BE49-F238E27FC236}">
                <a16:creationId xmlns:a16="http://schemas.microsoft.com/office/drawing/2014/main" id="{098FD787-8D2F-6FA8-3EC5-AA4E88FA4C4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41815" y="1613790"/>
            <a:ext cx="4850547" cy="3630420"/>
          </a:xfrm>
          <a:prstGeom prst="rect">
            <a:avLst/>
          </a:prstGeom>
        </p:spPr>
      </p:pic>
    </p:spTree>
    <p:extLst>
      <p:ext uri="{BB962C8B-B14F-4D97-AF65-F5344CB8AC3E}">
        <p14:creationId xmlns:p14="http://schemas.microsoft.com/office/powerpoint/2010/main" val="3993841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77951-DFAA-595F-E2FA-8D7BBF0D77D9}"/>
              </a:ext>
            </a:extLst>
          </p:cNvPr>
          <p:cNvSpPr>
            <a:spLocks noGrp="1"/>
          </p:cNvSpPr>
          <p:nvPr>
            <p:ph type="title"/>
          </p:nvPr>
        </p:nvSpPr>
        <p:spPr/>
        <p:txBody>
          <a:bodyPr/>
          <a:lstStyle/>
          <a:p>
            <a:r>
              <a:rPr lang="en-US" dirty="0"/>
              <a:t>Structure of the OSI Model (6 of 6)</a:t>
            </a:r>
          </a:p>
        </p:txBody>
      </p:sp>
      <p:sp>
        <p:nvSpPr>
          <p:cNvPr id="3" name="Content Placeholder 2">
            <a:extLst>
              <a:ext uri="{FF2B5EF4-FFF2-40B4-BE49-F238E27FC236}">
                <a16:creationId xmlns:a16="http://schemas.microsoft.com/office/drawing/2014/main" id="{98860FAB-3C14-6BBE-BA72-80B025B1DA69}"/>
              </a:ext>
            </a:extLst>
          </p:cNvPr>
          <p:cNvSpPr>
            <a:spLocks noGrp="1"/>
          </p:cNvSpPr>
          <p:nvPr>
            <p:ph idx="1"/>
          </p:nvPr>
        </p:nvSpPr>
        <p:spPr>
          <a:xfrm>
            <a:off x="473242" y="1253331"/>
            <a:ext cx="11241915" cy="4351338"/>
          </a:xfrm>
        </p:spPr>
        <p:txBody>
          <a:bodyPr/>
          <a:lstStyle/>
          <a:p>
            <a:r>
              <a:rPr lang="en-US" dirty="0"/>
              <a:t>On data’s way down the </a:t>
            </a:r>
            <a:r>
              <a:rPr lang="en-US" b="1" dirty="0"/>
              <a:t>protocol stack</a:t>
            </a:r>
            <a:r>
              <a:rPr lang="en-US" dirty="0"/>
              <a:t>: </a:t>
            </a:r>
          </a:p>
          <a:p>
            <a:pPr lvl="1"/>
            <a:r>
              <a:rPr lang="en-US" sz="2200" dirty="0"/>
              <a:t>It’s divided into data units suitable for each layer</a:t>
            </a:r>
          </a:p>
          <a:p>
            <a:pPr lvl="1"/>
            <a:r>
              <a:rPr lang="en-US" sz="2200" dirty="0"/>
              <a:t>Each unit, called </a:t>
            </a:r>
            <a:r>
              <a:rPr lang="en-US" sz="2200" b="1" dirty="0"/>
              <a:t>protocol data units </a:t>
            </a:r>
            <a:r>
              <a:rPr lang="en-US" sz="2200" dirty="0"/>
              <a:t>(</a:t>
            </a:r>
            <a:r>
              <a:rPr lang="en-US" sz="2200" b="1" dirty="0"/>
              <a:t>PDU</a:t>
            </a:r>
            <a:r>
              <a:rPr lang="en-US" sz="2200" dirty="0"/>
              <a:t>), is passed from one layer to another on its way up or down the protocol stack</a:t>
            </a:r>
          </a:p>
          <a:p>
            <a:pPr lvl="1"/>
            <a:r>
              <a:rPr lang="en-US" sz="2200" dirty="0"/>
              <a:t>Some layers add their own formatting to the PDU, which is called a header </a:t>
            </a:r>
          </a:p>
          <a:p>
            <a:r>
              <a:rPr lang="en-US" dirty="0"/>
              <a:t>When data arrives at the receiving end, it is passed up the protocol stack:</a:t>
            </a:r>
          </a:p>
          <a:p>
            <a:pPr lvl="1"/>
            <a:r>
              <a:rPr lang="en-US" sz="2200" dirty="0"/>
              <a:t>At each layer, software reads its PDU data and strips its header information (called </a:t>
            </a:r>
            <a:r>
              <a:rPr lang="en-US" sz="2200" b="1" dirty="0"/>
              <a:t>de-encapsulation</a:t>
            </a:r>
            <a:r>
              <a:rPr lang="en-US" sz="2200" dirty="0"/>
              <a:t>) and passes the PDU to the next higher layer</a:t>
            </a:r>
            <a:endParaRPr lang="en-US" dirty="0"/>
          </a:p>
        </p:txBody>
      </p:sp>
    </p:spTree>
    <p:extLst>
      <p:ext uri="{BB962C8B-B14F-4D97-AF65-F5344CB8AC3E}">
        <p14:creationId xmlns:p14="http://schemas.microsoft.com/office/powerpoint/2010/main" val="197280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F57C-F3BD-C318-EBB8-43950120254B}"/>
              </a:ext>
            </a:extLst>
          </p:cNvPr>
          <p:cNvSpPr>
            <a:spLocks noGrp="1"/>
          </p:cNvSpPr>
          <p:nvPr>
            <p:ph type="title"/>
          </p:nvPr>
        </p:nvSpPr>
        <p:spPr/>
        <p:txBody>
          <a:bodyPr/>
          <a:lstStyle/>
          <a:p>
            <a:r>
              <a:rPr lang="en-US" dirty="0"/>
              <a:t>Application Layer</a:t>
            </a:r>
          </a:p>
        </p:txBody>
      </p:sp>
      <p:sp>
        <p:nvSpPr>
          <p:cNvPr id="3" name="Content Placeholder 2">
            <a:extLst>
              <a:ext uri="{FF2B5EF4-FFF2-40B4-BE49-F238E27FC236}">
                <a16:creationId xmlns:a16="http://schemas.microsoft.com/office/drawing/2014/main" id="{162431A7-0D30-7434-FBE1-0E98600BF61E}"/>
              </a:ext>
            </a:extLst>
          </p:cNvPr>
          <p:cNvSpPr>
            <a:spLocks noGrp="1"/>
          </p:cNvSpPr>
          <p:nvPr>
            <p:ph idx="1"/>
          </p:nvPr>
        </p:nvSpPr>
        <p:spPr/>
        <p:txBody>
          <a:bodyPr/>
          <a:lstStyle/>
          <a:p>
            <a:r>
              <a:rPr lang="en-US" dirty="0"/>
              <a:t>The </a:t>
            </a:r>
            <a:r>
              <a:rPr lang="en-US" b="1" dirty="0"/>
              <a:t>Application layer </a:t>
            </a:r>
            <a:r>
              <a:rPr lang="en-US" dirty="0"/>
              <a:t>(Layer 7) provides interfaces for applications to access network services</a:t>
            </a:r>
          </a:p>
          <a:p>
            <a:pPr lvl="1"/>
            <a:r>
              <a:rPr lang="en-US" sz="2200" dirty="0"/>
              <a:t>Examples are file sharing, message handling, and database access</a:t>
            </a:r>
          </a:p>
          <a:p>
            <a:pPr lvl="1"/>
            <a:r>
              <a:rPr lang="en-US" sz="2200" dirty="0"/>
              <a:t>Generally, components at the Application layer have both a client component and a server component</a:t>
            </a:r>
          </a:p>
          <a:p>
            <a:pPr lvl="1"/>
            <a:r>
              <a:rPr lang="en-US" sz="2200" dirty="0"/>
              <a:t>Common protocols found at Layer 7 include HTTP, FTP, SMB/CIFS, TFTP, and SMTP</a:t>
            </a:r>
          </a:p>
          <a:p>
            <a:r>
              <a:rPr lang="en-US" dirty="0"/>
              <a:t>Possible problems at this layer include missing or misconfigured client or server software and incompatible or obsolete commands used to communicate between a client and server</a:t>
            </a:r>
          </a:p>
          <a:p>
            <a:endParaRPr lang="en-US" dirty="0"/>
          </a:p>
        </p:txBody>
      </p:sp>
    </p:spTree>
    <p:extLst>
      <p:ext uri="{BB962C8B-B14F-4D97-AF65-F5344CB8AC3E}">
        <p14:creationId xmlns:p14="http://schemas.microsoft.com/office/powerpoint/2010/main" val="2958551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C84C1-8FE3-7C22-3E29-D2E3364C4F86}"/>
              </a:ext>
            </a:extLst>
          </p:cNvPr>
          <p:cNvSpPr>
            <a:spLocks noGrp="1"/>
          </p:cNvSpPr>
          <p:nvPr>
            <p:ph type="title"/>
          </p:nvPr>
        </p:nvSpPr>
        <p:spPr/>
        <p:txBody>
          <a:bodyPr/>
          <a:lstStyle/>
          <a:p>
            <a:r>
              <a:rPr lang="en-US" dirty="0"/>
              <a:t>Presentation Layer</a:t>
            </a:r>
          </a:p>
        </p:txBody>
      </p:sp>
      <p:sp>
        <p:nvSpPr>
          <p:cNvPr id="3" name="Content Placeholder 2">
            <a:extLst>
              <a:ext uri="{FF2B5EF4-FFF2-40B4-BE49-F238E27FC236}">
                <a16:creationId xmlns:a16="http://schemas.microsoft.com/office/drawing/2014/main" id="{A79F1CE8-F294-238F-9921-A4D9120524EA}"/>
              </a:ext>
            </a:extLst>
          </p:cNvPr>
          <p:cNvSpPr>
            <a:spLocks noGrp="1"/>
          </p:cNvSpPr>
          <p:nvPr>
            <p:ph idx="1"/>
          </p:nvPr>
        </p:nvSpPr>
        <p:spPr>
          <a:xfrm>
            <a:off x="476843" y="1708065"/>
            <a:ext cx="11241915" cy="4351338"/>
          </a:xfrm>
        </p:spPr>
        <p:txBody>
          <a:bodyPr/>
          <a:lstStyle/>
          <a:p>
            <a:r>
              <a:rPr lang="en-US" dirty="0"/>
              <a:t>The </a:t>
            </a:r>
            <a:r>
              <a:rPr lang="en-US" b="1" dirty="0"/>
              <a:t>Presentation layer </a:t>
            </a:r>
            <a:r>
              <a:rPr lang="en-US" dirty="0"/>
              <a:t>(Layer 6) handles data formatting/translation</a:t>
            </a:r>
          </a:p>
          <a:p>
            <a:r>
              <a:rPr lang="en-US" dirty="0"/>
              <a:t>For outgoing messages:</a:t>
            </a:r>
          </a:p>
          <a:p>
            <a:pPr lvl="1"/>
            <a:r>
              <a:rPr lang="en-US" sz="2200" dirty="0"/>
              <a:t>It converts data into a format specified by the Application layer</a:t>
            </a:r>
          </a:p>
          <a:p>
            <a:r>
              <a:rPr lang="en-US" dirty="0"/>
              <a:t>For incoming messages:</a:t>
            </a:r>
          </a:p>
          <a:p>
            <a:pPr lvl="1"/>
            <a:r>
              <a:rPr lang="en-US" sz="2200" dirty="0"/>
              <a:t>It reverses the conversion if required by the receiving application</a:t>
            </a:r>
          </a:p>
          <a:p>
            <a:r>
              <a:rPr lang="en-US" dirty="0"/>
              <a:t>A software component known as a “redirector” operates at this layer</a:t>
            </a:r>
          </a:p>
          <a:p>
            <a:pPr lvl="1"/>
            <a:r>
              <a:rPr lang="en-US" sz="2200" dirty="0"/>
              <a:t>It intercepts requests for service from the computer, requests that can’t be handled locally are redirected across the network to a network resource that can handle the request</a:t>
            </a:r>
          </a:p>
          <a:p>
            <a:endParaRPr lang="en-US" dirty="0"/>
          </a:p>
        </p:txBody>
      </p:sp>
    </p:spTree>
    <p:extLst>
      <p:ext uri="{BB962C8B-B14F-4D97-AF65-F5344CB8AC3E}">
        <p14:creationId xmlns:p14="http://schemas.microsoft.com/office/powerpoint/2010/main" val="671765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3F9C3-6AD6-8958-4D13-93D7EDBC45E9}"/>
              </a:ext>
            </a:extLst>
          </p:cNvPr>
          <p:cNvSpPr>
            <a:spLocks noGrp="1"/>
          </p:cNvSpPr>
          <p:nvPr>
            <p:ph type="title"/>
          </p:nvPr>
        </p:nvSpPr>
        <p:spPr/>
        <p:txBody>
          <a:bodyPr/>
          <a:lstStyle/>
          <a:p>
            <a:r>
              <a:rPr lang="en-US" dirty="0"/>
              <a:t>Session Layer</a:t>
            </a:r>
          </a:p>
        </p:txBody>
      </p:sp>
      <p:sp>
        <p:nvSpPr>
          <p:cNvPr id="3" name="Content Placeholder 2">
            <a:extLst>
              <a:ext uri="{FF2B5EF4-FFF2-40B4-BE49-F238E27FC236}">
                <a16:creationId xmlns:a16="http://schemas.microsoft.com/office/drawing/2014/main" id="{29FEFB20-0D4A-2F8D-C871-D49CE74008B0}"/>
              </a:ext>
            </a:extLst>
          </p:cNvPr>
          <p:cNvSpPr>
            <a:spLocks noGrp="1"/>
          </p:cNvSpPr>
          <p:nvPr>
            <p:ph idx="1"/>
          </p:nvPr>
        </p:nvSpPr>
        <p:spPr>
          <a:xfrm>
            <a:off x="473242" y="1348887"/>
            <a:ext cx="11241915" cy="4351338"/>
          </a:xfrm>
        </p:spPr>
        <p:txBody>
          <a:bodyPr/>
          <a:lstStyle/>
          <a:p>
            <a:r>
              <a:rPr lang="en-US" dirty="0"/>
              <a:t>The </a:t>
            </a:r>
            <a:r>
              <a:rPr lang="en-US" b="1" dirty="0"/>
              <a:t>Session layer </a:t>
            </a:r>
            <a:r>
              <a:rPr lang="en-US" dirty="0"/>
              <a:t>(</a:t>
            </a:r>
            <a:r>
              <a:rPr lang="en-US" b="1" dirty="0"/>
              <a:t>Layer 5</a:t>
            </a:r>
            <a:r>
              <a:rPr lang="en-US" dirty="0"/>
              <a:t>) </a:t>
            </a:r>
            <a:r>
              <a:rPr lang="en-US" b="1" dirty="0"/>
              <a:t>permits two computers </a:t>
            </a:r>
            <a:r>
              <a:rPr lang="en-US" dirty="0"/>
              <a:t>to hold ongoing communications, called a “session”, so applications on either end of the session can exchange data for as long as the session lasts</a:t>
            </a:r>
          </a:p>
          <a:p>
            <a:r>
              <a:rPr lang="en-US" dirty="0"/>
              <a:t>Common network functions at this layer:</a:t>
            </a:r>
          </a:p>
          <a:p>
            <a:pPr lvl="1"/>
            <a:r>
              <a:rPr lang="en-US" sz="2200" dirty="0"/>
              <a:t>Name lookup and user logon and logoff</a:t>
            </a:r>
          </a:p>
          <a:p>
            <a:pPr lvl="1"/>
            <a:r>
              <a:rPr lang="en-US" sz="2200" dirty="0"/>
              <a:t>This layer also manages the mechanics of ongoing conversations</a:t>
            </a:r>
          </a:p>
          <a:p>
            <a:pPr lvl="1"/>
            <a:r>
              <a:rPr lang="en-US" sz="2200" dirty="0"/>
              <a:t>Checkpointing is performed at this layer, which is a synchronization process between two related streams of data </a:t>
            </a:r>
          </a:p>
          <a:p>
            <a:pPr lvl="1"/>
            <a:r>
              <a:rPr lang="en-US" sz="2200" dirty="0"/>
              <a:t>Example: keeping the audio in sync with video</a:t>
            </a:r>
            <a:endParaRPr lang="en-US" dirty="0"/>
          </a:p>
        </p:txBody>
      </p:sp>
    </p:spTree>
    <p:extLst>
      <p:ext uri="{BB962C8B-B14F-4D97-AF65-F5344CB8AC3E}">
        <p14:creationId xmlns:p14="http://schemas.microsoft.com/office/powerpoint/2010/main" val="73445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4967-BF75-605B-18D4-2E68027C8063}"/>
              </a:ext>
            </a:extLst>
          </p:cNvPr>
          <p:cNvSpPr>
            <a:spLocks noGrp="1"/>
          </p:cNvSpPr>
          <p:nvPr>
            <p:ph type="title"/>
          </p:nvPr>
        </p:nvSpPr>
        <p:spPr/>
        <p:txBody>
          <a:bodyPr/>
          <a:lstStyle/>
          <a:p>
            <a:r>
              <a:rPr lang="en-US" dirty="0"/>
              <a:t>Transport Layer (1 of 4)</a:t>
            </a:r>
          </a:p>
        </p:txBody>
      </p:sp>
      <p:sp>
        <p:nvSpPr>
          <p:cNvPr id="3" name="Content Placeholder 2">
            <a:extLst>
              <a:ext uri="{FF2B5EF4-FFF2-40B4-BE49-F238E27FC236}">
                <a16:creationId xmlns:a16="http://schemas.microsoft.com/office/drawing/2014/main" id="{EEF48783-51CC-8C93-66BD-D2074C780DAE}"/>
              </a:ext>
            </a:extLst>
          </p:cNvPr>
          <p:cNvSpPr>
            <a:spLocks noGrp="1"/>
          </p:cNvSpPr>
          <p:nvPr>
            <p:ph idx="1"/>
          </p:nvPr>
        </p:nvSpPr>
        <p:spPr>
          <a:xfrm>
            <a:off x="476843" y="1473603"/>
            <a:ext cx="11241915" cy="4351338"/>
          </a:xfrm>
        </p:spPr>
        <p:txBody>
          <a:bodyPr/>
          <a:lstStyle/>
          <a:p>
            <a:r>
              <a:rPr lang="en-US" dirty="0"/>
              <a:t>The </a:t>
            </a:r>
            <a:r>
              <a:rPr lang="en-US" b="1" dirty="0"/>
              <a:t>Transport layer </a:t>
            </a:r>
            <a:r>
              <a:rPr lang="en-US" dirty="0"/>
              <a:t>(</a:t>
            </a:r>
            <a:r>
              <a:rPr lang="en-US" b="1" dirty="0"/>
              <a:t>Layer 4</a:t>
            </a:r>
            <a:r>
              <a:rPr lang="en-US" dirty="0"/>
              <a:t>) manages data transfer from one Application-layer protocol to another across a network</a:t>
            </a:r>
          </a:p>
          <a:p>
            <a:pPr lvl="1"/>
            <a:r>
              <a:rPr lang="en-US" sz="2200" dirty="0"/>
              <a:t>It breaks long data streams down into smaller chunks called “segments”</a:t>
            </a:r>
          </a:p>
          <a:p>
            <a:pPr lvl="1"/>
            <a:r>
              <a:rPr lang="en-US" sz="2200" dirty="0"/>
              <a:t>Segmenting data is important because every network technology has a maximum frame size called the </a:t>
            </a:r>
            <a:r>
              <a:rPr lang="en-US" sz="2200" b="1" dirty="0"/>
              <a:t>maximum transmission unit </a:t>
            </a:r>
            <a:r>
              <a:rPr lang="en-US" sz="2200" dirty="0"/>
              <a:t>(</a:t>
            </a:r>
            <a:r>
              <a:rPr lang="en-US" sz="2200" b="1" dirty="0"/>
              <a:t>MTU</a:t>
            </a:r>
            <a:r>
              <a:rPr lang="en-US" sz="2200" dirty="0"/>
              <a:t>)</a:t>
            </a:r>
          </a:p>
          <a:p>
            <a:r>
              <a:rPr lang="en-US" dirty="0"/>
              <a:t>The Transport layer includes flow control and acknowledgements to ensure reliability, and it handles resequencing segments into the original data on receipt</a:t>
            </a:r>
          </a:p>
          <a:p>
            <a:r>
              <a:rPr lang="en-US" dirty="0"/>
              <a:t>The PDU at this layer is a segment (UDP’s PDU is often called a datagram)</a:t>
            </a:r>
          </a:p>
          <a:p>
            <a:endParaRPr lang="en-US" dirty="0"/>
          </a:p>
        </p:txBody>
      </p:sp>
    </p:spTree>
    <p:extLst>
      <p:ext uri="{BB962C8B-B14F-4D97-AF65-F5344CB8AC3E}">
        <p14:creationId xmlns:p14="http://schemas.microsoft.com/office/powerpoint/2010/main" val="271580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B66AE-F9A5-DA6D-BCE8-C37961F98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E92CB-72ED-3692-7911-192F4B467F4F}"/>
              </a:ext>
            </a:extLst>
          </p:cNvPr>
          <p:cNvSpPr>
            <a:spLocks noGrp="1"/>
          </p:cNvSpPr>
          <p:nvPr>
            <p:ph type="title"/>
          </p:nvPr>
        </p:nvSpPr>
        <p:spPr/>
        <p:txBody>
          <a:bodyPr/>
          <a:lstStyle/>
          <a:p>
            <a:r>
              <a:rPr lang="en-US" dirty="0"/>
              <a:t>Transport Layer (2 of 4)</a:t>
            </a:r>
          </a:p>
        </p:txBody>
      </p:sp>
      <p:sp>
        <p:nvSpPr>
          <p:cNvPr id="5" name="TextBox 4">
            <a:extLst>
              <a:ext uri="{FF2B5EF4-FFF2-40B4-BE49-F238E27FC236}">
                <a16:creationId xmlns:a16="http://schemas.microsoft.com/office/drawing/2014/main" id="{3666E224-7621-87E0-9DA0-F1BA9840B27D}"/>
              </a:ext>
            </a:extLst>
          </p:cNvPr>
          <p:cNvSpPr txBox="1"/>
          <p:nvPr/>
        </p:nvSpPr>
        <p:spPr>
          <a:xfrm>
            <a:off x="7315200" y="2828835"/>
            <a:ext cx="4294598" cy="1200329"/>
          </a:xfrm>
          <a:prstGeom prst="rect">
            <a:avLst/>
          </a:prstGeom>
          <a:noFill/>
        </p:spPr>
        <p:txBody>
          <a:bodyPr wrap="square" rtlCol="0">
            <a:spAutoFit/>
          </a:bodyPr>
          <a:lstStyle/>
          <a:p>
            <a:r>
              <a:rPr lang="en-US" sz="2400" b="1" dirty="0">
                <a:latin typeface="Work Sans" pitchFamily="2" charset="0"/>
              </a:rPr>
              <a:t>Figure 7-5  </a:t>
            </a:r>
            <a:r>
              <a:rPr lang="en-US" sz="2400" dirty="0">
                <a:latin typeface="Work Sans" pitchFamily="2" charset="0"/>
              </a:rPr>
              <a:t>The Transport layer breaks data into segments</a:t>
            </a:r>
          </a:p>
        </p:txBody>
      </p:sp>
      <p:pic>
        <p:nvPicPr>
          <p:cNvPr id="4" name="Picture 3" descr="Data is created by the application, presentation, and session layers. This data is broken into smaller chunks called as segments by the transport layer. A simple example shows what each segment looks like after  the data is broken up into smaller pieces and the transport layer header is added.&#10;">
            <a:extLst>
              <a:ext uri="{FF2B5EF4-FFF2-40B4-BE49-F238E27FC236}">
                <a16:creationId xmlns:a16="http://schemas.microsoft.com/office/drawing/2014/main" id="{7717657E-CB68-539A-0186-FCF6AD77CC3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4831" y="1708358"/>
            <a:ext cx="4597840" cy="3441281"/>
          </a:xfrm>
          <a:prstGeom prst="rect">
            <a:avLst/>
          </a:prstGeom>
        </p:spPr>
      </p:pic>
    </p:spTree>
    <p:extLst>
      <p:ext uri="{BB962C8B-B14F-4D97-AF65-F5344CB8AC3E}">
        <p14:creationId xmlns:p14="http://schemas.microsoft.com/office/powerpoint/2010/main" val="4083196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CA242-1F8A-17AD-A2B1-549882111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69FD8-985E-A815-040C-26EF6BF121ED}"/>
              </a:ext>
            </a:extLst>
          </p:cNvPr>
          <p:cNvSpPr>
            <a:spLocks noGrp="1"/>
          </p:cNvSpPr>
          <p:nvPr>
            <p:ph type="title"/>
          </p:nvPr>
        </p:nvSpPr>
        <p:spPr/>
        <p:txBody>
          <a:bodyPr/>
          <a:lstStyle/>
          <a:p>
            <a:r>
              <a:rPr lang="en-US" dirty="0"/>
              <a:t>Transport Layer (3 of 4)</a:t>
            </a:r>
          </a:p>
        </p:txBody>
      </p:sp>
      <p:sp>
        <p:nvSpPr>
          <p:cNvPr id="5" name="TextBox 4">
            <a:extLst>
              <a:ext uri="{FF2B5EF4-FFF2-40B4-BE49-F238E27FC236}">
                <a16:creationId xmlns:a16="http://schemas.microsoft.com/office/drawing/2014/main" id="{C21813F2-C92F-BDD8-8FFD-E87C3BE78E27}"/>
              </a:ext>
            </a:extLst>
          </p:cNvPr>
          <p:cNvSpPr txBox="1"/>
          <p:nvPr/>
        </p:nvSpPr>
        <p:spPr>
          <a:xfrm>
            <a:off x="7315200" y="2828835"/>
            <a:ext cx="4294598" cy="830997"/>
          </a:xfrm>
          <a:prstGeom prst="rect">
            <a:avLst/>
          </a:prstGeom>
          <a:noFill/>
        </p:spPr>
        <p:txBody>
          <a:bodyPr wrap="square" rtlCol="0">
            <a:spAutoFit/>
          </a:bodyPr>
          <a:lstStyle/>
          <a:p>
            <a:r>
              <a:rPr lang="en-US" sz="2400" b="1" dirty="0">
                <a:latin typeface="Work Sans" pitchFamily="2" charset="0"/>
              </a:rPr>
              <a:t>Figure 7-6  </a:t>
            </a:r>
            <a:r>
              <a:rPr lang="en-US" sz="2400" dirty="0">
                <a:latin typeface="Work Sans" pitchFamily="2" charset="0"/>
              </a:rPr>
              <a:t>The Transport-layer PDU: a segment</a:t>
            </a:r>
          </a:p>
        </p:txBody>
      </p:sp>
      <p:pic>
        <p:nvPicPr>
          <p:cNvPr id="4" name="Picture 3" descr="The components that make up a transport layer P D U. The transport layer adds a header to the data from the application, presentation, and session layers forming the transport layer P D U or segment.&#10;">
            <a:extLst>
              <a:ext uri="{FF2B5EF4-FFF2-40B4-BE49-F238E27FC236}">
                <a16:creationId xmlns:a16="http://schemas.microsoft.com/office/drawing/2014/main" id="{6E2F065A-BA63-E1F2-4622-2041A646DB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28799" y="1710919"/>
            <a:ext cx="4567017" cy="3436161"/>
          </a:xfrm>
          <a:prstGeom prst="rect">
            <a:avLst/>
          </a:prstGeom>
        </p:spPr>
      </p:pic>
    </p:spTree>
    <p:extLst>
      <p:ext uri="{BB962C8B-B14F-4D97-AF65-F5344CB8AC3E}">
        <p14:creationId xmlns:p14="http://schemas.microsoft.com/office/powerpoint/2010/main" val="2799536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C18BD-FECD-CCFD-8572-15B3FCC6B01D}"/>
              </a:ext>
            </a:extLst>
          </p:cNvPr>
          <p:cNvSpPr>
            <a:spLocks noGrp="1"/>
          </p:cNvSpPr>
          <p:nvPr>
            <p:ph type="title"/>
          </p:nvPr>
        </p:nvSpPr>
        <p:spPr/>
        <p:txBody>
          <a:bodyPr/>
          <a:lstStyle/>
          <a:p>
            <a:r>
              <a:rPr lang="en-US" dirty="0"/>
              <a:t>Transport Layer (4 of 4)</a:t>
            </a:r>
          </a:p>
        </p:txBody>
      </p:sp>
      <p:sp>
        <p:nvSpPr>
          <p:cNvPr id="3" name="Content Placeholder 2">
            <a:extLst>
              <a:ext uri="{FF2B5EF4-FFF2-40B4-BE49-F238E27FC236}">
                <a16:creationId xmlns:a16="http://schemas.microsoft.com/office/drawing/2014/main" id="{87861B8D-D068-610A-F14B-CF9EB0E65580}"/>
              </a:ext>
            </a:extLst>
          </p:cNvPr>
          <p:cNvSpPr>
            <a:spLocks noGrp="1"/>
          </p:cNvSpPr>
          <p:nvPr>
            <p:ph idx="1"/>
          </p:nvPr>
        </p:nvSpPr>
        <p:spPr>
          <a:xfrm>
            <a:off x="328773" y="1412023"/>
            <a:ext cx="11389985" cy="4676161"/>
          </a:xfrm>
        </p:spPr>
        <p:txBody>
          <a:bodyPr/>
          <a:lstStyle/>
          <a:p>
            <a:r>
              <a:rPr lang="en-US" dirty="0"/>
              <a:t>Some key fields in the </a:t>
            </a:r>
            <a:r>
              <a:rPr lang="en-US" b="1" dirty="0"/>
              <a:t>Transport-layer header </a:t>
            </a:r>
            <a:r>
              <a:rPr lang="en-US" dirty="0"/>
              <a:t>include:</a:t>
            </a:r>
          </a:p>
          <a:p>
            <a:pPr lvl="1"/>
            <a:r>
              <a:rPr lang="en-US" sz="2200" dirty="0"/>
              <a:t>Source and destination </a:t>
            </a:r>
            <a:r>
              <a:rPr lang="en-US" sz="2200" b="1" dirty="0"/>
              <a:t>port numbers</a:t>
            </a:r>
          </a:p>
          <a:p>
            <a:pPr lvl="1"/>
            <a:r>
              <a:rPr lang="en-US" sz="2200" dirty="0"/>
              <a:t>Sequence and acknowledgement numbers</a:t>
            </a:r>
          </a:p>
          <a:p>
            <a:pPr lvl="1"/>
            <a:r>
              <a:rPr lang="en-US" sz="2200" dirty="0"/>
              <a:t>Window size</a:t>
            </a:r>
          </a:p>
          <a:p>
            <a:r>
              <a:rPr lang="en-US" dirty="0"/>
              <a:t>Problems that can occur at this layer include segments that are </a:t>
            </a:r>
            <a:r>
              <a:rPr lang="en-US" b="1" dirty="0"/>
              <a:t>too</a:t>
            </a:r>
            <a:r>
              <a:rPr lang="en-US" dirty="0"/>
              <a:t> </a:t>
            </a:r>
            <a:r>
              <a:rPr lang="en-US" b="1" dirty="0"/>
              <a:t>large</a:t>
            </a:r>
            <a:r>
              <a:rPr lang="en-US" dirty="0"/>
              <a:t> for the medium between source and destination networks</a:t>
            </a:r>
          </a:p>
          <a:p>
            <a:pPr lvl="1"/>
            <a:r>
              <a:rPr lang="en-US" sz="2200" dirty="0"/>
              <a:t>This forces the Network layer to fragment the segments, which causes performance degradation</a:t>
            </a:r>
          </a:p>
          <a:p>
            <a:pPr lvl="1"/>
            <a:r>
              <a:rPr lang="en-US" sz="2200" b="1" dirty="0"/>
              <a:t>Hackers can exploit TCP’s handshaking feature </a:t>
            </a:r>
            <a:r>
              <a:rPr lang="en-US" sz="2200" dirty="0"/>
              <a:t>with a half-open SYN attack</a:t>
            </a:r>
          </a:p>
          <a:p>
            <a:endParaRPr lang="en-US" dirty="0"/>
          </a:p>
        </p:txBody>
      </p:sp>
    </p:spTree>
    <p:extLst>
      <p:ext uri="{BB962C8B-B14F-4D97-AF65-F5344CB8AC3E}">
        <p14:creationId xmlns:p14="http://schemas.microsoft.com/office/powerpoint/2010/main" val="3006071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862AB-2E50-E72E-DC38-081B073511F2}"/>
              </a:ext>
            </a:extLst>
          </p:cNvPr>
          <p:cNvSpPr>
            <a:spLocks noGrp="1"/>
          </p:cNvSpPr>
          <p:nvPr>
            <p:ph type="title"/>
          </p:nvPr>
        </p:nvSpPr>
        <p:spPr/>
        <p:txBody>
          <a:bodyPr/>
          <a:lstStyle/>
          <a:p>
            <a:r>
              <a:rPr lang="en-US" dirty="0"/>
              <a:t>Network Layer (1 of 3)</a:t>
            </a:r>
          </a:p>
        </p:txBody>
      </p:sp>
      <p:sp>
        <p:nvSpPr>
          <p:cNvPr id="3" name="Content Placeholder 2">
            <a:extLst>
              <a:ext uri="{FF2B5EF4-FFF2-40B4-BE49-F238E27FC236}">
                <a16:creationId xmlns:a16="http://schemas.microsoft.com/office/drawing/2014/main" id="{1B94A733-90F5-D295-0920-C745C6E1FA23}"/>
              </a:ext>
            </a:extLst>
          </p:cNvPr>
          <p:cNvSpPr>
            <a:spLocks noGrp="1"/>
          </p:cNvSpPr>
          <p:nvPr>
            <p:ph idx="1"/>
          </p:nvPr>
        </p:nvSpPr>
        <p:spPr/>
        <p:txBody>
          <a:bodyPr/>
          <a:lstStyle/>
          <a:p>
            <a:r>
              <a:rPr lang="en-US" dirty="0"/>
              <a:t>The </a:t>
            </a:r>
            <a:r>
              <a:rPr lang="en-US" b="1" dirty="0"/>
              <a:t>Network layer </a:t>
            </a:r>
            <a:r>
              <a:rPr lang="en-US" dirty="0"/>
              <a:t>(Layer 3) handles logical addressing, translates logical network addresses (IP addresses) into physical addresses (MAC addresses), and performs best path selection and routing in an internetwork</a:t>
            </a:r>
          </a:p>
          <a:p>
            <a:r>
              <a:rPr lang="en-US" b="1" dirty="0"/>
              <a:t>Access control </a:t>
            </a:r>
            <a:r>
              <a:rPr lang="en-US" dirty="0"/>
              <a:t>is handled at this layer during the routing process</a:t>
            </a:r>
          </a:p>
          <a:p>
            <a:pPr lvl="1"/>
            <a:r>
              <a:rPr lang="en-US" sz="2200" dirty="0"/>
              <a:t>The router consults a list of rules before forwarding an incoming packet to determine whether a packet meeting certain criteria should be permitted through</a:t>
            </a:r>
          </a:p>
          <a:p>
            <a:r>
              <a:rPr lang="en-US" dirty="0"/>
              <a:t>The PDU at the Network layer is a packet</a:t>
            </a:r>
          </a:p>
        </p:txBody>
      </p:sp>
      <p:sp>
        <p:nvSpPr>
          <p:cNvPr id="5" name="TextBox 4">
            <a:extLst>
              <a:ext uri="{FF2B5EF4-FFF2-40B4-BE49-F238E27FC236}">
                <a16:creationId xmlns:a16="http://schemas.microsoft.com/office/drawing/2014/main" id="{F6E41F0D-5CF1-4527-80AD-98DFE1A551FA}"/>
              </a:ext>
            </a:extLst>
          </p:cNvPr>
          <p:cNvSpPr txBox="1"/>
          <p:nvPr/>
        </p:nvSpPr>
        <p:spPr>
          <a:xfrm>
            <a:off x="125046" y="153646"/>
            <a:ext cx="1141046" cy="461665"/>
          </a:xfrm>
          <a:prstGeom prst="rect">
            <a:avLst/>
          </a:prstGeom>
          <a:noFill/>
        </p:spPr>
        <p:txBody>
          <a:bodyPr wrap="square">
            <a:spAutoFit/>
          </a:bodyPr>
          <a:lstStyle/>
          <a:p>
            <a:r>
              <a:rPr lang="en-US" sz="2400" b="1" dirty="0"/>
              <a:t>Part 2</a:t>
            </a:r>
          </a:p>
        </p:txBody>
      </p:sp>
    </p:spTree>
    <p:extLst>
      <p:ext uri="{BB962C8B-B14F-4D97-AF65-F5344CB8AC3E}">
        <p14:creationId xmlns:p14="http://schemas.microsoft.com/office/powerpoint/2010/main" val="3449307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2B1AC-17E4-07BA-2D08-645FE9140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80B80-3719-8701-123A-04DEDBE812EA}"/>
              </a:ext>
            </a:extLst>
          </p:cNvPr>
          <p:cNvSpPr>
            <a:spLocks noGrp="1"/>
          </p:cNvSpPr>
          <p:nvPr>
            <p:ph type="title"/>
          </p:nvPr>
        </p:nvSpPr>
        <p:spPr/>
        <p:txBody>
          <a:bodyPr/>
          <a:lstStyle/>
          <a:p>
            <a:r>
              <a:rPr lang="en-US" dirty="0"/>
              <a:t>Network Layer (2 of 3)</a:t>
            </a:r>
          </a:p>
        </p:txBody>
      </p:sp>
      <p:sp>
        <p:nvSpPr>
          <p:cNvPr id="3" name="Content Placeholder 2">
            <a:extLst>
              <a:ext uri="{FF2B5EF4-FFF2-40B4-BE49-F238E27FC236}">
                <a16:creationId xmlns:a16="http://schemas.microsoft.com/office/drawing/2014/main" id="{D52F94D1-4612-3331-B934-4F50D26A9770}"/>
              </a:ext>
            </a:extLst>
          </p:cNvPr>
          <p:cNvSpPr>
            <a:spLocks noGrp="1"/>
          </p:cNvSpPr>
          <p:nvPr>
            <p:ph idx="1"/>
          </p:nvPr>
        </p:nvSpPr>
        <p:spPr/>
        <p:txBody>
          <a:bodyPr/>
          <a:lstStyle/>
          <a:p>
            <a:r>
              <a:rPr lang="en-US" dirty="0"/>
              <a:t>Software components working at this layer include IP, ARP and ICMP</a:t>
            </a:r>
          </a:p>
          <a:p>
            <a:r>
              <a:rPr lang="en-US" dirty="0"/>
              <a:t>Routers operate at this layer</a:t>
            </a:r>
          </a:p>
          <a:p>
            <a:r>
              <a:rPr lang="en-US" dirty="0"/>
              <a:t>A switch with routing capabilities (called a “Layer 3 switch”), also works at the Network layer</a:t>
            </a:r>
          </a:p>
          <a:p>
            <a:r>
              <a:rPr lang="en-US" dirty="0"/>
              <a:t>Problems that can occur at the Network layer often include:</a:t>
            </a:r>
          </a:p>
          <a:p>
            <a:pPr lvl="1"/>
            <a:r>
              <a:rPr lang="en-US" sz="2200" dirty="0"/>
              <a:t>Incorrect IP addresses or subnet masks, incorrect router configuration, and router operation errors</a:t>
            </a:r>
          </a:p>
          <a:p>
            <a:endParaRPr lang="en-US" dirty="0"/>
          </a:p>
        </p:txBody>
      </p:sp>
    </p:spTree>
    <p:extLst>
      <p:ext uri="{BB962C8B-B14F-4D97-AF65-F5344CB8AC3E}">
        <p14:creationId xmlns:p14="http://schemas.microsoft.com/office/powerpoint/2010/main" val="2092585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DB3A4-526F-5E33-A01C-D6386BE2B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D0015-CBA4-BBC0-C153-21A5EE451536}"/>
              </a:ext>
            </a:extLst>
          </p:cNvPr>
          <p:cNvSpPr>
            <a:spLocks noGrp="1"/>
          </p:cNvSpPr>
          <p:nvPr>
            <p:ph type="title"/>
          </p:nvPr>
        </p:nvSpPr>
        <p:spPr/>
        <p:txBody>
          <a:bodyPr/>
          <a:lstStyle/>
          <a:p>
            <a:r>
              <a:rPr lang="en-US" dirty="0"/>
              <a:t>Network Layer (3 of 3)</a:t>
            </a:r>
          </a:p>
        </p:txBody>
      </p:sp>
      <p:sp>
        <p:nvSpPr>
          <p:cNvPr id="5" name="TextBox 4">
            <a:extLst>
              <a:ext uri="{FF2B5EF4-FFF2-40B4-BE49-F238E27FC236}">
                <a16:creationId xmlns:a16="http://schemas.microsoft.com/office/drawing/2014/main" id="{987013DF-F236-519E-7ED3-E31811E8154A}"/>
              </a:ext>
            </a:extLst>
          </p:cNvPr>
          <p:cNvSpPr txBox="1"/>
          <p:nvPr/>
        </p:nvSpPr>
        <p:spPr>
          <a:xfrm>
            <a:off x="7315200" y="2828835"/>
            <a:ext cx="4294598" cy="830997"/>
          </a:xfrm>
          <a:prstGeom prst="rect">
            <a:avLst/>
          </a:prstGeom>
          <a:noFill/>
        </p:spPr>
        <p:txBody>
          <a:bodyPr wrap="square" rtlCol="0">
            <a:spAutoFit/>
          </a:bodyPr>
          <a:lstStyle/>
          <a:p>
            <a:r>
              <a:rPr lang="en-US" sz="2400" b="1" dirty="0">
                <a:latin typeface="Work Sans" pitchFamily="2" charset="0"/>
              </a:rPr>
              <a:t>Figure 7-7  </a:t>
            </a:r>
            <a:r>
              <a:rPr lang="en-US" sz="2400" dirty="0">
                <a:latin typeface="Work Sans" pitchFamily="2" charset="0"/>
              </a:rPr>
              <a:t>The Network-layer PDU: a packet</a:t>
            </a:r>
          </a:p>
        </p:txBody>
      </p:sp>
      <p:pic>
        <p:nvPicPr>
          <p:cNvPr id="4" name="Picture 3" descr="The components that make up a network layer P D U. The network layer adds a header to the transport layer P D U or segment forming a network layer P D U or packet. The transport layer P D U consists of a transport layer header and data.&#10;">
            <a:extLst>
              <a:ext uri="{FF2B5EF4-FFF2-40B4-BE49-F238E27FC236}">
                <a16:creationId xmlns:a16="http://schemas.microsoft.com/office/drawing/2014/main" id="{12A95E9A-445D-1668-C263-8EE08437622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98447" y="1690692"/>
            <a:ext cx="4800111" cy="3611538"/>
          </a:xfrm>
          <a:prstGeom prst="rect">
            <a:avLst/>
          </a:prstGeom>
        </p:spPr>
      </p:pic>
    </p:spTree>
    <p:extLst>
      <p:ext uri="{BB962C8B-B14F-4D97-AF65-F5344CB8AC3E}">
        <p14:creationId xmlns:p14="http://schemas.microsoft.com/office/powerpoint/2010/main" val="108572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9263F-7EC2-A274-A65E-46F0E533F7F5}"/>
              </a:ext>
            </a:extLst>
          </p:cNvPr>
          <p:cNvSpPr>
            <a:spLocks noGrp="1"/>
          </p:cNvSpPr>
          <p:nvPr>
            <p:ph type="title"/>
          </p:nvPr>
        </p:nvSpPr>
        <p:spPr/>
        <p:txBody>
          <a:bodyPr/>
          <a:lstStyle/>
          <a:p>
            <a:r>
              <a:rPr lang="en-US" dirty="0"/>
              <a:t>Data Link Layer (1 of 4)</a:t>
            </a:r>
          </a:p>
        </p:txBody>
      </p:sp>
      <p:sp>
        <p:nvSpPr>
          <p:cNvPr id="3" name="Content Placeholder 2">
            <a:extLst>
              <a:ext uri="{FF2B5EF4-FFF2-40B4-BE49-F238E27FC236}">
                <a16:creationId xmlns:a16="http://schemas.microsoft.com/office/drawing/2014/main" id="{F189170B-12F1-1D87-5A9A-4B533F0F000B}"/>
              </a:ext>
            </a:extLst>
          </p:cNvPr>
          <p:cNvSpPr>
            <a:spLocks noGrp="1"/>
          </p:cNvSpPr>
          <p:nvPr>
            <p:ph idx="1"/>
          </p:nvPr>
        </p:nvSpPr>
        <p:spPr/>
        <p:txBody>
          <a:bodyPr/>
          <a:lstStyle/>
          <a:p>
            <a:r>
              <a:rPr lang="en-US" dirty="0"/>
              <a:t>The </a:t>
            </a:r>
            <a:r>
              <a:rPr lang="en-US" b="1" dirty="0"/>
              <a:t>Data Link layer </a:t>
            </a:r>
            <a:r>
              <a:rPr lang="en-US" dirty="0"/>
              <a:t>(Layer 2) works with frames and is the intermediary between the Network layer and Physical layer</a:t>
            </a:r>
          </a:p>
          <a:p>
            <a:pPr lvl="1"/>
            <a:r>
              <a:rPr lang="en-US" sz="2200" dirty="0"/>
              <a:t>It defines how computers access the network medium (also called media access control)</a:t>
            </a:r>
          </a:p>
          <a:p>
            <a:r>
              <a:rPr lang="en-US" dirty="0"/>
              <a:t>The MAC address is defined at this layer</a:t>
            </a:r>
          </a:p>
          <a:p>
            <a:r>
              <a:rPr lang="en-US" dirty="0"/>
              <a:t>A layer 2 frame consists of both a header and a trailer component:</a:t>
            </a:r>
          </a:p>
          <a:p>
            <a:pPr lvl="1"/>
            <a:r>
              <a:rPr lang="en-US" sz="2200" dirty="0"/>
              <a:t>The trailer component is labeled “FCS” (frame check sequence) and contains the CRC error-checking code</a:t>
            </a:r>
          </a:p>
          <a:p>
            <a:pPr marL="0" indent="0">
              <a:buNone/>
            </a:pPr>
            <a:endParaRPr lang="en-US" dirty="0"/>
          </a:p>
        </p:txBody>
      </p:sp>
    </p:spTree>
    <p:extLst>
      <p:ext uri="{BB962C8B-B14F-4D97-AF65-F5344CB8AC3E}">
        <p14:creationId xmlns:p14="http://schemas.microsoft.com/office/powerpoint/2010/main" val="685976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91890-2997-FA80-3CE3-41D4F56CF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5ADFC-54B0-7781-01F4-E1DCF5883771}"/>
              </a:ext>
            </a:extLst>
          </p:cNvPr>
          <p:cNvSpPr>
            <a:spLocks noGrp="1"/>
          </p:cNvSpPr>
          <p:nvPr>
            <p:ph type="title"/>
          </p:nvPr>
        </p:nvSpPr>
        <p:spPr/>
        <p:txBody>
          <a:bodyPr/>
          <a:lstStyle/>
          <a:p>
            <a:r>
              <a:rPr lang="en-US" dirty="0"/>
              <a:t>Data Link Layer (2 of 4)</a:t>
            </a:r>
          </a:p>
        </p:txBody>
      </p:sp>
      <p:sp>
        <p:nvSpPr>
          <p:cNvPr id="3" name="Content Placeholder 2">
            <a:extLst>
              <a:ext uri="{FF2B5EF4-FFF2-40B4-BE49-F238E27FC236}">
                <a16:creationId xmlns:a16="http://schemas.microsoft.com/office/drawing/2014/main" id="{AAB9E081-0EFA-FAC6-169A-F1C23D984B1C}"/>
              </a:ext>
            </a:extLst>
          </p:cNvPr>
          <p:cNvSpPr>
            <a:spLocks noGrp="1"/>
          </p:cNvSpPr>
          <p:nvPr>
            <p:ph idx="1"/>
          </p:nvPr>
        </p:nvSpPr>
        <p:spPr>
          <a:xfrm>
            <a:off x="476843" y="1728614"/>
            <a:ext cx="11241915" cy="4351338"/>
          </a:xfrm>
        </p:spPr>
        <p:txBody>
          <a:bodyPr/>
          <a:lstStyle/>
          <a:p>
            <a:r>
              <a:rPr lang="en-US" dirty="0"/>
              <a:t>The CRC value is recalculated on the receiving end</a:t>
            </a:r>
          </a:p>
          <a:p>
            <a:pPr lvl="1"/>
            <a:r>
              <a:rPr lang="en-US" sz="2200" dirty="0"/>
              <a:t>If the sent and recalculated values agree, the assum</a:t>
            </a:r>
            <a:r>
              <a:rPr lang="en-US" dirty="0"/>
              <a:t>ption is that the data wasn’t altered during transmission</a:t>
            </a:r>
          </a:p>
          <a:p>
            <a:pPr lvl="1"/>
            <a:r>
              <a:rPr lang="en-US" sz="2200" dirty="0"/>
              <a:t>The Data Link layer discards frames containing CRC and frame errors</a:t>
            </a:r>
          </a:p>
          <a:p>
            <a:r>
              <a:rPr lang="en-US" dirty="0"/>
              <a:t>The Data Link header contains fields for source/destination addresses</a:t>
            </a:r>
          </a:p>
          <a:p>
            <a:pPr lvl="1"/>
            <a:r>
              <a:rPr lang="en-US" sz="2200" dirty="0"/>
              <a:t>After receiving a frame from the Physical layer and verifying the destination MAC address and the CRC, the Data Link layer strips its header and trailer information from the frame</a:t>
            </a:r>
          </a:p>
          <a:p>
            <a:pPr lvl="1"/>
            <a:r>
              <a:rPr lang="en-US" sz="2200" dirty="0"/>
              <a:t>It then sends the resulting packet up to the Network Layer for further processing</a:t>
            </a:r>
          </a:p>
          <a:p>
            <a:endParaRPr lang="en-US" dirty="0"/>
          </a:p>
        </p:txBody>
      </p:sp>
    </p:spTree>
    <p:extLst>
      <p:ext uri="{BB962C8B-B14F-4D97-AF65-F5344CB8AC3E}">
        <p14:creationId xmlns:p14="http://schemas.microsoft.com/office/powerpoint/2010/main" val="596096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63233-73AF-98F5-9168-51587724A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46AEC-404B-8716-6921-8B040F44CF62}"/>
              </a:ext>
            </a:extLst>
          </p:cNvPr>
          <p:cNvSpPr>
            <a:spLocks noGrp="1"/>
          </p:cNvSpPr>
          <p:nvPr>
            <p:ph type="title"/>
          </p:nvPr>
        </p:nvSpPr>
        <p:spPr/>
        <p:txBody>
          <a:bodyPr/>
          <a:lstStyle/>
          <a:p>
            <a:r>
              <a:rPr lang="en-US" dirty="0"/>
              <a:t>Data Link Layer (3 of 4)</a:t>
            </a:r>
          </a:p>
        </p:txBody>
      </p:sp>
      <p:sp>
        <p:nvSpPr>
          <p:cNvPr id="5" name="TextBox 4">
            <a:extLst>
              <a:ext uri="{FF2B5EF4-FFF2-40B4-BE49-F238E27FC236}">
                <a16:creationId xmlns:a16="http://schemas.microsoft.com/office/drawing/2014/main" id="{0988C4CC-77A5-E06C-5359-50FD240AD3F2}"/>
              </a:ext>
            </a:extLst>
          </p:cNvPr>
          <p:cNvSpPr txBox="1"/>
          <p:nvPr/>
        </p:nvSpPr>
        <p:spPr>
          <a:xfrm>
            <a:off x="7315200" y="2828835"/>
            <a:ext cx="4294598" cy="830997"/>
          </a:xfrm>
          <a:prstGeom prst="rect">
            <a:avLst/>
          </a:prstGeom>
          <a:noFill/>
        </p:spPr>
        <p:txBody>
          <a:bodyPr wrap="square" rtlCol="0">
            <a:spAutoFit/>
          </a:bodyPr>
          <a:lstStyle/>
          <a:p>
            <a:r>
              <a:rPr lang="en-US" sz="2400" b="1" dirty="0">
                <a:latin typeface="Work Sans" pitchFamily="2" charset="0"/>
              </a:rPr>
              <a:t>Figure 7-8  </a:t>
            </a:r>
            <a:r>
              <a:rPr lang="en-US" sz="2400" dirty="0">
                <a:latin typeface="Work Sans" pitchFamily="2" charset="0"/>
              </a:rPr>
              <a:t>The Data Link-layer PDU: a frame</a:t>
            </a:r>
          </a:p>
        </p:txBody>
      </p:sp>
      <p:pic>
        <p:nvPicPr>
          <p:cNvPr id="4" name="Picture 3" descr="The components that make up a data link layer P D U. The data link layer adds a header to the network layer P D U or packet forming a data link layer P D U. The network layer P D U consists of network layer header, transport layer header, data, and F C S.&#10;">
            <a:extLst>
              <a:ext uri="{FF2B5EF4-FFF2-40B4-BE49-F238E27FC236}">
                <a16:creationId xmlns:a16="http://schemas.microsoft.com/office/drawing/2014/main" id="{193B635D-5B46-CEEB-C8BC-128DFB79313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95668" y="1813981"/>
            <a:ext cx="4677801" cy="3519513"/>
          </a:xfrm>
          <a:prstGeom prst="rect">
            <a:avLst/>
          </a:prstGeom>
        </p:spPr>
      </p:pic>
    </p:spTree>
    <p:extLst>
      <p:ext uri="{BB962C8B-B14F-4D97-AF65-F5344CB8AC3E}">
        <p14:creationId xmlns:p14="http://schemas.microsoft.com/office/powerpoint/2010/main" val="3054750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410A-7CAA-A1FA-5F55-3D1A571C964E}"/>
              </a:ext>
            </a:extLst>
          </p:cNvPr>
          <p:cNvSpPr>
            <a:spLocks noGrp="1"/>
          </p:cNvSpPr>
          <p:nvPr>
            <p:ph type="title"/>
          </p:nvPr>
        </p:nvSpPr>
        <p:spPr/>
        <p:txBody>
          <a:bodyPr/>
          <a:lstStyle/>
          <a:p>
            <a:r>
              <a:rPr lang="en-US" dirty="0"/>
              <a:t>Data Link Layer (4 of 4)</a:t>
            </a:r>
          </a:p>
        </p:txBody>
      </p:sp>
      <p:sp>
        <p:nvSpPr>
          <p:cNvPr id="3" name="Content Placeholder 2">
            <a:extLst>
              <a:ext uri="{FF2B5EF4-FFF2-40B4-BE49-F238E27FC236}">
                <a16:creationId xmlns:a16="http://schemas.microsoft.com/office/drawing/2014/main" id="{E563E534-2848-7599-9ED6-C442AFC408DA}"/>
              </a:ext>
            </a:extLst>
          </p:cNvPr>
          <p:cNvSpPr>
            <a:spLocks noGrp="1"/>
          </p:cNvSpPr>
          <p:nvPr>
            <p:ph idx="1"/>
          </p:nvPr>
        </p:nvSpPr>
        <p:spPr/>
        <p:txBody>
          <a:bodyPr/>
          <a:lstStyle/>
          <a:p>
            <a:pPr>
              <a:defRPr/>
            </a:pPr>
            <a:r>
              <a:rPr lang="en-US" altLang="zh-CN" dirty="0">
                <a:cs typeface="Arial" panose="020B0604020202020204" pitchFamily="34" charset="0"/>
              </a:rPr>
              <a:t>The software component operating at this layer is in the NIC driver</a:t>
            </a:r>
          </a:p>
          <a:p>
            <a:pPr>
              <a:defRPr/>
            </a:pPr>
            <a:r>
              <a:rPr lang="en-US" altLang="zh-CN" dirty="0">
                <a:cs typeface="Arial" panose="020B0604020202020204" pitchFamily="34" charset="0"/>
              </a:rPr>
              <a:t>Hardware components that operate at this layer include NICs and switches</a:t>
            </a:r>
          </a:p>
          <a:p>
            <a:pPr>
              <a:defRPr/>
            </a:pPr>
            <a:r>
              <a:rPr lang="en-US" altLang="zh-CN" dirty="0">
                <a:cs typeface="Arial" panose="020B0604020202020204" pitchFamily="34" charset="0"/>
              </a:rPr>
              <a:t>Problems at this layer include collisions and invalid frames, which can be caused by collisions, poor network design, line noise, or NIC driver problems</a:t>
            </a:r>
          </a:p>
          <a:p>
            <a:pPr lvl="1">
              <a:defRPr/>
            </a:pPr>
            <a:r>
              <a:rPr lang="en-US" altLang="zh-CN" sz="2200" dirty="0">
                <a:cs typeface="Arial" panose="020B0604020202020204" pitchFamily="34" charset="0"/>
              </a:rPr>
              <a:t>Another problem at this layer results from trying to use incompatible network technologies</a:t>
            </a:r>
          </a:p>
          <a:p>
            <a:endParaRPr lang="en-US" dirty="0"/>
          </a:p>
        </p:txBody>
      </p:sp>
    </p:spTree>
    <p:extLst>
      <p:ext uri="{BB962C8B-B14F-4D97-AF65-F5344CB8AC3E}">
        <p14:creationId xmlns:p14="http://schemas.microsoft.com/office/powerpoint/2010/main" val="177289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44BEE-C1F9-4982-E88B-13811A853A1B}"/>
              </a:ext>
            </a:extLst>
          </p:cNvPr>
          <p:cNvSpPr>
            <a:spLocks noGrp="1"/>
          </p:cNvSpPr>
          <p:nvPr>
            <p:ph type="title"/>
          </p:nvPr>
        </p:nvSpPr>
        <p:spPr/>
        <p:txBody>
          <a:bodyPr/>
          <a:lstStyle/>
          <a:p>
            <a:r>
              <a:rPr lang="en-US" dirty="0"/>
              <a:t>Physical Layer (1 of 2)</a:t>
            </a:r>
          </a:p>
        </p:txBody>
      </p:sp>
      <p:sp>
        <p:nvSpPr>
          <p:cNvPr id="3" name="Content Placeholder 2">
            <a:extLst>
              <a:ext uri="{FF2B5EF4-FFF2-40B4-BE49-F238E27FC236}">
                <a16:creationId xmlns:a16="http://schemas.microsoft.com/office/drawing/2014/main" id="{C87E0D7F-51A0-B1C5-2FC3-A060E6D81030}"/>
              </a:ext>
            </a:extLst>
          </p:cNvPr>
          <p:cNvSpPr>
            <a:spLocks noGrp="1"/>
          </p:cNvSpPr>
          <p:nvPr>
            <p:ph idx="1"/>
          </p:nvPr>
        </p:nvSpPr>
        <p:spPr/>
        <p:txBody>
          <a:bodyPr/>
          <a:lstStyle/>
          <a:p>
            <a:r>
              <a:rPr lang="en-US" dirty="0"/>
              <a:t>The </a:t>
            </a:r>
            <a:r>
              <a:rPr lang="en-US" b="1" dirty="0"/>
              <a:t>Physical layer </a:t>
            </a:r>
            <a:r>
              <a:rPr lang="en-US" dirty="0"/>
              <a:t>(Layer 1) converts bits into signals for outgoing messages and signals into bits for incoming messages</a:t>
            </a:r>
          </a:p>
          <a:p>
            <a:r>
              <a:rPr lang="en-US" dirty="0"/>
              <a:t>The type of signals generated depend on the medium:</a:t>
            </a:r>
          </a:p>
          <a:p>
            <a:pPr lvl="1"/>
            <a:r>
              <a:rPr lang="en-US" sz="2200" dirty="0"/>
              <a:t>Wire media uses electrical pulses, fiber-optic uses light pulses and wireless media uses radio waves</a:t>
            </a:r>
          </a:p>
          <a:p>
            <a:r>
              <a:rPr lang="en-US" dirty="0"/>
              <a:t>Details for creating a physical network connection are specified at this layer</a:t>
            </a:r>
          </a:p>
          <a:p>
            <a:pPr lvl="1"/>
            <a:r>
              <a:rPr lang="en-US" sz="2200" dirty="0"/>
              <a:t>Example: the type of connectors used to attach the medium to the NIC</a:t>
            </a:r>
          </a:p>
          <a:p>
            <a:endParaRPr lang="en-US" dirty="0"/>
          </a:p>
        </p:txBody>
      </p:sp>
    </p:spTree>
    <p:extLst>
      <p:ext uri="{BB962C8B-B14F-4D97-AF65-F5344CB8AC3E}">
        <p14:creationId xmlns:p14="http://schemas.microsoft.com/office/powerpoint/2010/main" val="4289152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49C28-0B5A-AE09-E9D1-A979EA06EA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A95FC-5490-EA07-AC54-EC0837F8C4D1}"/>
              </a:ext>
            </a:extLst>
          </p:cNvPr>
          <p:cNvSpPr>
            <a:spLocks noGrp="1"/>
          </p:cNvSpPr>
          <p:nvPr>
            <p:ph type="title"/>
          </p:nvPr>
        </p:nvSpPr>
        <p:spPr/>
        <p:txBody>
          <a:bodyPr/>
          <a:lstStyle/>
          <a:p>
            <a:r>
              <a:rPr lang="en-US" dirty="0"/>
              <a:t>Physical Layer (2 of 2)</a:t>
            </a:r>
          </a:p>
        </p:txBody>
      </p:sp>
      <p:sp>
        <p:nvSpPr>
          <p:cNvPr id="3" name="Content Placeholder 2">
            <a:extLst>
              <a:ext uri="{FF2B5EF4-FFF2-40B4-BE49-F238E27FC236}">
                <a16:creationId xmlns:a16="http://schemas.microsoft.com/office/drawing/2014/main" id="{41C0B387-BAE5-D3E1-0E63-B32C988621AB}"/>
              </a:ext>
            </a:extLst>
          </p:cNvPr>
          <p:cNvSpPr>
            <a:spLocks noGrp="1"/>
          </p:cNvSpPr>
          <p:nvPr>
            <p:ph idx="1"/>
          </p:nvPr>
        </p:nvSpPr>
        <p:spPr>
          <a:xfrm>
            <a:off x="475042" y="1708065"/>
            <a:ext cx="11241915" cy="4351338"/>
          </a:xfrm>
        </p:spPr>
        <p:txBody>
          <a:bodyPr/>
          <a:lstStyle/>
          <a:p>
            <a:r>
              <a:rPr lang="en-US" b="1" dirty="0"/>
              <a:t>Encoding</a:t>
            </a:r>
            <a:r>
              <a:rPr lang="en-US" dirty="0"/>
              <a:t> is representing 0s and 1s by a physical signal such as electrical voltage or a light pulse</a:t>
            </a:r>
          </a:p>
          <a:p>
            <a:pPr lvl="1"/>
            <a:r>
              <a:rPr lang="en-US" sz="2200" dirty="0"/>
              <a:t>Encoding happens at the Physical layer </a:t>
            </a:r>
          </a:p>
          <a:p>
            <a:r>
              <a:rPr lang="en-US" dirty="0"/>
              <a:t>Components at this layer include all the cable and connectors used on the medium, along with repeaters and hubs</a:t>
            </a:r>
          </a:p>
          <a:p>
            <a:r>
              <a:rPr lang="en-US" dirty="0"/>
              <a:t>Problems occurring here are often related to:</a:t>
            </a:r>
          </a:p>
          <a:p>
            <a:pPr lvl="1"/>
            <a:r>
              <a:rPr lang="en-US" sz="2200" dirty="0"/>
              <a:t>Incorrect media termination</a:t>
            </a:r>
          </a:p>
          <a:p>
            <a:pPr lvl="1"/>
            <a:r>
              <a:rPr lang="en-US" sz="2200" dirty="0"/>
              <a:t>EMI or noise that scrambles the signals</a:t>
            </a:r>
          </a:p>
          <a:p>
            <a:pPr lvl="1"/>
            <a:r>
              <a:rPr lang="en-US" sz="2200" dirty="0"/>
              <a:t>NICs and hubs that are misconfigured or malfunctioning</a:t>
            </a:r>
          </a:p>
          <a:p>
            <a:endParaRPr lang="en-US" dirty="0"/>
          </a:p>
        </p:txBody>
      </p:sp>
    </p:spTree>
    <p:extLst>
      <p:ext uri="{BB962C8B-B14F-4D97-AF65-F5344CB8AC3E}">
        <p14:creationId xmlns:p14="http://schemas.microsoft.com/office/powerpoint/2010/main" val="1084694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7-1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At what layer of the OSI model would you find the function of bit encoding?</a:t>
            </a:r>
          </a:p>
          <a:p>
            <a:pPr marL="0" indent="0">
              <a:buNone/>
            </a:pPr>
            <a:r>
              <a:rPr lang="en-US" dirty="0"/>
              <a:t>a. Layer 1</a:t>
            </a:r>
          </a:p>
          <a:p>
            <a:pPr marL="0" indent="0">
              <a:buNone/>
            </a:pPr>
            <a:r>
              <a:rPr lang="en-US" dirty="0"/>
              <a:t>b. Layer 2</a:t>
            </a:r>
          </a:p>
          <a:p>
            <a:pPr marL="0" indent="0">
              <a:buNone/>
            </a:pPr>
            <a:r>
              <a:rPr lang="en-US" dirty="0"/>
              <a:t>c. Layer 3</a:t>
            </a:r>
          </a:p>
          <a:p>
            <a:pPr marL="0" indent="0">
              <a:buNone/>
            </a:pPr>
            <a:r>
              <a:rPr lang="en-US" dirty="0"/>
              <a:t>d. Layer 4</a:t>
            </a:r>
          </a:p>
        </p:txBody>
      </p:sp>
    </p:spTree>
    <p:extLst>
      <p:ext uri="{BB962C8B-B14F-4D97-AF65-F5344CB8AC3E}">
        <p14:creationId xmlns:p14="http://schemas.microsoft.com/office/powerpoint/2010/main" val="3683800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7-1: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At what layer of the OSI model would you find the function of bit encoding?</a:t>
            </a:r>
          </a:p>
          <a:p>
            <a:pPr marL="0" indent="0">
              <a:buNone/>
            </a:pPr>
            <a:r>
              <a:rPr lang="en-US" b="1" dirty="0"/>
              <a:t>Answer: a</a:t>
            </a:r>
            <a:r>
              <a:rPr lang="en-US" dirty="0"/>
              <a:t>. Layer 1</a:t>
            </a:r>
          </a:p>
          <a:p>
            <a:pPr marL="0" indent="0">
              <a:buNone/>
            </a:pPr>
            <a:r>
              <a:rPr lang="en-US" b="1" dirty="0"/>
              <a:t>Explanation:</a:t>
            </a:r>
            <a:r>
              <a:rPr lang="en-US" dirty="0"/>
              <a:t> The Physical layer specifies how to encode 1s and 0s, bit signals. Encoding is representing 0s and 1s by a physical signal, such as electrical voltage or a light pulse.</a:t>
            </a:r>
          </a:p>
        </p:txBody>
      </p:sp>
    </p:spTree>
    <p:extLst>
      <p:ext uri="{BB962C8B-B14F-4D97-AF65-F5344CB8AC3E}">
        <p14:creationId xmlns:p14="http://schemas.microsoft.com/office/powerpoint/2010/main" val="38891047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B9C98-14D8-388D-064A-6F45CCC96653}"/>
              </a:ext>
            </a:extLst>
          </p:cNvPr>
          <p:cNvSpPr>
            <a:spLocks noGrp="1"/>
          </p:cNvSpPr>
          <p:nvPr>
            <p:ph type="title"/>
          </p:nvPr>
        </p:nvSpPr>
        <p:spPr/>
        <p:txBody>
          <a:bodyPr/>
          <a:lstStyle/>
          <a:p>
            <a:r>
              <a:rPr lang="en-US" dirty="0"/>
              <a:t>IEEE 802 Networking Standards (1 of 2)</a:t>
            </a:r>
          </a:p>
        </p:txBody>
      </p:sp>
      <p:sp>
        <p:nvSpPr>
          <p:cNvPr id="3" name="Content Placeholder 2">
            <a:extLst>
              <a:ext uri="{FF2B5EF4-FFF2-40B4-BE49-F238E27FC236}">
                <a16:creationId xmlns:a16="http://schemas.microsoft.com/office/drawing/2014/main" id="{3FFA8C6E-31A9-E80A-39DC-7822CCAC71FD}"/>
              </a:ext>
            </a:extLst>
          </p:cNvPr>
          <p:cNvSpPr>
            <a:spLocks noGrp="1"/>
          </p:cNvSpPr>
          <p:nvPr>
            <p:ph idx="1"/>
          </p:nvPr>
        </p:nvSpPr>
        <p:spPr/>
        <p:txBody>
          <a:bodyPr/>
          <a:lstStyle/>
          <a:p>
            <a:r>
              <a:rPr lang="en-US" dirty="0"/>
              <a:t>The Institute of Electrical and Electronics Engineers (IEEE) defined LAN standards to ensure that network interfaces and cabling from multiple manufacturers would be compatible</a:t>
            </a:r>
          </a:p>
          <a:p>
            <a:pPr lvl="1"/>
            <a:r>
              <a:rPr lang="en-US" sz="2200" dirty="0"/>
              <a:t>This effort was called Project 802 to indicate the year (1980) and the month (Feb) of its inception</a:t>
            </a:r>
          </a:p>
          <a:p>
            <a:pPr lvl="1"/>
            <a:r>
              <a:rPr lang="en-US" sz="2200" dirty="0"/>
              <a:t>IEEE 802 predates the OSI Model </a:t>
            </a:r>
          </a:p>
          <a:p>
            <a:r>
              <a:rPr lang="en-US" dirty="0"/>
              <a:t>Most of the standards affect the elements from the lower two levels of the OSI Model</a:t>
            </a:r>
          </a:p>
          <a:p>
            <a:endParaRPr lang="en-US" dirty="0"/>
          </a:p>
        </p:txBody>
      </p:sp>
    </p:spTree>
    <p:extLst>
      <p:ext uri="{BB962C8B-B14F-4D97-AF65-F5344CB8AC3E}">
        <p14:creationId xmlns:p14="http://schemas.microsoft.com/office/powerpoint/2010/main" val="2461673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BD5F2-636C-5DD5-E40B-456198D42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C4E58-F490-C718-0607-F446294BB48E}"/>
              </a:ext>
            </a:extLst>
          </p:cNvPr>
          <p:cNvSpPr>
            <a:spLocks noGrp="1"/>
          </p:cNvSpPr>
          <p:nvPr>
            <p:ph type="title"/>
          </p:nvPr>
        </p:nvSpPr>
        <p:spPr/>
        <p:txBody>
          <a:bodyPr/>
          <a:lstStyle/>
          <a:p>
            <a:r>
              <a:rPr lang="en-US" dirty="0"/>
              <a:t>IEEE 802 Networking Standards (2 of 2)</a:t>
            </a:r>
          </a:p>
        </p:txBody>
      </p:sp>
      <p:sp>
        <p:nvSpPr>
          <p:cNvPr id="3" name="Content Placeholder 2">
            <a:extLst>
              <a:ext uri="{FF2B5EF4-FFF2-40B4-BE49-F238E27FC236}">
                <a16:creationId xmlns:a16="http://schemas.microsoft.com/office/drawing/2014/main" id="{3E2E7625-44C5-A29A-296A-9B1C26BFF79F}"/>
              </a:ext>
            </a:extLst>
          </p:cNvPr>
          <p:cNvSpPr>
            <a:spLocks noGrp="1"/>
          </p:cNvSpPr>
          <p:nvPr>
            <p:ph idx="1"/>
          </p:nvPr>
        </p:nvSpPr>
        <p:spPr/>
        <p:txBody>
          <a:bodyPr/>
          <a:lstStyle/>
          <a:p>
            <a:r>
              <a:rPr lang="en-US" dirty="0"/>
              <a:t>The 802 specifications describes how NICs can access and transfer data across a variety of networking media and what’s involved in attaching, managing, and detaching these devices in a network</a:t>
            </a:r>
          </a:p>
          <a:p>
            <a:endParaRPr lang="en-US" dirty="0"/>
          </a:p>
        </p:txBody>
      </p:sp>
    </p:spTree>
    <p:extLst>
      <p:ext uri="{BB962C8B-B14F-4D97-AF65-F5344CB8AC3E}">
        <p14:creationId xmlns:p14="http://schemas.microsoft.com/office/powerpoint/2010/main" val="3670314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E6F65-D65A-3774-D754-2C74A1DAD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6EE4C-3D21-8916-0124-DAEE7E0ED9A4}"/>
              </a:ext>
            </a:extLst>
          </p:cNvPr>
          <p:cNvSpPr>
            <a:spLocks noGrp="1"/>
          </p:cNvSpPr>
          <p:nvPr>
            <p:ph type="title"/>
          </p:nvPr>
        </p:nvSpPr>
        <p:spPr/>
        <p:txBody>
          <a:bodyPr/>
          <a:lstStyle/>
          <a:p>
            <a:r>
              <a:rPr lang="en-US" dirty="0"/>
              <a:t>IEEE 802 Specifications (1 of 2)</a:t>
            </a:r>
          </a:p>
        </p:txBody>
      </p:sp>
      <p:sp>
        <p:nvSpPr>
          <p:cNvPr id="3" name="Content Placeholder 2">
            <a:extLst>
              <a:ext uri="{FF2B5EF4-FFF2-40B4-BE49-F238E27FC236}">
                <a16:creationId xmlns:a16="http://schemas.microsoft.com/office/drawing/2014/main" id="{0923F1EC-FA6E-F21F-3F69-16B07287E083}"/>
              </a:ext>
            </a:extLst>
          </p:cNvPr>
          <p:cNvSpPr>
            <a:spLocks noGrp="1"/>
          </p:cNvSpPr>
          <p:nvPr>
            <p:ph idx="1"/>
          </p:nvPr>
        </p:nvSpPr>
        <p:spPr/>
        <p:txBody>
          <a:bodyPr/>
          <a:lstStyle/>
          <a:p>
            <a:r>
              <a:rPr lang="en-US" dirty="0"/>
              <a:t>The IEEE numbers the collections of 802 documents starting with 802.1, 802.2, etc…</a:t>
            </a:r>
          </a:p>
          <a:p>
            <a:r>
              <a:rPr lang="en-US" dirty="0"/>
              <a:t>When a technology is enhanced each enhancement is specified by letters after the number</a:t>
            </a:r>
          </a:p>
          <a:p>
            <a:pPr lvl="1"/>
            <a:r>
              <a:rPr lang="en-US" sz="2200" dirty="0"/>
              <a:t>For example: 802.3 is the original Ethernet and 802.3u specifies 100BaseT Ethernet</a:t>
            </a:r>
          </a:p>
          <a:p>
            <a:endParaRPr lang="en-US" dirty="0"/>
          </a:p>
        </p:txBody>
      </p:sp>
    </p:spTree>
    <p:extLst>
      <p:ext uri="{BB962C8B-B14F-4D97-AF65-F5344CB8AC3E}">
        <p14:creationId xmlns:p14="http://schemas.microsoft.com/office/powerpoint/2010/main" val="22411530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ACECD-B8DF-B2DB-CC18-5B38D0BD3BED}"/>
              </a:ext>
            </a:extLst>
          </p:cNvPr>
          <p:cNvSpPr>
            <a:spLocks noGrp="1"/>
          </p:cNvSpPr>
          <p:nvPr>
            <p:ph type="title"/>
          </p:nvPr>
        </p:nvSpPr>
        <p:spPr/>
        <p:txBody>
          <a:bodyPr/>
          <a:lstStyle/>
          <a:p>
            <a:r>
              <a:rPr lang="en-US" dirty="0"/>
              <a:t>IEEE 802 Specifications (2 of 2)</a:t>
            </a:r>
          </a:p>
        </p:txBody>
      </p:sp>
      <p:graphicFrame>
        <p:nvGraphicFramePr>
          <p:cNvPr id="4" name="Content Placeholder 3">
            <a:extLst>
              <a:ext uri="{FF2B5EF4-FFF2-40B4-BE49-F238E27FC236}">
                <a16:creationId xmlns:a16="http://schemas.microsoft.com/office/drawing/2014/main" id="{20E92C2E-C766-EA7C-4F67-2DFD100D6430}"/>
              </a:ext>
            </a:extLst>
          </p:cNvPr>
          <p:cNvGraphicFramePr>
            <a:graphicFrameLocks noGrp="1"/>
          </p:cNvGraphicFramePr>
          <p:nvPr>
            <p:ph idx="1"/>
            <p:extLst>
              <p:ext uri="{D42A27DB-BD31-4B8C-83A1-F6EECF244321}">
                <p14:modId xmlns:p14="http://schemas.microsoft.com/office/powerpoint/2010/main" val="3782112916"/>
              </p:ext>
            </p:extLst>
          </p:nvPr>
        </p:nvGraphicFramePr>
        <p:xfrm>
          <a:off x="474663" y="2544817"/>
          <a:ext cx="11242674" cy="2148840"/>
        </p:xfrm>
        <a:graphic>
          <a:graphicData uri="http://schemas.openxmlformats.org/drawingml/2006/table">
            <a:tbl>
              <a:tblPr firstRow="1" bandRow="1">
                <a:tableStyleId>{5C22544A-7EE6-4342-B048-85BDC9FD1C3A}</a:tableStyleId>
              </a:tblPr>
              <a:tblGrid>
                <a:gridCol w="1321135">
                  <a:extLst>
                    <a:ext uri="{9D8B030D-6E8A-4147-A177-3AD203B41FA5}">
                      <a16:colId xmlns:a16="http://schemas.microsoft.com/office/drawing/2014/main" val="1562699577"/>
                    </a:ext>
                  </a:extLst>
                </a:gridCol>
                <a:gridCol w="3174714">
                  <a:extLst>
                    <a:ext uri="{9D8B030D-6E8A-4147-A177-3AD203B41FA5}">
                      <a16:colId xmlns:a16="http://schemas.microsoft.com/office/drawing/2014/main" val="45268533"/>
                    </a:ext>
                  </a:extLst>
                </a:gridCol>
                <a:gridCol w="6746825">
                  <a:extLst>
                    <a:ext uri="{9D8B030D-6E8A-4147-A177-3AD203B41FA5}">
                      <a16:colId xmlns:a16="http://schemas.microsoft.com/office/drawing/2014/main" val="1627500182"/>
                    </a:ext>
                  </a:extLst>
                </a:gridCol>
              </a:tblGrid>
              <a:tr h="370840">
                <a:tc>
                  <a:txBody>
                    <a:bodyPr/>
                    <a:lstStyle/>
                    <a:p>
                      <a:r>
                        <a:rPr lang="en-US" sz="1400" dirty="0"/>
                        <a:t>Standard</a:t>
                      </a:r>
                    </a:p>
                  </a:txBody>
                  <a:tcPr/>
                </a:tc>
                <a:tc>
                  <a:txBody>
                    <a:bodyPr/>
                    <a:lstStyle/>
                    <a:p>
                      <a:r>
                        <a:rPr lang="en-US" sz="1400" dirty="0"/>
                        <a:t>Name</a:t>
                      </a:r>
                    </a:p>
                  </a:txBody>
                  <a:tcPr/>
                </a:tc>
                <a:tc>
                  <a:txBody>
                    <a:bodyPr/>
                    <a:lstStyle/>
                    <a:p>
                      <a:r>
                        <a:rPr lang="en-US" sz="1400" dirty="0"/>
                        <a:t>Explanation</a:t>
                      </a:r>
                    </a:p>
                  </a:txBody>
                  <a:tcPr/>
                </a:tc>
                <a:extLst>
                  <a:ext uri="{0D108BD9-81ED-4DB2-BD59-A6C34878D82A}">
                    <a16:rowId xmlns:a16="http://schemas.microsoft.com/office/drawing/2014/main" val="311562894"/>
                  </a:ext>
                </a:extLst>
              </a:tr>
              <a:tr h="370840">
                <a:tc>
                  <a:txBody>
                    <a:bodyPr/>
                    <a:lstStyle/>
                    <a:p>
                      <a:r>
                        <a:rPr lang="en-US" sz="1400" dirty="0"/>
                        <a:t>802.3</a:t>
                      </a:r>
                    </a:p>
                  </a:txBody>
                  <a:tcPr/>
                </a:tc>
                <a:tc>
                  <a:txBody>
                    <a:bodyPr/>
                    <a:lstStyle/>
                    <a:p>
                      <a:r>
                        <a:rPr lang="en-US" sz="1400" dirty="0"/>
                        <a:t>Ethernet LAN</a:t>
                      </a:r>
                    </a:p>
                  </a:txBody>
                  <a:tcPr/>
                </a:tc>
                <a:tc>
                  <a:txBody>
                    <a:bodyPr/>
                    <a:lstStyle/>
                    <a:p>
                      <a:r>
                        <a:rPr lang="en-US" sz="1400" dirty="0"/>
                        <a:t>Covers all forms of Ethernet media and interfaces, from 10 Mbps to 10 Gbps (10 Gigabit Ethernet)</a:t>
                      </a:r>
                    </a:p>
                  </a:txBody>
                  <a:tcPr/>
                </a:tc>
                <a:extLst>
                  <a:ext uri="{0D108BD9-81ED-4DB2-BD59-A6C34878D82A}">
                    <a16:rowId xmlns:a16="http://schemas.microsoft.com/office/drawing/2014/main" val="809736834"/>
                  </a:ext>
                </a:extLst>
              </a:tr>
              <a:tr h="370840">
                <a:tc>
                  <a:txBody>
                    <a:bodyPr/>
                    <a:lstStyle/>
                    <a:p>
                      <a:r>
                        <a:rPr lang="en-US" sz="1400" dirty="0"/>
                        <a:t>802.11</a:t>
                      </a:r>
                    </a:p>
                  </a:txBody>
                  <a:tcPr/>
                </a:tc>
                <a:tc>
                  <a:txBody>
                    <a:bodyPr/>
                    <a:lstStyle/>
                    <a:p>
                      <a:r>
                        <a:rPr lang="en-US" sz="1400" dirty="0"/>
                        <a:t>Wireless Networks</a:t>
                      </a:r>
                    </a:p>
                  </a:txBody>
                  <a:tcPr/>
                </a:tc>
                <a:tc>
                  <a:txBody>
                    <a:bodyPr/>
                    <a:lstStyle/>
                    <a:p>
                      <a:r>
                        <a:rPr lang="en-US" sz="1400" dirty="0"/>
                        <a:t>Sets standards for wireless networking for many different broadcast frequencies and techniques</a:t>
                      </a:r>
                    </a:p>
                  </a:txBody>
                  <a:tcPr/>
                </a:tc>
                <a:extLst>
                  <a:ext uri="{0D108BD9-81ED-4DB2-BD59-A6C34878D82A}">
                    <a16:rowId xmlns:a16="http://schemas.microsoft.com/office/drawing/2014/main" val="2216917522"/>
                  </a:ext>
                </a:extLst>
              </a:tr>
              <a:tr h="370840">
                <a:tc>
                  <a:txBody>
                    <a:bodyPr/>
                    <a:lstStyle/>
                    <a:p>
                      <a:r>
                        <a:rPr lang="en-US" sz="1400" dirty="0"/>
                        <a:t>802.15</a:t>
                      </a:r>
                    </a:p>
                  </a:txBody>
                  <a:tcPr/>
                </a:tc>
                <a:tc>
                  <a:txBody>
                    <a:bodyPr/>
                    <a:lstStyle/>
                    <a:p>
                      <a:r>
                        <a:rPr lang="en-US" sz="1400" dirty="0"/>
                        <a:t>Wireless PAN</a:t>
                      </a:r>
                    </a:p>
                  </a:txBody>
                  <a:tcPr/>
                </a:tc>
                <a:tc>
                  <a:txBody>
                    <a:bodyPr/>
                    <a:lstStyle/>
                    <a:p>
                      <a:r>
                        <a:rPr lang="en-US" sz="1400" dirty="0"/>
                        <a:t>Covers standards for wireless personal area networks</a:t>
                      </a:r>
                    </a:p>
                  </a:txBody>
                  <a:tcPr/>
                </a:tc>
                <a:extLst>
                  <a:ext uri="{0D108BD9-81ED-4DB2-BD59-A6C34878D82A}">
                    <a16:rowId xmlns:a16="http://schemas.microsoft.com/office/drawing/2014/main" val="535662873"/>
                  </a:ext>
                </a:extLst>
              </a:tr>
              <a:tr h="370840">
                <a:tc>
                  <a:txBody>
                    <a:bodyPr/>
                    <a:lstStyle/>
                    <a:p>
                      <a:r>
                        <a:rPr lang="en-US" sz="1400" dirty="0"/>
                        <a:t>802.16</a:t>
                      </a:r>
                    </a:p>
                  </a:txBody>
                  <a:tcPr/>
                </a:tc>
                <a:tc>
                  <a:txBody>
                    <a:bodyPr/>
                    <a:lstStyle/>
                    <a:p>
                      <a:r>
                        <a:rPr lang="en-US" sz="1400" dirty="0"/>
                        <a:t>Wireless MAN (WiMAX)</a:t>
                      </a:r>
                    </a:p>
                  </a:txBody>
                  <a:tcPr/>
                </a:tc>
                <a:tc>
                  <a:txBody>
                    <a:bodyPr/>
                    <a:lstStyle/>
                    <a:p>
                      <a:r>
                        <a:rPr lang="en-US" sz="1400" dirty="0"/>
                        <a:t>Covers wireless metropolitan area networks</a:t>
                      </a:r>
                    </a:p>
                  </a:txBody>
                  <a:tcPr/>
                </a:tc>
                <a:extLst>
                  <a:ext uri="{0D108BD9-81ED-4DB2-BD59-A6C34878D82A}">
                    <a16:rowId xmlns:a16="http://schemas.microsoft.com/office/drawing/2014/main" val="3416348652"/>
                  </a:ext>
                </a:extLst>
              </a:tr>
            </a:tbl>
          </a:graphicData>
        </a:graphic>
      </p:graphicFrame>
      <p:sp>
        <p:nvSpPr>
          <p:cNvPr id="5" name="TextBox 4">
            <a:extLst>
              <a:ext uri="{FF2B5EF4-FFF2-40B4-BE49-F238E27FC236}">
                <a16:creationId xmlns:a16="http://schemas.microsoft.com/office/drawing/2014/main" id="{4FC7F5DA-E5D5-B33F-A109-D0E52D617284}"/>
              </a:ext>
            </a:extLst>
          </p:cNvPr>
          <p:cNvSpPr txBox="1"/>
          <p:nvPr/>
        </p:nvSpPr>
        <p:spPr>
          <a:xfrm>
            <a:off x="400691" y="2066921"/>
            <a:ext cx="5620641" cy="369332"/>
          </a:xfrm>
          <a:prstGeom prst="rect">
            <a:avLst/>
          </a:prstGeom>
          <a:noFill/>
        </p:spPr>
        <p:txBody>
          <a:bodyPr wrap="none" rtlCol="0">
            <a:spAutoFit/>
          </a:bodyPr>
          <a:lstStyle/>
          <a:p>
            <a:r>
              <a:rPr lang="en-US" b="1" dirty="0"/>
              <a:t>Table 7-2 </a:t>
            </a:r>
            <a:r>
              <a:rPr lang="en-US" dirty="0"/>
              <a:t>IEEE 802 standards (most pertinent to this book)</a:t>
            </a:r>
          </a:p>
        </p:txBody>
      </p:sp>
    </p:spTree>
    <p:extLst>
      <p:ext uri="{BB962C8B-B14F-4D97-AF65-F5344CB8AC3E}">
        <p14:creationId xmlns:p14="http://schemas.microsoft.com/office/powerpoint/2010/main" val="1723829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4F8AD-10AB-C6DC-9A36-7BD7D7E42900}"/>
              </a:ext>
            </a:extLst>
          </p:cNvPr>
          <p:cNvSpPr>
            <a:spLocks noGrp="1"/>
          </p:cNvSpPr>
          <p:nvPr>
            <p:ph type="title"/>
          </p:nvPr>
        </p:nvSpPr>
        <p:spPr/>
        <p:txBody>
          <a:bodyPr/>
          <a:lstStyle/>
          <a:p>
            <a:r>
              <a:rPr lang="en-US" dirty="0"/>
              <a:t>IEEE 802 Extensions to the OSI Reference Model (1 of 3)</a:t>
            </a:r>
          </a:p>
        </p:txBody>
      </p:sp>
      <p:sp>
        <p:nvSpPr>
          <p:cNvPr id="3" name="Content Placeholder 2">
            <a:extLst>
              <a:ext uri="{FF2B5EF4-FFF2-40B4-BE49-F238E27FC236}">
                <a16:creationId xmlns:a16="http://schemas.microsoft.com/office/drawing/2014/main" id="{37BF757C-37F8-95FC-EF24-4FFE4C59500D}"/>
              </a:ext>
            </a:extLst>
          </p:cNvPr>
          <p:cNvSpPr>
            <a:spLocks noGrp="1"/>
          </p:cNvSpPr>
          <p:nvPr>
            <p:ph idx="1"/>
          </p:nvPr>
        </p:nvSpPr>
        <p:spPr/>
        <p:txBody>
          <a:bodyPr/>
          <a:lstStyle/>
          <a:p>
            <a:r>
              <a:rPr lang="en-US" dirty="0"/>
              <a:t>The two lowest layers of the OSI model define how computers attach to specific network media </a:t>
            </a:r>
          </a:p>
          <a:p>
            <a:r>
              <a:rPr lang="en-US" dirty="0"/>
              <a:t>These layers also specify how more than one computer can access the network without causing interference with other computers on the network</a:t>
            </a:r>
          </a:p>
          <a:p>
            <a:r>
              <a:rPr lang="en-US" dirty="0"/>
              <a:t>The IEEE 802 specification expanded the OSI model by separating the Data Link layer into these sublayers:</a:t>
            </a:r>
          </a:p>
          <a:p>
            <a:pPr lvl="1"/>
            <a:r>
              <a:rPr lang="en-US" sz="2200" dirty="0"/>
              <a:t>Logical Link Control (LLC) for error recovery and flow control</a:t>
            </a:r>
          </a:p>
          <a:p>
            <a:pPr lvl="1"/>
            <a:r>
              <a:rPr lang="en-US" sz="2200" dirty="0"/>
              <a:t>Media Access Control (MAC) for controlling access to network media</a:t>
            </a:r>
          </a:p>
          <a:p>
            <a:endParaRPr lang="en-US" dirty="0"/>
          </a:p>
        </p:txBody>
      </p:sp>
    </p:spTree>
    <p:extLst>
      <p:ext uri="{BB962C8B-B14F-4D97-AF65-F5344CB8AC3E}">
        <p14:creationId xmlns:p14="http://schemas.microsoft.com/office/powerpoint/2010/main" val="3118151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E001A-CB3F-A478-A51B-21E5E47F3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A7270-3C67-4612-7B86-00C46824796C}"/>
              </a:ext>
            </a:extLst>
          </p:cNvPr>
          <p:cNvSpPr>
            <a:spLocks noGrp="1"/>
          </p:cNvSpPr>
          <p:nvPr>
            <p:ph type="title"/>
          </p:nvPr>
        </p:nvSpPr>
        <p:spPr/>
        <p:txBody>
          <a:bodyPr/>
          <a:lstStyle/>
          <a:p>
            <a:r>
              <a:rPr lang="en-US" dirty="0"/>
              <a:t>IEEE 802 Extensions to the OSI Reference Model (2 of 3)</a:t>
            </a:r>
          </a:p>
        </p:txBody>
      </p:sp>
      <p:sp>
        <p:nvSpPr>
          <p:cNvPr id="3" name="Content Placeholder 2">
            <a:extLst>
              <a:ext uri="{FF2B5EF4-FFF2-40B4-BE49-F238E27FC236}">
                <a16:creationId xmlns:a16="http://schemas.microsoft.com/office/drawing/2014/main" id="{F4C4B893-15DF-F5D8-6A4D-49EF38DA2CFE}"/>
              </a:ext>
            </a:extLst>
          </p:cNvPr>
          <p:cNvSpPr>
            <a:spLocks noGrp="1"/>
          </p:cNvSpPr>
          <p:nvPr>
            <p:ph idx="1"/>
          </p:nvPr>
        </p:nvSpPr>
        <p:spPr/>
        <p:txBody>
          <a:bodyPr/>
          <a:lstStyle/>
          <a:p>
            <a:r>
              <a:rPr lang="en-US" dirty="0"/>
              <a:t>The </a:t>
            </a:r>
            <a:r>
              <a:rPr lang="en-US" b="1" dirty="0"/>
              <a:t>Logical Link Control (LLC) sublayer </a:t>
            </a:r>
            <a:r>
              <a:rPr lang="en-US" dirty="0"/>
              <a:t>controls data-link communication and defines the use of logical interface points used to communicate to the upper OSI layers</a:t>
            </a:r>
          </a:p>
          <a:p>
            <a:pPr lvl="1"/>
            <a:r>
              <a:rPr lang="en-US" dirty="0"/>
              <a:t>It is the sublayer that communicates with the Network layer</a:t>
            </a:r>
          </a:p>
          <a:p>
            <a:r>
              <a:rPr lang="en-US" dirty="0"/>
              <a:t>The </a:t>
            </a:r>
            <a:r>
              <a:rPr lang="en-US" b="1" dirty="0"/>
              <a:t>Media Access Control (MAC) sublayer </a:t>
            </a:r>
            <a:r>
              <a:rPr lang="en-US" dirty="0"/>
              <a:t>manages access to the physical medium and communicates with the Physical layer</a:t>
            </a:r>
          </a:p>
          <a:p>
            <a:endParaRPr lang="en-US" dirty="0"/>
          </a:p>
        </p:txBody>
      </p:sp>
    </p:spTree>
    <p:extLst>
      <p:ext uri="{BB962C8B-B14F-4D97-AF65-F5344CB8AC3E}">
        <p14:creationId xmlns:p14="http://schemas.microsoft.com/office/powerpoint/2010/main" val="2628443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IEEE 802 Extensions to the OSI Reference Model (3 of 3)</a:t>
            </a:r>
          </a:p>
        </p:txBody>
      </p:sp>
      <p:sp>
        <p:nvSpPr>
          <p:cNvPr id="5" name="TextBox 4">
            <a:extLst>
              <a:ext uri="{FF2B5EF4-FFF2-40B4-BE49-F238E27FC236}">
                <a16:creationId xmlns:a16="http://schemas.microsoft.com/office/drawing/2014/main" id="{7CB0BE92-E73F-42E9-B249-3B271B6E8AA4}"/>
              </a:ext>
            </a:extLst>
          </p:cNvPr>
          <p:cNvSpPr txBox="1"/>
          <p:nvPr/>
        </p:nvSpPr>
        <p:spPr>
          <a:xfrm>
            <a:off x="7424160" y="2828835"/>
            <a:ext cx="4294598" cy="1569660"/>
          </a:xfrm>
          <a:prstGeom prst="rect">
            <a:avLst/>
          </a:prstGeom>
          <a:noFill/>
        </p:spPr>
        <p:txBody>
          <a:bodyPr wrap="square" rtlCol="0">
            <a:spAutoFit/>
          </a:bodyPr>
          <a:lstStyle/>
          <a:p>
            <a:r>
              <a:rPr lang="en-US" sz="2400" b="1" dirty="0">
                <a:latin typeface="Work Sans" pitchFamily="2" charset="0"/>
              </a:rPr>
              <a:t>Figure 7-9  </a:t>
            </a:r>
            <a:r>
              <a:rPr lang="en-US" sz="2400" dirty="0">
                <a:latin typeface="Work Sans" pitchFamily="2" charset="0"/>
              </a:rPr>
              <a:t>The IEEE 802 standard divides the OSI Data Link layer into two sublayers</a:t>
            </a:r>
          </a:p>
        </p:txBody>
      </p:sp>
      <p:pic>
        <p:nvPicPr>
          <p:cNvPr id="4" name="Picture 3" descr="The O S I layers are the physical, data link, network, transport, session, presentation, and application layers. The I triple E 802 standard divides the Data link layer in O S I into the following two sublayers. Logical link control. Media access control.&#10;">
            <a:extLst>
              <a:ext uri="{FF2B5EF4-FFF2-40B4-BE49-F238E27FC236}">
                <a16:creationId xmlns:a16="http://schemas.microsoft.com/office/drawing/2014/main" id="{6FD91FFF-370D-EEA7-3CBF-A29C6BAB6ED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55329" y="1998066"/>
            <a:ext cx="4294599" cy="3231197"/>
          </a:xfrm>
          <a:prstGeom prst="rect">
            <a:avLst/>
          </a:prstGeom>
        </p:spPr>
      </p:pic>
    </p:spTree>
    <p:extLst>
      <p:ext uri="{BB962C8B-B14F-4D97-AF65-F5344CB8AC3E}">
        <p14:creationId xmlns:p14="http://schemas.microsoft.com/office/powerpoint/2010/main" val="1267325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7-2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Which of the following is a function of the LLC sublayer?</a:t>
            </a:r>
          </a:p>
          <a:p>
            <a:pPr marL="0" indent="0">
              <a:buNone/>
            </a:pPr>
            <a:r>
              <a:rPr lang="en-US" dirty="0"/>
              <a:t>a. Manages access to the physical medium</a:t>
            </a:r>
          </a:p>
          <a:p>
            <a:pPr marL="0" indent="0">
              <a:buNone/>
            </a:pPr>
            <a:r>
              <a:rPr lang="en-US" dirty="0"/>
              <a:t>b. Deals with physical addresses</a:t>
            </a:r>
          </a:p>
          <a:p>
            <a:pPr marL="0" indent="0">
              <a:buNone/>
            </a:pPr>
            <a:r>
              <a:rPr lang="en-US" dirty="0"/>
              <a:t>c. Communicates with the Network layer</a:t>
            </a:r>
          </a:p>
          <a:p>
            <a:pPr marL="0" indent="0">
              <a:buNone/>
            </a:pPr>
            <a:r>
              <a:rPr lang="en-US" dirty="0"/>
              <a:t>d. Communicates with the NIC</a:t>
            </a:r>
          </a:p>
        </p:txBody>
      </p:sp>
    </p:spTree>
    <p:extLst>
      <p:ext uri="{BB962C8B-B14F-4D97-AF65-F5344CB8AC3E}">
        <p14:creationId xmlns:p14="http://schemas.microsoft.com/office/powerpoint/2010/main" val="1225153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7-2: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Which of the following is a function of the LLC sublayer?</a:t>
            </a:r>
          </a:p>
          <a:p>
            <a:pPr marL="0" indent="0">
              <a:buNone/>
            </a:pPr>
            <a:r>
              <a:rPr lang="en-US" b="1" dirty="0"/>
              <a:t>Answer: c</a:t>
            </a:r>
            <a:r>
              <a:rPr lang="en-US" dirty="0"/>
              <a:t>. Communicates with the Network layer</a:t>
            </a:r>
          </a:p>
          <a:p>
            <a:pPr marL="0" indent="0">
              <a:buNone/>
            </a:pPr>
            <a:r>
              <a:rPr lang="en-US" b="1" dirty="0"/>
              <a:t>Explanation:</a:t>
            </a:r>
            <a:r>
              <a:rPr lang="en-US" dirty="0"/>
              <a:t> The Logical Link Control (LLC) sublayer (defined by 802.2) controls data-link communication and defines the use of logical interface points, called “service access points (SAPs),” that other computers can use to transfer information from this sublayer to the upper OSI layers. It’s also responsible for error recovery in some situations and is the sublayer that communicates with the Network layer.</a:t>
            </a:r>
          </a:p>
        </p:txBody>
      </p:sp>
    </p:spTree>
    <p:extLst>
      <p:ext uri="{BB962C8B-B14F-4D97-AF65-F5344CB8AC3E}">
        <p14:creationId xmlns:p14="http://schemas.microsoft.com/office/powerpoint/2010/main" val="19977629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p:txBody>
          <a:bodyPr/>
          <a:lstStyle/>
          <a:p>
            <a:pPr marL="0" indent="0">
              <a:buNone/>
            </a:pPr>
            <a:r>
              <a:rPr lang="en-US" dirty="0"/>
              <a:t>Using Figure 7-2, compare the TCI/IP model versus the OSI model.</a:t>
            </a:r>
          </a:p>
          <a:p>
            <a:pPr marL="0" indent="0">
              <a:buNone/>
            </a:pPr>
            <a:endParaRPr lang="en-US" dirty="0"/>
          </a:p>
          <a:p>
            <a:pPr marL="0" indent="0">
              <a:buNone/>
            </a:pPr>
            <a:r>
              <a:rPr lang="en-US" dirty="0"/>
              <a:t>Which layers of the OSI model does the LLC sublayer and MAC sublayer communicate with? Why do you think it is necessary for the Data Link layer to be divided into sublayers?</a:t>
            </a:r>
          </a:p>
        </p:txBody>
      </p:sp>
    </p:spTree>
    <p:extLst>
      <p:ext uri="{BB962C8B-B14F-4D97-AF65-F5344CB8AC3E}">
        <p14:creationId xmlns:p14="http://schemas.microsoft.com/office/powerpoint/2010/main" val="6237428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a:xfrm>
            <a:off x="473242" y="1690692"/>
            <a:ext cx="11241915" cy="4351338"/>
          </a:xfrm>
        </p:spPr>
        <p:txBody>
          <a:bodyPr/>
          <a:lstStyle/>
          <a:p>
            <a:pPr marL="0" indent="0">
              <a:buNone/>
            </a:pPr>
            <a:r>
              <a:rPr lang="en-US" dirty="0"/>
              <a:t>Now that the lesson has ended, you should be able to:</a:t>
            </a:r>
          </a:p>
          <a:p>
            <a:pPr marL="457200" indent="-457200">
              <a:buFont typeface="+mj-lt"/>
              <a:buAutoNum type="arabicPeriod"/>
            </a:pPr>
            <a:r>
              <a:rPr lang="en-US" altLang="zh-CN" dirty="0"/>
              <a:t>Describe the OSI Model and IEEE 802 Networking Standards</a:t>
            </a:r>
          </a:p>
          <a:p>
            <a:pPr marL="457200" indent="-457200">
              <a:buFont typeface="+mj-lt"/>
              <a:buAutoNum type="arabicPeriod"/>
            </a:pPr>
            <a:r>
              <a:rPr lang="en-US" altLang="zh-CN" dirty="0"/>
              <a:t>Summarize the IEEE 802 Networking Standards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3.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14826</TotalTime>
  <Words>2559</Words>
  <Application>Microsoft Office PowerPoint</Application>
  <PresentationFormat>Widescreen</PresentationFormat>
  <Paragraphs>207</Paragraphs>
  <Slides>41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Courier New</vt:lpstr>
      <vt:lpstr>Wingdings</vt:lpstr>
      <vt:lpstr>Work Sans</vt:lpstr>
      <vt:lpstr>Work Sans </vt:lpstr>
      <vt:lpstr>Optimized Template Master</vt:lpstr>
      <vt:lpstr>Guide to Networking Essentials, 9e</vt:lpstr>
      <vt:lpstr>Chapter Objectives</vt:lpstr>
      <vt:lpstr>Introducing the OSI Model and the IEEE 802 Networking Standard</vt:lpstr>
      <vt:lpstr>Role of a Reference Model (1 of 3)</vt:lpstr>
      <vt:lpstr>Role of a Reference Model (2 of 3)</vt:lpstr>
      <vt:lpstr>Role of a Reference Model (3 of 3)</vt:lpstr>
      <vt:lpstr>Structure of the OSI Model (1 of 6)</vt:lpstr>
      <vt:lpstr>Structure of the OSI Model (2 of 6)</vt:lpstr>
      <vt:lpstr>Structure of the OSI Model (3 of 6)</vt:lpstr>
      <vt:lpstr>Structure of the OSI Model (4 of 6)</vt:lpstr>
      <vt:lpstr>Structure of the OSI Model (5 of 6)</vt:lpstr>
      <vt:lpstr>Structure of the OSI Model (6 of 6)</vt:lpstr>
      <vt:lpstr>Application Layer</vt:lpstr>
      <vt:lpstr>Presentation Layer</vt:lpstr>
      <vt:lpstr>Session Layer</vt:lpstr>
      <vt:lpstr>Transport Layer (1 of 4)</vt:lpstr>
      <vt:lpstr>Transport Layer (2 of 4)</vt:lpstr>
      <vt:lpstr>Transport Layer (3 of 4)</vt:lpstr>
      <vt:lpstr>Transport Layer (4 of 4)</vt:lpstr>
      <vt:lpstr>Network Layer (1 of 3)</vt:lpstr>
      <vt:lpstr>Network Layer (2 of 3)</vt:lpstr>
      <vt:lpstr>Network Layer (3 of 3)</vt:lpstr>
      <vt:lpstr>Data Link Layer (1 of 4)</vt:lpstr>
      <vt:lpstr>Data Link Layer (2 of 4)</vt:lpstr>
      <vt:lpstr>Data Link Layer (3 of 4)</vt:lpstr>
      <vt:lpstr>Data Link Layer (4 of 4)</vt:lpstr>
      <vt:lpstr>Physical Layer (1 of 2)</vt:lpstr>
      <vt:lpstr>Physical Layer (2 of 2)</vt:lpstr>
      <vt:lpstr>Knowledge Check Activity 7-1</vt:lpstr>
      <vt:lpstr>Knowledge Check Activity 7-1: Answer</vt:lpstr>
      <vt:lpstr>IEEE 802 Networking Standards (1 of 2)</vt:lpstr>
      <vt:lpstr>IEEE 802 Networking Standards (2 of 2)</vt:lpstr>
      <vt:lpstr>IEEE 802 Specifications (1 of 2)</vt:lpstr>
      <vt:lpstr>IEEE 802 Specifications (2 of 2)</vt:lpstr>
      <vt:lpstr>IEEE 802 Extensions to the OSI Reference Model (1 of 3)</vt:lpstr>
      <vt:lpstr>IEEE 802 Extensions to the OSI Reference Model (2 of 3)</vt:lpstr>
      <vt:lpstr>IEEE 802 Extensions to the OSI Reference Model (3 of 3)</vt:lpstr>
      <vt:lpstr>Knowledge Check Activity 7-2</vt:lpstr>
      <vt:lpstr>Knowledge Check Activity 7-2: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Anthony Pacheco</cp:lastModifiedBy>
  <cp:revision>419</cp:revision>
  <cp:lastPrinted>2016-10-03T15:29:39Z</cp:lastPrinted>
  <dcterms:created xsi:type="dcterms:W3CDTF">2021-12-10T16:21:02Z</dcterms:created>
  <dcterms:modified xsi:type="dcterms:W3CDTF">2026-03-03T16:30:09Z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