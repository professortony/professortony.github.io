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62"/>
  </p:notesMasterIdLst>
  <p:handoutMasterIdLst>
    <p:handoutMasterId r:id="rId63"/>
  </p:handoutMasterIdLst>
  <p:sldIdLst>
    <p:sldId id="257" r:id="rId5"/>
    <p:sldId id="259" r:id="rId6"/>
    <p:sldId id="397" r:id="rId7"/>
    <p:sldId id="398" r:id="rId8"/>
    <p:sldId id="268" r:id="rId9"/>
    <p:sldId id="399" r:id="rId10"/>
    <p:sldId id="400" r:id="rId11"/>
    <p:sldId id="401" r:id="rId12"/>
    <p:sldId id="402" r:id="rId13"/>
    <p:sldId id="403" r:id="rId14"/>
    <p:sldId id="404" r:id="rId15"/>
    <p:sldId id="405" r:id="rId16"/>
    <p:sldId id="406" r:id="rId17"/>
    <p:sldId id="407" r:id="rId18"/>
    <p:sldId id="408" r:id="rId19"/>
    <p:sldId id="409" r:id="rId20"/>
    <p:sldId id="410" r:id="rId21"/>
    <p:sldId id="411" r:id="rId22"/>
    <p:sldId id="412" r:id="rId23"/>
    <p:sldId id="413" r:id="rId24"/>
    <p:sldId id="283" r:id="rId25"/>
    <p:sldId id="414" r:id="rId26"/>
    <p:sldId id="415" r:id="rId27"/>
    <p:sldId id="396" r:id="rId28"/>
    <p:sldId id="416" r:id="rId29"/>
    <p:sldId id="417" r:id="rId30"/>
    <p:sldId id="344" r:id="rId31"/>
    <p:sldId id="418" r:id="rId32"/>
    <p:sldId id="375" r:id="rId33"/>
    <p:sldId id="262" r:id="rId34"/>
    <p:sldId id="263" r:id="rId35"/>
    <p:sldId id="419" r:id="rId36"/>
    <p:sldId id="420" r:id="rId37"/>
    <p:sldId id="421" r:id="rId38"/>
    <p:sldId id="422" r:id="rId39"/>
    <p:sldId id="423" r:id="rId40"/>
    <p:sldId id="424" r:id="rId41"/>
    <p:sldId id="425" r:id="rId42"/>
    <p:sldId id="426" r:id="rId43"/>
    <p:sldId id="295" r:id="rId44"/>
    <p:sldId id="427" r:id="rId45"/>
    <p:sldId id="428" r:id="rId46"/>
    <p:sldId id="429" r:id="rId47"/>
    <p:sldId id="430" r:id="rId48"/>
    <p:sldId id="431" r:id="rId49"/>
    <p:sldId id="432" r:id="rId50"/>
    <p:sldId id="433" r:id="rId51"/>
    <p:sldId id="434" r:id="rId52"/>
    <p:sldId id="336" r:id="rId53"/>
    <p:sldId id="435" r:id="rId54"/>
    <p:sldId id="436" r:id="rId55"/>
    <p:sldId id="437" r:id="rId56"/>
    <p:sldId id="438" r:id="rId57"/>
    <p:sldId id="313" r:id="rId58"/>
    <p:sldId id="314" r:id="rId59"/>
    <p:sldId id="269" r:id="rId60"/>
    <p:sldId id="270" r:id="rId61"/>
  </p:sldIdLst>
  <p:sldSz cx="12192000" cy="6858000"/>
  <p:notesSz cx="6858000" cy="9144000"/>
  <p:custDataLst>
    <p:tags r:id="rId64"/>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F7C"/>
    <a:srgbClr val="F2F2F2"/>
    <a:srgbClr val="0098D4"/>
    <a:srgbClr val="003865"/>
    <a:srgbClr val="000000"/>
    <a:srgbClr val="004A78"/>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1" autoAdjust="0"/>
    <p:restoredTop sz="91041" autoAdjust="0"/>
  </p:normalViewPr>
  <p:slideViewPr>
    <p:cSldViewPr snapToGrid="0" snapToObjects="1">
      <p:cViewPr varScale="1">
        <p:scale>
          <a:sx n="83" d="100"/>
          <a:sy n="83" d="100"/>
        </p:scale>
        <p:origin x="340" y="40"/>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2" d="100"/>
          <a:sy n="52" d="100"/>
        </p:scale>
        <p:origin x="2082" y="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handoutMaster" Target="handoutMasters/handoutMaster1.xml"/><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Pacheco" userId="fdf46b62-f4f9-461f-bfbc-c3446c220a65" providerId="ADAL" clId="{426D985F-A8FC-4194-BE28-E35E12A20E9D}"/>
    <pc:docChg chg="custSel modSld modMainMaster">
      <pc:chgData name="Anthony Pacheco" userId="fdf46b62-f4f9-461f-bfbc-c3446c220a65" providerId="ADAL" clId="{426D985F-A8FC-4194-BE28-E35E12A20E9D}" dt="2026-02-18T21:27:00.445" v="14" actId="20577"/>
      <pc:docMkLst>
        <pc:docMk/>
      </pc:docMkLst>
      <pc:sldChg chg="modSp">
        <pc:chgData name="Anthony Pacheco" userId="fdf46b62-f4f9-461f-bfbc-c3446c220a65" providerId="ADAL" clId="{426D985F-A8FC-4194-BE28-E35E12A20E9D}" dt="2026-02-18T21:27:00.445" v="14" actId="20577"/>
        <pc:sldMkLst>
          <pc:docMk/>
          <pc:sldMk cId="2293288057" sldId="257"/>
        </pc:sldMkLst>
        <pc:spChg chg="mod">
          <ac:chgData name="Anthony Pacheco" userId="fdf46b62-f4f9-461f-bfbc-c3446c220a65" providerId="ADAL" clId="{426D985F-A8FC-4194-BE28-E35E12A20E9D}" dt="2026-02-18T21:27:00.445" v="14" actId="20577"/>
          <ac:spMkLst>
            <pc:docMk/>
            <pc:sldMk cId="2293288057" sldId="257"/>
            <ac:spMk id="6" creationId="{8CA6B67B-9490-477D-A112-06C22B6F8640}"/>
          </ac:spMkLst>
        </pc:spChg>
      </pc:sldChg>
      <pc:sldChg chg="modSp">
        <pc:chgData name="Anthony Pacheco" userId="fdf46b62-f4f9-461f-bfbc-c3446c220a65" providerId="ADAL" clId="{426D985F-A8FC-4194-BE28-E35E12A20E9D}" dt="2026-02-18T21:24:37.598" v="5" actId="113"/>
        <pc:sldMkLst>
          <pc:docMk/>
          <pc:sldMk cId="3724899739" sldId="259"/>
        </pc:sldMkLst>
        <pc:spChg chg="mod">
          <ac:chgData name="Anthony Pacheco" userId="fdf46b62-f4f9-461f-bfbc-c3446c220a65" providerId="ADAL" clId="{426D985F-A8FC-4194-BE28-E35E12A20E9D}" dt="2026-02-18T21:24:37.598" v="5" actId="113"/>
          <ac:spMkLst>
            <pc:docMk/>
            <pc:sldMk cId="3724899739" sldId="259"/>
            <ac:spMk id="3" creationId="{5654B1CF-B9D3-4962-AD19-D9C1AB18881D}"/>
          </ac:spMkLst>
        </pc:spChg>
      </pc:sldChg>
      <pc:sldMasterChg chg="delSp modSp modSldLayout">
        <pc:chgData name="Anthony Pacheco" userId="fdf46b62-f4f9-461f-bfbc-c3446c220a65" providerId="ADAL" clId="{426D985F-A8FC-4194-BE28-E35E12A20E9D}" dt="2026-02-18T21:26:32.291" v="13" actId="478"/>
        <pc:sldMasterMkLst>
          <pc:docMk/>
          <pc:sldMasterMk cId="682046013" sldId="2147483725"/>
        </pc:sldMasterMkLst>
        <pc:spChg chg="mod">
          <ac:chgData name="Anthony Pacheco" userId="fdf46b62-f4f9-461f-bfbc-c3446c220a65" providerId="ADAL" clId="{426D985F-A8FC-4194-BE28-E35E12A20E9D}" dt="2026-02-18T21:26:21.829" v="12" actId="207"/>
          <ac:spMkLst>
            <pc:docMk/>
            <pc:sldMasterMk cId="682046013" sldId="2147483725"/>
            <ac:spMk id="7" creationId="{DF3CEB08-7511-4ACD-A0D7-6D08EF1B42A9}"/>
          </ac:spMkLst>
        </pc:spChg>
        <pc:spChg chg="mod">
          <ac:chgData name="Anthony Pacheco" userId="fdf46b62-f4f9-461f-bfbc-c3446c220a65" providerId="ADAL" clId="{426D985F-A8FC-4194-BE28-E35E12A20E9D}" dt="2026-02-18T21:25:02.490" v="7" actId="20577"/>
          <ac:spMkLst>
            <pc:docMk/>
            <pc:sldMasterMk cId="682046013" sldId="2147483725"/>
            <ac:spMk id="8" creationId="{0E6636BF-D3CC-4DFC-A057-41CF18719446}"/>
          </ac:spMkLst>
        </pc:spChg>
        <pc:spChg chg="del">
          <ac:chgData name="Anthony Pacheco" userId="fdf46b62-f4f9-461f-bfbc-c3446c220a65" providerId="ADAL" clId="{426D985F-A8FC-4194-BE28-E35E12A20E9D}" dt="2026-02-18T21:26:32.291" v="13" actId="478"/>
          <ac:spMkLst>
            <pc:docMk/>
            <pc:sldMasterMk cId="682046013" sldId="2147483725"/>
            <ac:spMk id="13" creationId="{A34EF16C-F8E9-4C74-8268-011BE18366AF}"/>
          </ac:spMkLst>
        </pc:spChg>
        <pc:picChg chg="del">
          <ac:chgData name="Anthony Pacheco" userId="fdf46b62-f4f9-461f-bfbc-c3446c220a65" providerId="ADAL" clId="{426D985F-A8FC-4194-BE28-E35E12A20E9D}" dt="2026-02-18T21:24:58.116" v="6" actId="478"/>
          <ac:picMkLst>
            <pc:docMk/>
            <pc:sldMasterMk cId="682046013" sldId="2147483725"/>
            <ac:picMk id="14" creationId="{E7C5765A-7DA4-4F63-BBF6-FDB000C6FC14}"/>
          </ac:picMkLst>
        </pc:picChg>
        <pc:sldLayoutChg chg="delSp modSp">
          <pc:chgData name="Anthony Pacheco" userId="fdf46b62-f4f9-461f-bfbc-c3446c220a65" providerId="ADAL" clId="{426D985F-A8FC-4194-BE28-E35E12A20E9D}" dt="2026-02-18T21:25:14.671" v="10" actId="20577"/>
          <pc:sldLayoutMkLst>
            <pc:docMk/>
            <pc:sldMasterMk cId="682046013" sldId="2147483725"/>
            <pc:sldLayoutMk cId="803553635" sldId="2147483763"/>
          </pc:sldLayoutMkLst>
          <pc:spChg chg="mod">
            <ac:chgData name="Anthony Pacheco" userId="fdf46b62-f4f9-461f-bfbc-c3446c220a65" providerId="ADAL" clId="{426D985F-A8FC-4194-BE28-E35E12A20E9D}" dt="2026-02-18T21:25:14.671" v="10" actId="20577"/>
            <ac:spMkLst>
              <pc:docMk/>
              <pc:sldMasterMk cId="682046013" sldId="2147483725"/>
              <pc:sldLayoutMk cId="803553635" sldId="2147483763"/>
              <ac:spMk id="11" creationId="{09216FC3-84E9-4B73-9DA8-CF771043770B}"/>
            </ac:spMkLst>
          </pc:spChg>
          <pc:picChg chg="del">
            <ac:chgData name="Anthony Pacheco" userId="fdf46b62-f4f9-461f-bfbc-c3446c220a65" providerId="ADAL" clId="{426D985F-A8FC-4194-BE28-E35E12A20E9D}" dt="2026-02-18T21:25:11.538" v="9" actId="478"/>
            <ac:picMkLst>
              <pc:docMk/>
              <pc:sldMasterMk cId="682046013" sldId="2147483725"/>
              <pc:sldLayoutMk cId="803553635" sldId="2147483763"/>
              <ac:picMk id="17" creationId="{EAF0C6CA-9F2E-439D-8A9B-5B8BD35A9360}"/>
            </ac:picMkLst>
          </pc:picChg>
        </pc:sldLayoutChg>
        <pc:sldLayoutChg chg="delSp">
          <pc:chgData name="Anthony Pacheco" userId="fdf46b62-f4f9-461f-bfbc-c3446c220a65" providerId="ADAL" clId="{426D985F-A8FC-4194-BE28-E35E12A20E9D}" dt="2026-02-18T21:25:07.862" v="8" actId="478"/>
          <pc:sldLayoutMkLst>
            <pc:docMk/>
            <pc:sldMasterMk cId="682046013" sldId="2147483725"/>
            <pc:sldLayoutMk cId="2170826813" sldId="2147483765"/>
          </pc:sldLayoutMkLst>
          <pc:picChg chg="del">
            <ac:chgData name="Anthony Pacheco" userId="fdf46b62-f4f9-461f-bfbc-c3446c220a65" providerId="ADAL" clId="{426D985F-A8FC-4194-BE28-E35E12A20E9D}" dt="2026-02-18T21:25:07.862" v="8" actId="478"/>
            <ac:picMkLst>
              <pc:docMk/>
              <pc:sldMasterMk cId="682046013" sldId="2147483725"/>
              <pc:sldLayoutMk cId="2170826813" sldId="2147483765"/>
              <ac:picMk id="21" creationId="{FDE6C580-026E-426D-A0EE-BDE15B891A0A}"/>
            </ac:picMkLst>
          </pc:picChg>
        </pc:sldLayoutChg>
      </pc:sldMaster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14068"/>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217082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2103120" y="6314136"/>
            <a:ext cx="8961120" cy="261610"/>
          </a:xfrm>
          <a:prstGeom prst="rect">
            <a:avLst/>
          </a:prstGeom>
          <a:noFill/>
        </p:spPr>
        <p:txBody>
          <a:bodyPr wrap="square" rtlCol="0">
            <a:spAutoFit/>
          </a:bodyPr>
          <a:lstStyle/>
          <a:p>
            <a:r>
              <a:rPr lang="en-US" sz="1100" dirty="0">
                <a:solidFill>
                  <a:schemeClr val="bg1"/>
                </a:solidFill>
                <a:latin typeface="+mn-lt"/>
              </a:rPr>
              <a:t>.</a:t>
            </a: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2103120" y="6314136"/>
            <a:ext cx="8961120" cy="261610"/>
          </a:xfrm>
          <a:prstGeom prst="rect">
            <a:avLst/>
          </a:prstGeom>
          <a:noFill/>
        </p:spPr>
        <p:txBody>
          <a:bodyPr wrap="square" rtlCol="0">
            <a:spAutoFit/>
          </a:bodyPr>
          <a:lstStyle/>
          <a:p>
            <a:r>
              <a:rPr lang="en-US" sz="1100" dirty="0">
                <a:solidFill>
                  <a:schemeClr val="bg1"/>
                </a:solidFill>
                <a:latin typeface="+mn-lt"/>
              </a:rPr>
              <a:t>.</a:t>
            </a:r>
          </a:p>
        </p:txBody>
      </p:sp>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800" smtClean="0">
                <a:solidFill>
                  <a:schemeClr val="tx1">
                    <a:lumMod val="50000"/>
                  </a:schemeClr>
                </a:solidFill>
                <a:latin typeface="+mn-lt"/>
              </a:rPr>
              <a:pPr/>
              <a:t>‹#›</a:t>
            </a:fld>
            <a:endParaRPr lang="en-US" sz="1800" dirty="0">
              <a:solidFill>
                <a:schemeClr val="tx1">
                  <a:lumMod val="50000"/>
                </a:schemeClr>
              </a:solidFill>
              <a:latin typeface="+mn-lt"/>
            </a:endParaRPr>
          </a:p>
        </p:txBody>
      </p:sp>
    </p:spTree>
    <p:custDataLst>
      <p:tags r:id="rId14"/>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28" r:id="rId4"/>
    <p:sldLayoutId id="2147483736" r:id="rId5"/>
    <p:sldLayoutId id="2147483729" r:id="rId6"/>
    <p:sldLayoutId id="2147483760" r:id="rId7"/>
    <p:sldLayoutId id="2147483730" r:id="rId8"/>
    <p:sldLayoutId id="2147483732" r:id="rId9"/>
    <p:sldLayoutId id="2147483761" r:id="rId10"/>
    <p:sldLayoutId id="2147483737" r:id="rId11"/>
    <p:sldLayoutId id="2147483762" r:id="rId12"/>
  </p:sldLayoutIdLst>
  <p:hf hdr="0" ft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966DE8-7575-4696-B84F-B4DD0C822D6A}"/>
              </a:ext>
            </a:extLst>
          </p:cNvPr>
          <p:cNvSpPr>
            <a:spLocks noGrp="1"/>
          </p:cNvSpPr>
          <p:nvPr>
            <p:ph type="ctrTitle"/>
          </p:nvPr>
        </p:nvSpPr>
        <p:spPr/>
        <p:txBody>
          <a:bodyPr/>
          <a:lstStyle/>
          <a:p>
            <a:r>
              <a:rPr lang="en-US" dirty="0"/>
              <a:t>Guide to Networking Essentials, 9e</a:t>
            </a:r>
          </a:p>
        </p:txBody>
      </p:sp>
      <p:sp>
        <p:nvSpPr>
          <p:cNvPr id="4" name="Subtitle 3">
            <a:extLst>
              <a:ext uri="{FF2B5EF4-FFF2-40B4-BE49-F238E27FC236}">
                <a16:creationId xmlns:a16="http://schemas.microsoft.com/office/drawing/2014/main" id="{81DDBEBE-99BA-45B9-B4E5-D18D90F7A983}"/>
              </a:ext>
            </a:extLst>
          </p:cNvPr>
          <p:cNvSpPr>
            <a:spLocks noGrp="1"/>
          </p:cNvSpPr>
          <p:nvPr>
            <p:ph type="subTitle" idx="1"/>
          </p:nvPr>
        </p:nvSpPr>
        <p:spPr/>
        <p:txBody>
          <a:bodyPr/>
          <a:lstStyle/>
          <a:p>
            <a:r>
              <a:rPr lang="en-US" dirty="0"/>
              <a:t>Chapter 5: Network Protocols</a:t>
            </a:r>
          </a:p>
        </p:txBody>
      </p:sp>
      <p:sp>
        <p:nvSpPr>
          <p:cNvPr id="6" name="Copyright">
            <a:extLst>
              <a:ext uri="{FF2B5EF4-FFF2-40B4-BE49-F238E27FC236}">
                <a16:creationId xmlns:a16="http://schemas.microsoft.com/office/drawing/2014/main" id="{8CA6B67B-9490-477D-A112-06C22B6F8640}"/>
              </a:ext>
              <a:ext uri="{C183D7F6-B498-43B3-948B-1728B52AA6E4}">
                <adec:decorative xmlns:adec="http://schemas.microsoft.com/office/drawing/2017/decorative" val="1"/>
              </a:ext>
            </a:extLst>
          </p:cNvPr>
          <p:cNvSpPr txBox="1"/>
          <p:nvPr/>
        </p:nvSpPr>
        <p:spPr>
          <a:xfrm>
            <a:off x="2103120" y="6314136"/>
            <a:ext cx="8961120" cy="261610"/>
          </a:xfrm>
          <a:prstGeom prst="rect">
            <a:avLst/>
          </a:prstGeom>
          <a:noFill/>
        </p:spPr>
        <p:txBody>
          <a:bodyPr wrap="square" rtlCol="0">
            <a:spAutoFit/>
          </a:bodyPr>
          <a:lstStyle/>
          <a:p>
            <a:r>
              <a:rPr lang="en-US" sz="1100" dirty="0">
                <a:solidFill>
                  <a:schemeClr val="bg1"/>
                </a:solidFill>
                <a:latin typeface="+mn-lt"/>
              </a:rPr>
              <a:t>.</a:t>
            </a:r>
          </a:p>
        </p:txBody>
      </p:sp>
      <p:sp>
        <p:nvSpPr>
          <p:cNvPr id="16"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3739356" y="808037"/>
            <a:ext cx="4713288" cy="5241925"/>
          </a:xfrm>
          <a:prstGeom prst="rect">
            <a:avLst/>
          </a:prstGeom>
        </p:spPr>
        <p:txBody>
          <a:bodyPr vert="horz" lIns="91440" tIns="45720" rIns="91440" bIns="45720" rtlCol="0">
            <a:noAutofit/>
          </a:bodyPr>
          <a:lstStyle/>
          <a:p>
            <a:endParaRPr lang="en-US" dirty="0"/>
          </a:p>
        </p:txBody>
      </p:sp>
      <p:sp>
        <p:nvSpPr>
          <p:cNvPr id="17"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441278" y="551591"/>
            <a:ext cx="4713288" cy="5241925"/>
          </a:xfrm>
          <a:prstGeom prst="rect">
            <a:avLst/>
          </a:prstGeom>
        </p:spPr>
        <p:txBody>
          <a:bodyPr vert="horz" lIns="91440" tIns="45720" rIns="91440" bIns="45720" rtlCol="0">
            <a:noAutofit/>
          </a:bodyPr>
          <a:lstStyle/>
          <a:p>
            <a:endParaRPr lang="en-US" dirty="0"/>
          </a:p>
        </p:txBody>
      </p:sp>
      <p:sp>
        <p:nvSpPr>
          <p:cNvPr id="19"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562929" y="815765"/>
            <a:ext cx="4713288" cy="5241925"/>
          </a:xfrm>
          <a:prstGeom prst="rect">
            <a:avLst/>
          </a:prstGeom>
        </p:spPr>
        <p:txBody>
          <a:bodyPr vert="horz" lIns="91440" tIns="45720" rIns="91440" bIns="45720" rtlCol="0">
            <a:noAutofit/>
          </a:bodyPr>
          <a:lstStyle/>
          <a:p>
            <a:endParaRPr lang="en-US" dirty="0"/>
          </a:p>
        </p:txBody>
      </p:sp>
      <p:pic>
        <p:nvPicPr>
          <p:cNvPr id="5" name="Picture 4" descr="A cover of Guide to Networking Essentials, 9e">
            <a:extLst>
              <a:ext uri="{FF2B5EF4-FFF2-40B4-BE49-F238E27FC236}">
                <a16:creationId xmlns:a16="http://schemas.microsoft.com/office/drawing/2014/main" id="{4732D780-B8E2-847F-4940-008E45DC829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27516" y="722351"/>
            <a:ext cx="4227049" cy="5413296"/>
          </a:xfrm>
          <a:prstGeom prst="rect">
            <a:avLst/>
          </a:prstGeom>
        </p:spPr>
      </p:pic>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ADF6-643B-423B-BFFA-CEBACE66A152}"/>
              </a:ext>
            </a:extLst>
          </p:cNvPr>
          <p:cNvSpPr>
            <a:spLocks noGrp="1"/>
          </p:cNvSpPr>
          <p:nvPr>
            <p:ph type="title"/>
          </p:nvPr>
        </p:nvSpPr>
        <p:spPr/>
        <p:txBody>
          <a:bodyPr/>
          <a:lstStyle/>
          <a:p>
            <a:r>
              <a:rPr lang="en-US" dirty="0"/>
              <a:t>Chapter Objectives</a:t>
            </a:r>
          </a:p>
        </p:txBody>
      </p:sp>
      <p:sp>
        <p:nvSpPr>
          <p:cNvPr id="3" name="Content Placeholder 2">
            <a:extLst>
              <a:ext uri="{FF2B5EF4-FFF2-40B4-BE49-F238E27FC236}">
                <a16:creationId xmlns:a16="http://schemas.microsoft.com/office/drawing/2014/main" id="{5654B1CF-B9D3-4962-AD19-D9C1AB18881D}"/>
              </a:ext>
            </a:extLst>
          </p:cNvPr>
          <p:cNvSpPr>
            <a:spLocks noGrp="1"/>
          </p:cNvSpPr>
          <p:nvPr>
            <p:ph idx="1"/>
          </p:nvPr>
        </p:nvSpPr>
        <p:spPr>
          <a:xfrm>
            <a:off x="476843" y="1375442"/>
            <a:ext cx="11241915" cy="4801521"/>
          </a:xfrm>
        </p:spPr>
        <p:txBody>
          <a:bodyPr/>
          <a:lstStyle/>
          <a:p>
            <a:pPr marL="0" indent="0">
              <a:buNone/>
            </a:pPr>
            <a:r>
              <a:rPr lang="en-US" dirty="0"/>
              <a:t>By the end of this chapter, you should be able to:</a:t>
            </a:r>
          </a:p>
          <a:p>
            <a:pPr marL="457200" indent="-457200">
              <a:buFont typeface="+mj-lt"/>
              <a:buAutoNum type="arabicPeriod"/>
            </a:pPr>
            <a:r>
              <a:rPr lang="en-US" altLang="zh-CN" dirty="0"/>
              <a:t>Describe the </a:t>
            </a:r>
            <a:r>
              <a:rPr lang="en-US" altLang="zh-CN" b="1" dirty="0"/>
              <a:t>purpose of a network protocol </a:t>
            </a:r>
            <a:r>
              <a:rPr lang="en-US" altLang="zh-CN" dirty="0"/>
              <a:t>and the layers in the TCP/IP architecture</a:t>
            </a:r>
          </a:p>
          <a:p>
            <a:pPr marL="457200" indent="-457200">
              <a:buFont typeface="+mj-lt"/>
              <a:buAutoNum type="arabicPeriod"/>
            </a:pPr>
            <a:r>
              <a:rPr lang="en-US" altLang="zh-CN" dirty="0"/>
              <a:t>Describe TCP/IP </a:t>
            </a:r>
            <a:r>
              <a:rPr lang="en-US" altLang="zh-CN" b="1" dirty="0"/>
              <a:t>Application</a:t>
            </a:r>
            <a:r>
              <a:rPr lang="en-US" altLang="zh-CN" dirty="0"/>
              <a:t> layer protocols</a:t>
            </a:r>
          </a:p>
          <a:p>
            <a:pPr marL="457200" indent="-457200">
              <a:buFont typeface="+mj-lt"/>
              <a:buAutoNum type="arabicPeriod"/>
            </a:pPr>
            <a:r>
              <a:rPr lang="en-US" altLang="zh-CN" dirty="0"/>
              <a:t>Describe TCP/IP </a:t>
            </a:r>
            <a:r>
              <a:rPr lang="en-US" altLang="zh-CN" b="1" dirty="0"/>
              <a:t>Transport</a:t>
            </a:r>
            <a:r>
              <a:rPr lang="en-US" altLang="zh-CN" dirty="0"/>
              <a:t> layer protocols</a:t>
            </a:r>
          </a:p>
          <a:p>
            <a:pPr marL="457200" indent="-457200">
              <a:buFont typeface="+mj-lt"/>
              <a:buAutoNum type="arabicPeriod"/>
            </a:pPr>
            <a:r>
              <a:rPr lang="en-US" altLang="zh-CN" dirty="0"/>
              <a:t>Describe TCP/IP </a:t>
            </a:r>
            <a:r>
              <a:rPr lang="en-US" altLang="zh-CN" b="1" dirty="0"/>
              <a:t>Internetwork</a:t>
            </a:r>
            <a:r>
              <a:rPr lang="en-US" altLang="zh-CN" dirty="0"/>
              <a:t> layer protocols</a:t>
            </a:r>
          </a:p>
          <a:p>
            <a:pPr marL="457200" indent="-457200">
              <a:buFont typeface="+mj-lt"/>
              <a:buAutoNum type="arabicPeriod"/>
            </a:pPr>
            <a:r>
              <a:rPr lang="en-US" altLang="zh-CN" dirty="0"/>
              <a:t>Describe TCP/IP </a:t>
            </a:r>
            <a:r>
              <a:rPr lang="en-US" altLang="zh-CN" b="1" dirty="0"/>
              <a:t>Network access layer</a:t>
            </a:r>
            <a:r>
              <a:rPr lang="en-US" altLang="zh-CN" dirty="0"/>
              <a:t> protocols</a:t>
            </a:r>
          </a:p>
        </p:txBody>
      </p:sp>
    </p:spTree>
    <p:extLst>
      <p:ext uri="{BB962C8B-B14F-4D97-AF65-F5344CB8AC3E}">
        <p14:creationId xmlns:p14="http://schemas.microsoft.com/office/powerpoint/2010/main" val="372489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77888-4B7C-BA1E-0EBE-74EDC0878804}"/>
              </a:ext>
            </a:extLst>
          </p:cNvPr>
          <p:cNvSpPr>
            <a:spLocks noGrp="1"/>
          </p:cNvSpPr>
          <p:nvPr>
            <p:ph type="title"/>
          </p:nvPr>
        </p:nvSpPr>
        <p:spPr/>
        <p:txBody>
          <a:bodyPr/>
          <a:lstStyle/>
          <a:p>
            <a:r>
              <a:rPr lang="en-US" dirty="0"/>
              <a:t>TCP/IP’s Layered Architecture (1 of 5)</a:t>
            </a:r>
          </a:p>
        </p:txBody>
      </p:sp>
      <p:sp>
        <p:nvSpPr>
          <p:cNvPr id="3" name="Content Placeholder 2">
            <a:extLst>
              <a:ext uri="{FF2B5EF4-FFF2-40B4-BE49-F238E27FC236}">
                <a16:creationId xmlns:a16="http://schemas.microsoft.com/office/drawing/2014/main" id="{C2CE3EA0-42D5-33A9-1EEA-B88C80CFACD1}"/>
              </a:ext>
            </a:extLst>
          </p:cNvPr>
          <p:cNvSpPr>
            <a:spLocks noGrp="1"/>
          </p:cNvSpPr>
          <p:nvPr>
            <p:ph idx="1"/>
          </p:nvPr>
        </p:nvSpPr>
        <p:spPr/>
        <p:txBody>
          <a:bodyPr/>
          <a:lstStyle/>
          <a:p>
            <a:r>
              <a:rPr lang="en-US" b="1" dirty="0"/>
              <a:t>Protocols</a:t>
            </a:r>
            <a:r>
              <a:rPr lang="en-US" dirty="0"/>
              <a:t> are rules and procedures for communication and behavior</a:t>
            </a:r>
          </a:p>
          <a:p>
            <a:pPr lvl="1"/>
            <a:r>
              <a:rPr lang="en-US" sz="2200" dirty="0"/>
              <a:t>Computers must “speak” the same language and agree on the rules of communication</a:t>
            </a:r>
          </a:p>
          <a:p>
            <a:r>
              <a:rPr lang="en-US" dirty="0"/>
              <a:t>When a set of protocols works cooperatively it is called a </a:t>
            </a:r>
            <a:r>
              <a:rPr lang="en-US" b="1" dirty="0"/>
              <a:t>protocol suite</a:t>
            </a:r>
            <a:r>
              <a:rPr lang="en-US" dirty="0"/>
              <a:t> (or “protocol stack”)</a:t>
            </a:r>
          </a:p>
          <a:p>
            <a:pPr lvl="1"/>
            <a:r>
              <a:rPr lang="en-US" sz="2200" dirty="0"/>
              <a:t>The most common protocol stack is </a:t>
            </a:r>
            <a:r>
              <a:rPr lang="en-US" sz="2200" b="1" dirty="0"/>
              <a:t>Transmission Control Protocol/Internet Protocol (TCP/IP)</a:t>
            </a:r>
          </a:p>
          <a:p>
            <a:r>
              <a:rPr lang="en-US" dirty="0"/>
              <a:t>TCP/IP is composed of more than a dozen protocols operating at different levels of the communication process</a:t>
            </a:r>
          </a:p>
          <a:p>
            <a:endParaRPr lang="en-US" dirty="0"/>
          </a:p>
        </p:txBody>
      </p:sp>
    </p:spTree>
    <p:extLst>
      <p:ext uri="{BB962C8B-B14F-4D97-AF65-F5344CB8AC3E}">
        <p14:creationId xmlns:p14="http://schemas.microsoft.com/office/powerpoint/2010/main" val="1323393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60176-B3A3-EC86-72F8-C6CE248CB5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514DAB-8A1C-A880-EBC6-C15E7B0A4EC2}"/>
              </a:ext>
            </a:extLst>
          </p:cNvPr>
          <p:cNvSpPr>
            <a:spLocks noGrp="1"/>
          </p:cNvSpPr>
          <p:nvPr>
            <p:ph type="title"/>
          </p:nvPr>
        </p:nvSpPr>
        <p:spPr/>
        <p:txBody>
          <a:bodyPr/>
          <a:lstStyle/>
          <a:p>
            <a:r>
              <a:rPr lang="en-US" dirty="0"/>
              <a:t>TCP/IP’s Layered Architecture (2 of 5)</a:t>
            </a:r>
          </a:p>
        </p:txBody>
      </p:sp>
      <p:sp>
        <p:nvSpPr>
          <p:cNvPr id="3" name="Content Placeholder 2">
            <a:extLst>
              <a:ext uri="{FF2B5EF4-FFF2-40B4-BE49-F238E27FC236}">
                <a16:creationId xmlns:a16="http://schemas.microsoft.com/office/drawing/2014/main" id="{E59D634D-6E75-F440-5284-358E9C36F754}"/>
              </a:ext>
            </a:extLst>
          </p:cNvPr>
          <p:cNvSpPr>
            <a:spLocks noGrp="1"/>
          </p:cNvSpPr>
          <p:nvPr>
            <p:ph idx="1"/>
          </p:nvPr>
        </p:nvSpPr>
        <p:spPr>
          <a:xfrm>
            <a:off x="476843" y="1718339"/>
            <a:ext cx="11241915" cy="4351338"/>
          </a:xfrm>
        </p:spPr>
        <p:txBody>
          <a:bodyPr/>
          <a:lstStyle/>
          <a:p>
            <a:r>
              <a:rPr lang="en-US" dirty="0"/>
              <a:t>Example of how the layers work together:</a:t>
            </a:r>
          </a:p>
          <a:p>
            <a:pPr lvl="1"/>
            <a:r>
              <a:rPr lang="en-US" sz="2100" dirty="0"/>
              <a:t>Your web browser’s home page is http://www.cengage.com</a:t>
            </a:r>
          </a:p>
          <a:p>
            <a:pPr lvl="1"/>
            <a:r>
              <a:rPr lang="en-US" sz="2100" dirty="0"/>
              <a:t>The web browser formats a request by using the Application layer protocol HTTP</a:t>
            </a:r>
          </a:p>
          <a:p>
            <a:pPr lvl="1"/>
            <a:r>
              <a:rPr lang="en-US" sz="2100" dirty="0"/>
              <a:t>The request looks something like Figure 5-2 (see the following slides)</a:t>
            </a:r>
          </a:p>
          <a:p>
            <a:pPr lvl="1"/>
            <a:r>
              <a:rPr lang="en-US" sz="2100" dirty="0"/>
              <a:t>The unit of information used at the Application layer is called “data”</a:t>
            </a:r>
          </a:p>
          <a:p>
            <a:pPr lvl="1"/>
            <a:r>
              <a:rPr lang="en-US" altLang="zh-CN" sz="2100" dirty="0"/>
              <a:t>The Application layer protocol HTTP passes the request down to the Transport layer protocol (TCP)</a:t>
            </a:r>
          </a:p>
          <a:p>
            <a:pPr lvl="1"/>
            <a:r>
              <a:rPr lang="en-US" altLang="zh-CN" sz="2100" dirty="0"/>
              <a:t>TCP adds a header to the request that looks like Figure 5-3 (see the following </a:t>
            </a:r>
            <a:r>
              <a:rPr lang="en-US" altLang="zh-CN" sz="2100" dirty="0">
                <a:cs typeface="Arial" panose="020B0604020202020204" pitchFamily="34" charset="0"/>
              </a:rPr>
              <a:t>slides)</a:t>
            </a:r>
          </a:p>
          <a:p>
            <a:endParaRPr lang="en-US" dirty="0"/>
          </a:p>
        </p:txBody>
      </p:sp>
    </p:spTree>
    <p:extLst>
      <p:ext uri="{BB962C8B-B14F-4D97-AF65-F5344CB8AC3E}">
        <p14:creationId xmlns:p14="http://schemas.microsoft.com/office/powerpoint/2010/main" val="432952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TCP/IP’s Layered Architecture (3 of 5)</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1850887"/>
            <a:ext cx="4294598" cy="3416320"/>
          </a:xfrm>
          <a:prstGeom prst="rect">
            <a:avLst/>
          </a:prstGeom>
          <a:noFill/>
        </p:spPr>
        <p:txBody>
          <a:bodyPr wrap="square" rtlCol="0">
            <a:spAutoFit/>
          </a:bodyPr>
          <a:lstStyle/>
          <a:p>
            <a:r>
              <a:rPr lang="en-US" sz="2400" b="1" dirty="0">
                <a:latin typeface="Work Sans" pitchFamily="2" charset="0"/>
              </a:rPr>
              <a:t>Figure 5-2  </a:t>
            </a:r>
            <a:r>
              <a:rPr lang="en-US" sz="2400" dirty="0">
                <a:latin typeface="Work Sans" pitchFamily="2" charset="0"/>
              </a:rPr>
              <a:t>The Application layer creates data</a:t>
            </a:r>
          </a:p>
          <a:p>
            <a:endParaRPr lang="en-US" sz="2400" dirty="0">
              <a:latin typeface="Work Sans" pitchFamily="2" charset="0"/>
            </a:endParaRPr>
          </a:p>
          <a:p>
            <a:endParaRPr lang="en-US" sz="2400" dirty="0">
              <a:latin typeface="Work Sans" pitchFamily="2" charset="0"/>
            </a:endParaRPr>
          </a:p>
          <a:p>
            <a:endParaRPr lang="en-US" sz="2400" dirty="0">
              <a:latin typeface="Work Sans" pitchFamily="2" charset="0"/>
            </a:endParaRPr>
          </a:p>
          <a:p>
            <a:endParaRPr lang="en-US" sz="2400" dirty="0">
              <a:latin typeface="Work Sans" pitchFamily="2" charset="0"/>
            </a:endParaRPr>
          </a:p>
          <a:p>
            <a:r>
              <a:rPr lang="en-US" sz="2400" b="1" dirty="0">
                <a:latin typeface="Work Sans" pitchFamily="2" charset="0"/>
              </a:rPr>
              <a:t>Figure 5-3  </a:t>
            </a:r>
            <a:r>
              <a:rPr lang="en-US" sz="2400" dirty="0">
                <a:latin typeface="Work Sans" pitchFamily="2" charset="0"/>
              </a:rPr>
              <a:t>The Transport layer adds its header to make a segment</a:t>
            </a:r>
          </a:p>
        </p:txBody>
      </p:sp>
      <p:pic>
        <p:nvPicPr>
          <p:cNvPr id="4" name="Picture 3" descr="The request for a page on the cengage website by the application layer protocol, H T T P looks like the following. get the cengage dot com home page.&#10;">
            <a:extLst>
              <a:ext uri="{FF2B5EF4-FFF2-40B4-BE49-F238E27FC236}">
                <a16:creationId xmlns:a16="http://schemas.microsoft.com/office/drawing/2014/main" id="{0EB9C8A3-3B0C-FDCA-9AAC-D4D05D5A564C}"/>
              </a:ext>
            </a:extLst>
          </p:cNvPr>
          <p:cNvPicPr>
            <a:picLocks noChangeAspect="1"/>
          </p:cNvPicPr>
          <p:nvPr/>
        </p:nvPicPr>
        <p:blipFill>
          <a:blip r:embed="rId2"/>
          <a:stretch>
            <a:fillRect/>
          </a:stretch>
        </p:blipFill>
        <p:spPr>
          <a:xfrm>
            <a:off x="2198668" y="1690692"/>
            <a:ext cx="3624055" cy="1077067"/>
          </a:xfrm>
          <a:prstGeom prst="rect">
            <a:avLst/>
          </a:prstGeom>
        </p:spPr>
      </p:pic>
      <p:pic>
        <p:nvPicPr>
          <p:cNvPr id="7" name="Picture 6" descr="The request for the cengage website with the transport layer header added to it. T C P header is followed by the request for the cengage dot com home page.&#10;">
            <a:extLst>
              <a:ext uri="{FF2B5EF4-FFF2-40B4-BE49-F238E27FC236}">
                <a16:creationId xmlns:a16="http://schemas.microsoft.com/office/drawing/2014/main" id="{77258B53-F230-ED65-41AA-E0978ABC877A}"/>
              </a:ext>
            </a:extLst>
          </p:cNvPr>
          <p:cNvPicPr>
            <a:picLocks noChangeAspect="1"/>
          </p:cNvPicPr>
          <p:nvPr/>
        </p:nvPicPr>
        <p:blipFill>
          <a:blip r:embed="rId3"/>
          <a:stretch>
            <a:fillRect/>
          </a:stretch>
        </p:blipFill>
        <p:spPr>
          <a:xfrm>
            <a:off x="1282906" y="3985206"/>
            <a:ext cx="5455577" cy="958279"/>
          </a:xfrm>
          <a:prstGeom prst="rect">
            <a:avLst/>
          </a:prstGeom>
        </p:spPr>
      </p:pic>
    </p:spTree>
    <p:extLst>
      <p:ext uri="{BB962C8B-B14F-4D97-AF65-F5344CB8AC3E}">
        <p14:creationId xmlns:p14="http://schemas.microsoft.com/office/powerpoint/2010/main" val="1204174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E3B77-BBE1-BBA4-FD0A-395032896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5AFFD-676A-20ED-5577-DDF27C71AA98}"/>
              </a:ext>
            </a:extLst>
          </p:cNvPr>
          <p:cNvSpPr>
            <a:spLocks noGrp="1"/>
          </p:cNvSpPr>
          <p:nvPr>
            <p:ph type="title"/>
          </p:nvPr>
        </p:nvSpPr>
        <p:spPr/>
        <p:txBody>
          <a:bodyPr/>
          <a:lstStyle/>
          <a:p>
            <a:r>
              <a:rPr lang="en-US" dirty="0"/>
              <a:t>TCP/IP’s Layered Architecture (4 of 5)</a:t>
            </a:r>
          </a:p>
        </p:txBody>
      </p:sp>
      <p:sp>
        <p:nvSpPr>
          <p:cNvPr id="3" name="Content Placeholder 2">
            <a:extLst>
              <a:ext uri="{FF2B5EF4-FFF2-40B4-BE49-F238E27FC236}">
                <a16:creationId xmlns:a16="http://schemas.microsoft.com/office/drawing/2014/main" id="{647BEAC8-0CB8-AFD3-6760-BA51162ADFCB}"/>
              </a:ext>
            </a:extLst>
          </p:cNvPr>
          <p:cNvSpPr>
            <a:spLocks noGrp="1"/>
          </p:cNvSpPr>
          <p:nvPr>
            <p:ph idx="1"/>
          </p:nvPr>
        </p:nvSpPr>
        <p:spPr>
          <a:xfrm>
            <a:off x="476843" y="1718339"/>
            <a:ext cx="11241915" cy="4351338"/>
          </a:xfrm>
        </p:spPr>
        <p:txBody>
          <a:bodyPr/>
          <a:lstStyle/>
          <a:p>
            <a:r>
              <a:rPr lang="en-US" dirty="0"/>
              <a:t>Example of how the layers work together (continued):</a:t>
            </a:r>
          </a:p>
          <a:p>
            <a:pPr lvl="1"/>
            <a:r>
              <a:rPr lang="en-US" sz="2100" dirty="0"/>
              <a:t>The unit of information the Transport layer works with is called a </a:t>
            </a:r>
            <a:r>
              <a:rPr lang="en-US" sz="2100" b="1" dirty="0"/>
              <a:t>segment</a:t>
            </a:r>
          </a:p>
          <a:p>
            <a:pPr lvl="1"/>
            <a:r>
              <a:rPr lang="en-US" sz="2100" dirty="0"/>
              <a:t>TCP passes the segment to the Internetwork layer protocol (IP)</a:t>
            </a:r>
          </a:p>
          <a:p>
            <a:pPr lvl="1"/>
            <a:r>
              <a:rPr lang="en-US" sz="2100" dirty="0"/>
              <a:t>IP places its header on the segment (see Figure 5-4)</a:t>
            </a:r>
          </a:p>
          <a:p>
            <a:pPr lvl="1"/>
            <a:r>
              <a:rPr lang="en-US" sz="2100" dirty="0"/>
              <a:t>The unit of information is now called a packet</a:t>
            </a:r>
          </a:p>
          <a:p>
            <a:pPr lvl="1"/>
            <a:r>
              <a:rPr lang="en-US" sz="2100" dirty="0"/>
              <a:t>The packet is passed down to the NIC at the Network access layer</a:t>
            </a:r>
          </a:p>
          <a:p>
            <a:pPr lvl="1"/>
            <a:r>
              <a:rPr lang="en-US" sz="2100" dirty="0"/>
              <a:t>A frame header and trailer are added (see Figure 5-5)</a:t>
            </a:r>
          </a:p>
          <a:p>
            <a:pPr lvl="1"/>
            <a:r>
              <a:rPr lang="en-US" sz="2100" dirty="0"/>
              <a:t>The frame is delivered to the network medium as bits</a:t>
            </a:r>
          </a:p>
          <a:p>
            <a:pPr lvl="1"/>
            <a:r>
              <a:rPr lang="en-US" sz="2100" dirty="0"/>
              <a:t>The Web server processes it and returns a Web page</a:t>
            </a:r>
          </a:p>
          <a:p>
            <a:pPr lvl="1"/>
            <a:endParaRPr lang="en-US" sz="2200" dirty="0"/>
          </a:p>
          <a:p>
            <a:endParaRPr lang="en-US" dirty="0"/>
          </a:p>
        </p:txBody>
      </p:sp>
    </p:spTree>
    <p:extLst>
      <p:ext uri="{BB962C8B-B14F-4D97-AF65-F5344CB8AC3E}">
        <p14:creationId xmlns:p14="http://schemas.microsoft.com/office/powerpoint/2010/main" val="4167773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B66AE-F9A5-DA6D-BCE8-C37961F98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E92CB-72ED-3692-7911-192F4B467F4F}"/>
              </a:ext>
            </a:extLst>
          </p:cNvPr>
          <p:cNvSpPr>
            <a:spLocks noGrp="1"/>
          </p:cNvSpPr>
          <p:nvPr>
            <p:ph type="title"/>
          </p:nvPr>
        </p:nvSpPr>
        <p:spPr/>
        <p:txBody>
          <a:bodyPr/>
          <a:lstStyle/>
          <a:p>
            <a:r>
              <a:rPr lang="en-US" dirty="0"/>
              <a:t>TCP/IP’s Layered Architecture (5 of 5)</a:t>
            </a:r>
          </a:p>
        </p:txBody>
      </p:sp>
      <p:sp>
        <p:nvSpPr>
          <p:cNvPr id="5" name="TextBox 4">
            <a:extLst>
              <a:ext uri="{FF2B5EF4-FFF2-40B4-BE49-F238E27FC236}">
                <a16:creationId xmlns:a16="http://schemas.microsoft.com/office/drawing/2014/main" id="{3666E224-7621-87E0-9DA0-F1BA9840B27D}"/>
              </a:ext>
            </a:extLst>
          </p:cNvPr>
          <p:cNvSpPr txBox="1"/>
          <p:nvPr/>
        </p:nvSpPr>
        <p:spPr>
          <a:xfrm>
            <a:off x="7315200" y="1850887"/>
            <a:ext cx="4294598" cy="3046988"/>
          </a:xfrm>
          <a:prstGeom prst="rect">
            <a:avLst/>
          </a:prstGeom>
          <a:noFill/>
        </p:spPr>
        <p:txBody>
          <a:bodyPr wrap="square" rtlCol="0">
            <a:spAutoFit/>
          </a:bodyPr>
          <a:lstStyle/>
          <a:p>
            <a:r>
              <a:rPr lang="en-US" sz="2400" b="1" dirty="0">
                <a:latin typeface="Work Sans" pitchFamily="2" charset="0"/>
              </a:rPr>
              <a:t>Figure 5-4  </a:t>
            </a:r>
            <a:r>
              <a:rPr lang="en-US" sz="2400" dirty="0">
                <a:latin typeface="Work Sans" pitchFamily="2" charset="0"/>
              </a:rPr>
              <a:t>The Internetwork layer creates a packet</a:t>
            </a:r>
          </a:p>
          <a:p>
            <a:endParaRPr lang="en-US" sz="2400" dirty="0">
              <a:latin typeface="Work Sans" pitchFamily="2" charset="0"/>
            </a:endParaRPr>
          </a:p>
          <a:p>
            <a:endParaRPr lang="en-US" sz="2400" dirty="0">
              <a:latin typeface="Work Sans" pitchFamily="2" charset="0"/>
            </a:endParaRPr>
          </a:p>
          <a:p>
            <a:r>
              <a:rPr lang="en-US" sz="2400" b="1" dirty="0">
                <a:latin typeface="Work Sans" pitchFamily="2" charset="0"/>
              </a:rPr>
              <a:t>Figure 5-5  </a:t>
            </a:r>
            <a:r>
              <a:rPr lang="en-US" sz="2400" dirty="0">
                <a:latin typeface="Work Sans" pitchFamily="2" charset="0"/>
              </a:rPr>
              <a:t>The frame is created and ready for delivery on the medium</a:t>
            </a:r>
          </a:p>
        </p:txBody>
      </p:sp>
      <p:pic>
        <p:nvPicPr>
          <p:cNvPr id="4" name="Picture 3" descr="A packet created by the internetwork layer. The I P header is followed by the T C P header and the request to get the cengage dot com home page.&#10;">
            <a:extLst>
              <a:ext uri="{FF2B5EF4-FFF2-40B4-BE49-F238E27FC236}">
                <a16:creationId xmlns:a16="http://schemas.microsoft.com/office/drawing/2014/main" id="{CBB93DCA-01CB-D4B8-6B16-68C7B27863BF}"/>
              </a:ext>
            </a:extLst>
          </p:cNvPr>
          <p:cNvPicPr>
            <a:picLocks noChangeAspect="1"/>
          </p:cNvPicPr>
          <p:nvPr/>
        </p:nvPicPr>
        <p:blipFill>
          <a:blip r:embed="rId2"/>
          <a:stretch>
            <a:fillRect/>
          </a:stretch>
        </p:blipFill>
        <p:spPr>
          <a:xfrm>
            <a:off x="1623316" y="2025991"/>
            <a:ext cx="5161859" cy="603359"/>
          </a:xfrm>
          <a:prstGeom prst="rect">
            <a:avLst/>
          </a:prstGeom>
        </p:spPr>
      </p:pic>
      <p:pic>
        <p:nvPicPr>
          <p:cNvPr id="7" name="Picture 6" descr="The network access layer creates a frame that is ready for delivery on the medium. The frame is made of the frame header, followed by the I P header, T C P header, the request to get the cengage dot com home page, and the frame trailer.&#10;">
            <a:extLst>
              <a:ext uri="{FF2B5EF4-FFF2-40B4-BE49-F238E27FC236}">
                <a16:creationId xmlns:a16="http://schemas.microsoft.com/office/drawing/2014/main" id="{3BF958B9-C017-A788-A25C-82157A3D0405}"/>
              </a:ext>
            </a:extLst>
          </p:cNvPr>
          <p:cNvPicPr>
            <a:picLocks noChangeAspect="1"/>
          </p:cNvPicPr>
          <p:nvPr/>
        </p:nvPicPr>
        <p:blipFill>
          <a:blip r:embed="rId3"/>
          <a:stretch>
            <a:fillRect/>
          </a:stretch>
        </p:blipFill>
        <p:spPr>
          <a:xfrm>
            <a:off x="1006867" y="3790042"/>
            <a:ext cx="6127630" cy="593741"/>
          </a:xfrm>
          <a:prstGeom prst="rect">
            <a:avLst/>
          </a:prstGeom>
        </p:spPr>
      </p:pic>
    </p:spTree>
    <p:extLst>
      <p:ext uri="{BB962C8B-B14F-4D97-AF65-F5344CB8AC3E}">
        <p14:creationId xmlns:p14="http://schemas.microsoft.com/office/powerpoint/2010/main" val="4083196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60D26-EB04-2FA8-B537-4978E704C876}"/>
              </a:ext>
            </a:extLst>
          </p:cNvPr>
          <p:cNvSpPr>
            <a:spLocks noGrp="1"/>
          </p:cNvSpPr>
          <p:nvPr>
            <p:ph type="title"/>
          </p:nvPr>
        </p:nvSpPr>
        <p:spPr/>
        <p:txBody>
          <a:bodyPr/>
          <a:lstStyle/>
          <a:p>
            <a:r>
              <a:rPr lang="en-US" dirty="0"/>
              <a:t>Application Layer Protocols</a:t>
            </a:r>
          </a:p>
        </p:txBody>
      </p:sp>
      <p:sp>
        <p:nvSpPr>
          <p:cNvPr id="3" name="Content Placeholder 2">
            <a:extLst>
              <a:ext uri="{FF2B5EF4-FFF2-40B4-BE49-F238E27FC236}">
                <a16:creationId xmlns:a16="http://schemas.microsoft.com/office/drawing/2014/main" id="{3EDB5750-0ED2-DE2C-FD02-C3463AD63AFF}"/>
              </a:ext>
            </a:extLst>
          </p:cNvPr>
          <p:cNvSpPr>
            <a:spLocks noGrp="1"/>
          </p:cNvSpPr>
          <p:nvPr>
            <p:ph idx="1"/>
          </p:nvPr>
        </p:nvSpPr>
        <p:spPr>
          <a:xfrm>
            <a:off x="476843" y="1708065"/>
            <a:ext cx="11241915" cy="4351338"/>
          </a:xfrm>
        </p:spPr>
        <p:txBody>
          <a:bodyPr/>
          <a:lstStyle/>
          <a:p>
            <a:r>
              <a:rPr lang="en-US" dirty="0"/>
              <a:t>The Application layer provides network services to user applications that access network resources</a:t>
            </a:r>
          </a:p>
          <a:p>
            <a:r>
              <a:rPr lang="en-US" dirty="0"/>
              <a:t>The Application layer provides these functions:</a:t>
            </a:r>
          </a:p>
          <a:p>
            <a:pPr lvl="1"/>
            <a:r>
              <a:rPr lang="en-US" sz="2200" dirty="0"/>
              <a:t>Access to network services by applications </a:t>
            </a:r>
          </a:p>
          <a:p>
            <a:pPr lvl="1"/>
            <a:r>
              <a:rPr lang="en-US" sz="2200" dirty="0"/>
              <a:t>Client/server data access</a:t>
            </a:r>
          </a:p>
          <a:p>
            <a:pPr lvl="1"/>
            <a:r>
              <a:rPr lang="en-US" sz="2200" dirty="0"/>
              <a:t>Name resolution </a:t>
            </a:r>
          </a:p>
          <a:p>
            <a:pPr lvl="1"/>
            <a:r>
              <a:rPr lang="en-US" sz="2200" dirty="0"/>
              <a:t>Dynamic address assignment </a:t>
            </a:r>
          </a:p>
          <a:p>
            <a:pPr lvl="1"/>
            <a:r>
              <a:rPr lang="en-US" sz="2200" dirty="0"/>
              <a:t>Authentication/user logon</a:t>
            </a:r>
          </a:p>
          <a:p>
            <a:pPr lvl="1"/>
            <a:r>
              <a:rPr lang="en-US" sz="2200" dirty="0"/>
              <a:t>Data formatting and translation, including encryption/decryption</a:t>
            </a:r>
          </a:p>
          <a:p>
            <a:endParaRPr lang="en-US" dirty="0"/>
          </a:p>
        </p:txBody>
      </p:sp>
    </p:spTree>
    <p:extLst>
      <p:ext uri="{BB962C8B-B14F-4D97-AF65-F5344CB8AC3E}">
        <p14:creationId xmlns:p14="http://schemas.microsoft.com/office/powerpoint/2010/main" val="2625309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4FF44-7179-9C47-8056-05D49FE78380}"/>
              </a:ext>
            </a:extLst>
          </p:cNvPr>
          <p:cNvSpPr>
            <a:spLocks noGrp="1"/>
          </p:cNvSpPr>
          <p:nvPr>
            <p:ph type="title"/>
          </p:nvPr>
        </p:nvSpPr>
        <p:spPr/>
        <p:txBody>
          <a:bodyPr/>
          <a:lstStyle/>
          <a:p>
            <a:r>
              <a:rPr lang="en-US" dirty="0"/>
              <a:t>HTTP: Protocol of the World Wide Web</a:t>
            </a:r>
          </a:p>
        </p:txBody>
      </p:sp>
      <p:sp>
        <p:nvSpPr>
          <p:cNvPr id="3" name="Content Placeholder 2">
            <a:extLst>
              <a:ext uri="{FF2B5EF4-FFF2-40B4-BE49-F238E27FC236}">
                <a16:creationId xmlns:a16="http://schemas.microsoft.com/office/drawing/2014/main" id="{28F7CDD7-21F9-769D-BCC1-9027516BC316}"/>
              </a:ext>
            </a:extLst>
          </p:cNvPr>
          <p:cNvSpPr>
            <a:spLocks noGrp="1"/>
          </p:cNvSpPr>
          <p:nvPr>
            <p:ph idx="1"/>
          </p:nvPr>
        </p:nvSpPr>
        <p:spPr/>
        <p:txBody>
          <a:bodyPr/>
          <a:lstStyle/>
          <a:p>
            <a:r>
              <a:rPr lang="en-US" dirty="0"/>
              <a:t>Originally, HTTP’s main purpose was to transfer static web pages written in HTML</a:t>
            </a:r>
          </a:p>
          <a:p>
            <a:pPr lvl="1"/>
            <a:r>
              <a:rPr lang="en-US" sz="2200" dirty="0"/>
              <a:t>Now, it is used for general file transfer, downloading/displaying multimedia files, and executing scripts for animated/interactive Web pages</a:t>
            </a:r>
          </a:p>
          <a:p>
            <a:r>
              <a:rPr lang="en-US" dirty="0"/>
              <a:t>HTTP uses TCP as its Transport layer protocol</a:t>
            </a:r>
          </a:p>
          <a:p>
            <a:r>
              <a:rPr lang="en-US" dirty="0"/>
              <a:t>The default TCP port number is 80</a:t>
            </a:r>
          </a:p>
          <a:p>
            <a:endParaRPr lang="en-US" dirty="0"/>
          </a:p>
        </p:txBody>
      </p:sp>
    </p:spTree>
    <p:extLst>
      <p:ext uri="{BB962C8B-B14F-4D97-AF65-F5344CB8AC3E}">
        <p14:creationId xmlns:p14="http://schemas.microsoft.com/office/powerpoint/2010/main" val="3435638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0D9D5-B236-1853-9D93-CAD134918210}"/>
              </a:ext>
            </a:extLst>
          </p:cNvPr>
          <p:cNvSpPr>
            <a:spLocks noGrp="1"/>
          </p:cNvSpPr>
          <p:nvPr>
            <p:ph type="title"/>
          </p:nvPr>
        </p:nvSpPr>
        <p:spPr/>
        <p:txBody>
          <a:bodyPr/>
          <a:lstStyle/>
          <a:p>
            <a:r>
              <a:rPr lang="en-US" dirty="0"/>
              <a:t>E-Mail Protocols: POP3, IMAP, and SMTP</a:t>
            </a:r>
          </a:p>
        </p:txBody>
      </p:sp>
      <p:sp>
        <p:nvSpPr>
          <p:cNvPr id="3" name="Content Placeholder 2">
            <a:extLst>
              <a:ext uri="{FF2B5EF4-FFF2-40B4-BE49-F238E27FC236}">
                <a16:creationId xmlns:a16="http://schemas.microsoft.com/office/drawing/2014/main" id="{3564BF91-45F3-E099-1D8B-2128F3BE5FF3}"/>
              </a:ext>
            </a:extLst>
          </p:cNvPr>
          <p:cNvSpPr>
            <a:spLocks noGrp="1"/>
          </p:cNvSpPr>
          <p:nvPr>
            <p:ph idx="1"/>
          </p:nvPr>
        </p:nvSpPr>
        <p:spPr/>
        <p:txBody>
          <a:bodyPr/>
          <a:lstStyle/>
          <a:p>
            <a:r>
              <a:rPr lang="en-US" b="1" dirty="0"/>
              <a:t>Post Office Protocol version 3 (POP3) </a:t>
            </a:r>
            <a:r>
              <a:rPr lang="en-US" dirty="0"/>
              <a:t>is used to download incoming messages from e-mail servers to local desktops</a:t>
            </a:r>
          </a:p>
          <a:p>
            <a:pPr lvl="1"/>
            <a:r>
              <a:rPr lang="en-US" sz="2200" dirty="0"/>
              <a:t>POP3 uses TCP port 110</a:t>
            </a:r>
          </a:p>
          <a:p>
            <a:r>
              <a:rPr lang="en-US" b="1" dirty="0"/>
              <a:t>Internet Message Access Protocol version 4 (IMAP4) </a:t>
            </a:r>
            <a:r>
              <a:rPr lang="en-US" dirty="0"/>
              <a:t>is used to manage email messages locally yet stores them on a server </a:t>
            </a:r>
          </a:p>
          <a:p>
            <a:pPr lvl="1"/>
            <a:r>
              <a:rPr lang="en-US" sz="2200" dirty="0"/>
              <a:t>IMAP4 uses TCP port 143</a:t>
            </a:r>
          </a:p>
          <a:p>
            <a:r>
              <a:rPr lang="en-US" b="1" dirty="0"/>
              <a:t>Simple Mail Transfer Protocol (SMTP) </a:t>
            </a:r>
            <a:r>
              <a:rPr lang="en-US" dirty="0"/>
              <a:t>is the standard protocol for sending email over the Internet </a:t>
            </a:r>
          </a:p>
          <a:p>
            <a:pPr lvl="1"/>
            <a:r>
              <a:rPr lang="en-US" sz="2200" dirty="0"/>
              <a:t>SMTP uses TCP port 25</a:t>
            </a:r>
          </a:p>
          <a:p>
            <a:endParaRPr lang="en-US" dirty="0"/>
          </a:p>
        </p:txBody>
      </p:sp>
    </p:spTree>
    <p:extLst>
      <p:ext uri="{BB962C8B-B14F-4D97-AF65-F5344CB8AC3E}">
        <p14:creationId xmlns:p14="http://schemas.microsoft.com/office/powerpoint/2010/main" val="2464152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8D7D7-D936-33C2-30B6-7E63ABD6493E}"/>
              </a:ext>
            </a:extLst>
          </p:cNvPr>
          <p:cNvSpPr>
            <a:spLocks noGrp="1"/>
          </p:cNvSpPr>
          <p:nvPr>
            <p:ph type="title"/>
          </p:nvPr>
        </p:nvSpPr>
        <p:spPr/>
        <p:txBody>
          <a:bodyPr/>
          <a:lstStyle/>
          <a:p>
            <a:r>
              <a:rPr lang="en-US" dirty="0"/>
              <a:t>FTP, SFTP, and TFTP</a:t>
            </a:r>
          </a:p>
        </p:txBody>
      </p:sp>
      <p:sp>
        <p:nvSpPr>
          <p:cNvPr id="3" name="Content Placeholder 2">
            <a:extLst>
              <a:ext uri="{FF2B5EF4-FFF2-40B4-BE49-F238E27FC236}">
                <a16:creationId xmlns:a16="http://schemas.microsoft.com/office/drawing/2014/main" id="{9B7A7EB2-8C35-FAAC-F4C9-B043A1BAF2F9}"/>
              </a:ext>
            </a:extLst>
          </p:cNvPr>
          <p:cNvSpPr>
            <a:spLocks noGrp="1"/>
          </p:cNvSpPr>
          <p:nvPr>
            <p:ph idx="1"/>
          </p:nvPr>
        </p:nvSpPr>
        <p:spPr/>
        <p:txBody>
          <a:bodyPr/>
          <a:lstStyle/>
          <a:p>
            <a:r>
              <a:rPr lang="en-US" b="1" dirty="0"/>
              <a:t>File Transfer Protocol (FTP) </a:t>
            </a:r>
            <a:r>
              <a:rPr lang="en-US" dirty="0"/>
              <a:t>is a client/server protocol used to transfer files and manage files across a network (not a secure protocol)</a:t>
            </a:r>
          </a:p>
          <a:p>
            <a:pPr lvl="1"/>
            <a:r>
              <a:rPr lang="en-US" sz="2200" dirty="0"/>
              <a:t>FTP uses TCP ports 20 and 21</a:t>
            </a:r>
          </a:p>
          <a:p>
            <a:r>
              <a:rPr lang="en-US" b="1" dirty="0"/>
              <a:t>SFTP</a:t>
            </a:r>
            <a:r>
              <a:rPr lang="en-US" dirty="0"/>
              <a:t> provides secure file transfer using SSH on TCP port 22</a:t>
            </a:r>
          </a:p>
          <a:p>
            <a:r>
              <a:rPr lang="en-US" b="1" dirty="0"/>
              <a:t>Trivial File Transfer Protocol (TFTP) </a:t>
            </a:r>
            <a:r>
              <a:rPr lang="en-US" dirty="0"/>
              <a:t>is a simple protocol for transferring files</a:t>
            </a:r>
          </a:p>
          <a:p>
            <a:pPr lvl="1"/>
            <a:r>
              <a:rPr lang="en-US" sz="2200" dirty="0"/>
              <a:t>TFTP has little file management capability</a:t>
            </a:r>
          </a:p>
          <a:p>
            <a:pPr lvl="1"/>
            <a:r>
              <a:rPr lang="en-US" sz="2200" dirty="0"/>
              <a:t>It uses UDP port 69</a:t>
            </a:r>
          </a:p>
          <a:p>
            <a:endParaRPr lang="en-US" dirty="0"/>
          </a:p>
        </p:txBody>
      </p:sp>
    </p:spTree>
    <p:extLst>
      <p:ext uri="{BB962C8B-B14F-4D97-AF65-F5344CB8AC3E}">
        <p14:creationId xmlns:p14="http://schemas.microsoft.com/office/powerpoint/2010/main" val="2204207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160B1-637B-0BE0-F08A-2028D9123C64}"/>
              </a:ext>
            </a:extLst>
          </p:cNvPr>
          <p:cNvSpPr>
            <a:spLocks noGrp="1"/>
          </p:cNvSpPr>
          <p:nvPr>
            <p:ph type="title"/>
          </p:nvPr>
        </p:nvSpPr>
        <p:spPr/>
        <p:txBody>
          <a:bodyPr/>
          <a:lstStyle/>
          <a:p>
            <a:r>
              <a:rPr lang="en-US" dirty="0"/>
              <a:t>Server Message Block</a:t>
            </a:r>
          </a:p>
        </p:txBody>
      </p:sp>
      <p:sp>
        <p:nvSpPr>
          <p:cNvPr id="3" name="Content Placeholder 2">
            <a:extLst>
              <a:ext uri="{FF2B5EF4-FFF2-40B4-BE49-F238E27FC236}">
                <a16:creationId xmlns:a16="http://schemas.microsoft.com/office/drawing/2014/main" id="{FA6EE39B-20AE-142D-80B7-4C1A6551EDD2}"/>
              </a:ext>
            </a:extLst>
          </p:cNvPr>
          <p:cNvSpPr>
            <a:spLocks noGrp="1"/>
          </p:cNvSpPr>
          <p:nvPr>
            <p:ph idx="1"/>
          </p:nvPr>
        </p:nvSpPr>
        <p:spPr/>
        <p:txBody>
          <a:bodyPr/>
          <a:lstStyle/>
          <a:p>
            <a:r>
              <a:rPr lang="en-US" b="1" dirty="0"/>
              <a:t>Server Message Block (SMB) </a:t>
            </a:r>
            <a:r>
              <a:rPr lang="en-US" dirty="0"/>
              <a:t>is the protocol Windows file and printer services use to share resources between Windows computers</a:t>
            </a:r>
          </a:p>
          <a:p>
            <a:r>
              <a:rPr lang="en-US" dirty="0"/>
              <a:t>SMB is used almost exclusively in a private network instead of across the Internet</a:t>
            </a:r>
          </a:p>
          <a:p>
            <a:r>
              <a:rPr lang="en-US" dirty="0"/>
              <a:t>Linux and Mac OS X also support SMB with their own variations</a:t>
            </a:r>
          </a:p>
          <a:p>
            <a:r>
              <a:rPr lang="en-US" dirty="0"/>
              <a:t>SMB uses TCP port 445</a:t>
            </a:r>
          </a:p>
          <a:p>
            <a:endParaRPr lang="en-US" dirty="0"/>
          </a:p>
        </p:txBody>
      </p:sp>
    </p:spTree>
    <p:extLst>
      <p:ext uri="{BB962C8B-B14F-4D97-AF65-F5344CB8AC3E}">
        <p14:creationId xmlns:p14="http://schemas.microsoft.com/office/powerpoint/2010/main" val="1709314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FF650-01A7-502B-E5AE-B355B01F5437}"/>
              </a:ext>
            </a:extLst>
          </p:cNvPr>
          <p:cNvSpPr>
            <a:spLocks noGrp="1"/>
          </p:cNvSpPr>
          <p:nvPr>
            <p:ph type="title"/>
          </p:nvPr>
        </p:nvSpPr>
        <p:spPr/>
        <p:txBody>
          <a:bodyPr/>
          <a:lstStyle/>
          <a:p>
            <a:r>
              <a:rPr lang="en-US" dirty="0"/>
              <a:t>Remote Desktop Protocol</a:t>
            </a:r>
          </a:p>
        </p:txBody>
      </p:sp>
      <p:sp>
        <p:nvSpPr>
          <p:cNvPr id="3" name="Content Placeholder 2">
            <a:extLst>
              <a:ext uri="{FF2B5EF4-FFF2-40B4-BE49-F238E27FC236}">
                <a16:creationId xmlns:a16="http://schemas.microsoft.com/office/drawing/2014/main" id="{1EA517DF-B443-04E7-FE82-D62CF6579BFE}"/>
              </a:ext>
            </a:extLst>
          </p:cNvPr>
          <p:cNvSpPr>
            <a:spLocks noGrp="1"/>
          </p:cNvSpPr>
          <p:nvPr>
            <p:ph idx="1"/>
          </p:nvPr>
        </p:nvSpPr>
        <p:spPr/>
        <p:txBody>
          <a:bodyPr/>
          <a:lstStyle/>
          <a:p>
            <a:r>
              <a:rPr lang="en-US" b="1" dirty="0"/>
              <a:t>Remote Desktop Protocol (RDP) </a:t>
            </a:r>
            <a:r>
              <a:rPr lang="en-US" dirty="0"/>
              <a:t>is used to access a Windows computer remotely by using the Windows graphical user interface (GUI)</a:t>
            </a:r>
          </a:p>
          <a:p>
            <a:r>
              <a:rPr lang="en-US" dirty="0"/>
              <a:t>RDP is used to run Windows applications remotely and network administrators use it to manage Windows workstations and servers remotely</a:t>
            </a:r>
          </a:p>
          <a:p>
            <a:r>
              <a:rPr lang="en-US" dirty="0"/>
              <a:t>RDP uses TCP port 3389</a:t>
            </a:r>
          </a:p>
          <a:p>
            <a:endParaRPr lang="en-US" dirty="0"/>
          </a:p>
        </p:txBody>
      </p:sp>
    </p:spTree>
    <p:extLst>
      <p:ext uri="{BB962C8B-B14F-4D97-AF65-F5344CB8AC3E}">
        <p14:creationId xmlns:p14="http://schemas.microsoft.com/office/powerpoint/2010/main" val="1170897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B584D-33F8-BA82-2C0D-D54D9F4C62E2}"/>
              </a:ext>
            </a:extLst>
          </p:cNvPr>
          <p:cNvSpPr>
            <a:spLocks noGrp="1"/>
          </p:cNvSpPr>
          <p:nvPr>
            <p:ph type="title"/>
          </p:nvPr>
        </p:nvSpPr>
        <p:spPr/>
        <p:txBody>
          <a:bodyPr/>
          <a:lstStyle/>
          <a:p>
            <a:r>
              <a:rPr lang="en-US" dirty="0"/>
              <a:t>Telnet and SSH</a:t>
            </a:r>
          </a:p>
        </p:txBody>
      </p:sp>
      <p:sp>
        <p:nvSpPr>
          <p:cNvPr id="3" name="Content Placeholder 2">
            <a:extLst>
              <a:ext uri="{FF2B5EF4-FFF2-40B4-BE49-F238E27FC236}">
                <a16:creationId xmlns:a16="http://schemas.microsoft.com/office/drawing/2014/main" id="{8353AC7C-B8AD-11D8-CFC5-F3A59AEDAC4E}"/>
              </a:ext>
            </a:extLst>
          </p:cNvPr>
          <p:cNvSpPr>
            <a:spLocks noGrp="1"/>
          </p:cNvSpPr>
          <p:nvPr>
            <p:ph idx="1"/>
          </p:nvPr>
        </p:nvSpPr>
        <p:spPr/>
        <p:txBody>
          <a:bodyPr/>
          <a:lstStyle/>
          <a:p>
            <a:r>
              <a:rPr lang="en-US" b="1" dirty="0"/>
              <a:t>Telnet </a:t>
            </a:r>
            <a:r>
              <a:rPr lang="en-US" dirty="0"/>
              <a:t>and </a:t>
            </a:r>
            <a:r>
              <a:rPr lang="en-US" b="1" dirty="0"/>
              <a:t>Secure Shell (SSH) </a:t>
            </a:r>
            <a:r>
              <a:rPr lang="en-US" dirty="0"/>
              <a:t>are used to connect to a device across a network via a command-line interface</a:t>
            </a:r>
          </a:p>
          <a:p>
            <a:r>
              <a:rPr lang="en-US" dirty="0"/>
              <a:t>Network administrators might use Telnet or SSH to connect to a managed switch or router </a:t>
            </a:r>
          </a:p>
          <a:p>
            <a:r>
              <a:rPr lang="en-US" dirty="0"/>
              <a:t>Telnet uses TCP port 23</a:t>
            </a:r>
          </a:p>
          <a:p>
            <a:pPr lvl="1"/>
            <a:r>
              <a:rPr lang="en-US" dirty="0"/>
              <a:t>It is not a secure protocol</a:t>
            </a:r>
          </a:p>
          <a:p>
            <a:r>
              <a:rPr lang="en-US" dirty="0"/>
              <a:t>SSH uses TCP port 22 and provides an encrypted channel between the client and server</a:t>
            </a:r>
          </a:p>
          <a:p>
            <a:endParaRPr lang="en-US" dirty="0"/>
          </a:p>
        </p:txBody>
      </p:sp>
    </p:spTree>
    <p:extLst>
      <p:ext uri="{BB962C8B-B14F-4D97-AF65-F5344CB8AC3E}">
        <p14:creationId xmlns:p14="http://schemas.microsoft.com/office/powerpoint/2010/main" val="1957684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FE659-40B5-905A-08CF-5598EFA3F43C}"/>
              </a:ext>
            </a:extLst>
          </p:cNvPr>
          <p:cNvSpPr>
            <a:spLocks noGrp="1"/>
          </p:cNvSpPr>
          <p:nvPr>
            <p:ph type="title"/>
          </p:nvPr>
        </p:nvSpPr>
        <p:spPr/>
        <p:txBody>
          <a:bodyPr/>
          <a:lstStyle/>
          <a:p>
            <a:r>
              <a:rPr lang="en-US" dirty="0"/>
              <a:t>Simple Network Management Protocol</a:t>
            </a:r>
          </a:p>
        </p:txBody>
      </p:sp>
      <p:sp>
        <p:nvSpPr>
          <p:cNvPr id="3" name="Content Placeholder 2">
            <a:extLst>
              <a:ext uri="{FF2B5EF4-FFF2-40B4-BE49-F238E27FC236}">
                <a16:creationId xmlns:a16="http://schemas.microsoft.com/office/drawing/2014/main" id="{6F2EB9A4-2DD7-91BC-DE61-FF5CF07FB64A}"/>
              </a:ext>
            </a:extLst>
          </p:cNvPr>
          <p:cNvSpPr>
            <a:spLocks noGrp="1"/>
          </p:cNvSpPr>
          <p:nvPr>
            <p:ph idx="1"/>
          </p:nvPr>
        </p:nvSpPr>
        <p:spPr/>
        <p:txBody>
          <a:bodyPr/>
          <a:lstStyle/>
          <a:p>
            <a:r>
              <a:rPr lang="en-US" b="1" dirty="0"/>
              <a:t>Simple Network Management Protocol (SNMP) </a:t>
            </a:r>
            <a:r>
              <a:rPr lang="en-US" dirty="0"/>
              <a:t>is used to monitor and manage network devices and gather statistics about network traffic</a:t>
            </a:r>
          </a:p>
          <a:p>
            <a:r>
              <a:rPr lang="en-US" dirty="0"/>
              <a:t>Software agents are installed on devices you want to monitor and manage</a:t>
            </a:r>
          </a:p>
          <a:p>
            <a:r>
              <a:rPr lang="en-US" dirty="0"/>
              <a:t>Agents collect data and transfer it to a network management station for storage and analysis</a:t>
            </a:r>
          </a:p>
          <a:p>
            <a:r>
              <a:rPr lang="en-US" dirty="0"/>
              <a:t>SNMP operates on UDP ports 161 and 162</a:t>
            </a:r>
          </a:p>
          <a:p>
            <a:endParaRPr lang="en-US" dirty="0"/>
          </a:p>
        </p:txBody>
      </p:sp>
    </p:spTree>
    <p:extLst>
      <p:ext uri="{BB962C8B-B14F-4D97-AF65-F5344CB8AC3E}">
        <p14:creationId xmlns:p14="http://schemas.microsoft.com/office/powerpoint/2010/main" val="1814418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14AC0-7626-1EEE-F403-00DF0419315C}"/>
              </a:ext>
            </a:extLst>
          </p:cNvPr>
          <p:cNvSpPr>
            <a:spLocks noGrp="1"/>
          </p:cNvSpPr>
          <p:nvPr>
            <p:ph type="title"/>
          </p:nvPr>
        </p:nvSpPr>
        <p:spPr/>
        <p:txBody>
          <a:bodyPr/>
          <a:lstStyle/>
          <a:p>
            <a:r>
              <a:rPr lang="en-US" dirty="0"/>
              <a:t>Network Time Protocol</a:t>
            </a:r>
          </a:p>
        </p:txBody>
      </p:sp>
      <p:sp>
        <p:nvSpPr>
          <p:cNvPr id="3" name="Content Placeholder 2">
            <a:extLst>
              <a:ext uri="{FF2B5EF4-FFF2-40B4-BE49-F238E27FC236}">
                <a16:creationId xmlns:a16="http://schemas.microsoft.com/office/drawing/2014/main" id="{4D1EDE63-98D5-011A-65E8-BC324AF5F13E}"/>
              </a:ext>
            </a:extLst>
          </p:cNvPr>
          <p:cNvSpPr>
            <a:spLocks noGrp="1"/>
          </p:cNvSpPr>
          <p:nvPr>
            <p:ph idx="1"/>
          </p:nvPr>
        </p:nvSpPr>
        <p:spPr/>
        <p:txBody>
          <a:bodyPr/>
          <a:lstStyle/>
          <a:p>
            <a:r>
              <a:rPr lang="en-US" b="1" dirty="0"/>
              <a:t>Network Time Protocol (NTP) </a:t>
            </a:r>
            <a:r>
              <a:rPr lang="en-US" dirty="0"/>
              <a:t>is used by computer systems and networking devices to synchronize their clocks with an external time source</a:t>
            </a:r>
          </a:p>
          <a:p>
            <a:r>
              <a:rPr lang="en-US" dirty="0"/>
              <a:t>Linux and Unix computers attempt to connect to public NTP servers using the address pool.ntp.org</a:t>
            </a:r>
          </a:p>
          <a:p>
            <a:r>
              <a:rPr lang="en-US" dirty="0"/>
              <a:t>Mac OSs use time.apple.com by default</a:t>
            </a:r>
          </a:p>
          <a:p>
            <a:r>
              <a:rPr lang="en-US" dirty="0"/>
              <a:t>Windows uses time.windows.com by default</a:t>
            </a:r>
          </a:p>
          <a:p>
            <a:r>
              <a:rPr lang="en-US" dirty="0"/>
              <a:t>NTP uses UDP port 123</a:t>
            </a:r>
          </a:p>
        </p:txBody>
      </p:sp>
    </p:spTree>
    <p:extLst>
      <p:ext uri="{BB962C8B-B14F-4D97-AF65-F5344CB8AC3E}">
        <p14:creationId xmlns:p14="http://schemas.microsoft.com/office/powerpoint/2010/main" val="4077574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D9F6F-E901-2616-0480-43457DF665A5}"/>
              </a:ext>
            </a:extLst>
          </p:cNvPr>
          <p:cNvSpPr>
            <a:spLocks noGrp="1"/>
          </p:cNvSpPr>
          <p:nvPr>
            <p:ph type="title"/>
          </p:nvPr>
        </p:nvSpPr>
        <p:spPr/>
        <p:txBody>
          <a:bodyPr/>
          <a:lstStyle/>
          <a:p>
            <a:r>
              <a:rPr lang="en-US" dirty="0"/>
              <a:t>Dynamic Host Configuration Protocol (1 of 5)</a:t>
            </a:r>
          </a:p>
        </p:txBody>
      </p:sp>
      <p:sp>
        <p:nvSpPr>
          <p:cNvPr id="3" name="Content Placeholder 2">
            <a:extLst>
              <a:ext uri="{FF2B5EF4-FFF2-40B4-BE49-F238E27FC236}">
                <a16:creationId xmlns:a16="http://schemas.microsoft.com/office/drawing/2014/main" id="{AA1CF404-42E3-980E-08D6-519A77004066}"/>
              </a:ext>
            </a:extLst>
          </p:cNvPr>
          <p:cNvSpPr>
            <a:spLocks noGrp="1"/>
          </p:cNvSpPr>
          <p:nvPr>
            <p:ph idx="1"/>
          </p:nvPr>
        </p:nvSpPr>
        <p:spPr/>
        <p:txBody>
          <a:bodyPr/>
          <a:lstStyle/>
          <a:p>
            <a:r>
              <a:rPr lang="en-US" b="1" dirty="0"/>
              <a:t>Dynamic Host Configuration Protocol (DHCP)</a:t>
            </a:r>
            <a:r>
              <a:rPr lang="en-US" dirty="0"/>
              <a:t> is used to automatically assign IP addresses as needed</a:t>
            </a:r>
          </a:p>
          <a:p>
            <a:r>
              <a:rPr lang="en-US" dirty="0"/>
              <a:t>When a computer is turned on, it requests an IP address from a server that is configured as a DHCP server</a:t>
            </a:r>
          </a:p>
          <a:p>
            <a:r>
              <a:rPr lang="en-US" dirty="0"/>
              <a:t>The request is sent in the form of a broadcast message</a:t>
            </a:r>
          </a:p>
          <a:p>
            <a:r>
              <a:rPr lang="en-US" dirty="0"/>
              <a:t>The server assigns an address for a specific amount of time (called a lease) </a:t>
            </a:r>
          </a:p>
          <a:p>
            <a:endParaRPr lang="en-US" dirty="0"/>
          </a:p>
        </p:txBody>
      </p:sp>
    </p:spTree>
    <p:extLst>
      <p:ext uri="{BB962C8B-B14F-4D97-AF65-F5344CB8AC3E}">
        <p14:creationId xmlns:p14="http://schemas.microsoft.com/office/powerpoint/2010/main" val="3200769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C7FF9-271D-0418-F291-3DB7570789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D813B-EDC3-A7D9-B305-D399D21FC2B2}"/>
              </a:ext>
            </a:extLst>
          </p:cNvPr>
          <p:cNvSpPr>
            <a:spLocks noGrp="1"/>
          </p:cNvSpPr>
          <p:nvPr>
            <p:ph type="title"/>
          </p:nvPr>
        </p:nvSpPr>
        <p:spPr/>
        <p:txBody>
          <a:bodyPr/>
          <a:lstStyle/>
          <a:p>
            <a:r>
              <a:rPr lang="en-US" dirty="0"/>
              <a:t>Dynamic Host Configuration Protocol (2 of 5)</a:t>
            </a:r>
          </a:p>
        </p:txBody>
      </p:sp>
      <p:sp>
        <p:nvSpPr>
          <p:cNvPr id="3" name="Content Placeholder 2">
            <a:extLst>
              <a:ext uri="{FF2B5EF4-FFF2-40B4-BE49-F238E27FC236}">
                <a16:creationId xmlns:a16="http://schemas.microsoft.com/office/drawing/2014/main" id="{A540B340-601D-B3A7-4B80-9CB071C3B1C2}"/>
              </a:ext>
            </a:extLst>
          </p:cNvPr>
          <p:cNvSpPr>
            <a:spLocks noGrp="1"/>
          </p:cNvSpPr>
          <p:nvPr>
            <p:ph idx="1"/>
          </p:nvPr>
        </p:nvSpPr>
        <p:spPr/>
        <p:txBody>
          <a:bodyPr/>
          <a:lstStyle/>
          <a:p>
            <a:r>
              <a:rPr lang="en-US" dirty="0"/>
              <a:t>A DHCP server is composed of the following:</a:t>
            </a:r>
          </a:p>
          <a:p>
            <a:pPr lvl="1"/>
            <a:r>
              <a:rPr lang="en-US" sz="2200" b="1" dirty="0"/>
              <a:t>IP address pool</a:t>
            </a:r>
            <a:r>
              <a:rPr lang="en-US" sz="2200" dirty="0"/>
              <a:t>—a range of IP addresses the server leases to clients</a:t>
            </a:r>
          </a:p>
          <a:p>
            <a:pPr lvl="2"/>
            <a:r>
              <a:rPr lang="en-US" sz="2200" dirty="0"/>
              <a:t>Pool options—IP settings such as default gateway, DNS servers, a domain name, and other options</a:t>
            </a:r>
          </a:p>
          <a:p>
            <a:pPr lvl="2"/>
            <a:r>
              <a:rPr lang="en-US" sz="2200" dirty="0"/>
              <a:t>Reservations—an IP address tied to a particular MAC address</a:t>
            </a:r>
          </a:p>
          <a:p>
            <a:pPr lvl="2"/>
            <a:r>
              <a:rPr lang="en-US" sz="2200" dirty="0"/>
              <a:t>Exclusions—one or more IP addresses excluded from the IP address pool</a:t>
            </a:r>
          </a:p>
          <a:p>
            <a:pPr lvl="1"/>
            <a:r>
              <a:rPr lang="en-US" sz="2200" dirty="0"/>
              <a:t>DHCP Server service—runs in the background and listens on UDP port 67 for IP address requests</a:t>
            </a:r>
          </a:p>
          <a:p>
            <a:endParaRPr lang="en-US" dirty="0"/>
          </a:p>
        </p:txBody>
      </p:sp>
    </p:spTree>
    <p:extLst>
      <p:ext uri="{BB962C8B-B14F-4D97-AF65-F5344CB8AC3E}">
        <p14:creationId xmlns:p14="http://schemas.microsoft.com/office/powerpoint/2010/main" val="162706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EC41F-67A3-3C8F-2244-6CA97284D7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8E764B-200A-6C5B-4659-C01825727A50}"/>
              </a:ext>
            </a:extLst>
          </p:cNvPr>
          <p:cNvSpPr>
            <a:spLocks noGrp="1"/>
          </p:cNvSpPr>
          <p:nvPr>
            <p:ph type="title"/>
          </p:nvPr>
        </p:nvSpPr>
        <p:spPr/>
        <p:txBody>
          <a:bodyPr/>
          <a:lstStyle/>
          <a:p>
            <a:r>
              <a:rPr lang="en-US" dirty="0"/>
              <a:t>Dynamic Host Configuration Protocol (3 of 5)</a:t>
            </a:r>
          </a:p>
        </p:txBody>
      </p:sp>
      <p:sp>
        <p:nvSpPr>
          <p:cNvPr id="3" name="Content Placeholder 2">
            <a:extLst>
              <a:ext uri="{FF2B5EF4-FFF2-40B4-BE49-F238E27FC236}">
                <a16:creationId xmlns:a16="http://schemas.microsoft.com/office/drawing/2014/main" id="{B95C584D-AD21-0955-05ED-1578DDD8895E}"/>
              </a:ext>
            </a:extLst>
          </p:cNvPr>
          <p:cNvSpPr>
            <a:spLocks noGrp="1"/>
          </p:cNvSpPr>
          <p:nvPr>
            <p:ph idx="1"/>
          </p:nvPr>
        </p:nvSpPr>
        <p:spPr/>
        <p:txBody>
          <a:bodyPr/>
          <a:lstStyle/>
          <a:p>
            <a:r>
              <a:rPr lang="en-US" dirty="0"/>
              <a:t>After an address is leased, a record of the lease is stored in a database, including a lease expiration time</a:t>
            </a:r>
          </a:p>
          <a:p>
            <a:pPr lvl="1"/>
            <a:r>
              <a:rPr lang="en-US" sz="2200" dirty="0"/>
              <a:t>When 50% of the lease time has elapsed, the computer attempts to renew the lease from the same DHCP server that originally responded</a:t>
            </a:r>
          </a:p>
          <a:p>
            <a:pPr lvl="1"/>
            <a:r>
              <a:rPr lang="en-US" sz="2200" dirty="0"/>
              <a:t>If there’s no response when the lease expires, the computer broadcasts a DCHP request for a new IP address</a:t>
            </a:r>
          </a:p>
          <a:p>
            <a:pPr lvl="1"/>
            <a:r>
              <a:rPr lang="en-US" sz="2200" dirty="0"/>
              <a:t>If no DHCP server responds, one of two things happens:</a:t>
            </a:r>
          </a:p>
          <a:p>
            <a:pPr lvl="2"/>
            <a:r>
              <a:rPr lang="en-US" sz="2100" dirty="0"/>
              <a:t>TCP/IP stops functioning</a:t>
            </a:r>
          </a:p>
          <a:p>
            <a:pPr lvl="2"/>
            <a:r>
              <a:rPr lang="en-US" sz="2100" dirty="0"/>
              <a:t>The computer assigns itself an address from a special range of addresses beginning with 169.254. (</a:t>
            </a:r>
            <a:r>
              <a:rPr lang="en-US" sz="2100" b="1" dirty="0"/>
              <a:t>Automatic Private IP Addressing </a:t>
            </a:r>
            <a:r>
              <a:rPr lang="en-US" sz="2100" dirty="0"/>
              <a:t>or</a:t>
            </a:r>
            <a:r>
              <a:rPr lang="en-US" sz="2100" b="1" dirty="0"/>
              <a:t> APIPA</a:t>
            </a:r>
            <a:r>
              <a:rPr lang="en-US" sz="2100" dirty="0"/>
              <a:t>)</a:t>
            </a:r>
          </a:p>
          <a:p>
            <a:endParaRPr lang="en-US" dirty="0"/>
          </a:p>
        </p:txBody>
      </p:sp>
    </p:spTree>
    <p:extLst>
      <p:ext uri="{BB962C8B-B14F-4D97-AF65-F5344CB8AC3E}">
        <p14:creationId xmlns:p14="http://schemas.microsoft.com/office/powerpoint/2010/main" val="2422608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A3008-86BA-7AE6-545D-82E2E6788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B3BB2-D8A4-55C0-5E86-C6348A81B440}"/>
              </a:ext>
            </a:extLst>
          </p:cNvPr>
          <p:cNvSpPr>
            <a:spLocks noGrp="1"/>
          </p:cNvSpPr>
          <p:nvPr>
            <p:ph type="title"/>
          </p:nvPr>
        </p:nvSpPr>
        <p:spPr/>
        <p:txBody>
          <a:bodyPr/>
          <a:lstStyle/>
          <a:p>
            <a:r>
              <a:rPr lang="en-US" dirty="0"/>
              <a:t>Dynamic Host Configuration Protocol (4 of 5)</a:t>
            </a:r>
          </a:p>
        </p:txBody>
      </p:sp>
      <p:sp>
        <p:nvSpPr>
          <p:cNvPr id="3" name="Content Placeholder 2">
            <a:extLst>
              <a:ext uri="{FF2B5EF4-FFF2-40B4-BE49-F238E27FC236}">
                <a16:creationId xmlns:a16="http://schemas.microsoft.com/office/drawing/2014/main" id="{BF1E1B63-DF6A-F70A-C17F-EB6F3F473121}"/>
              </a:ext>
            </a:extLst>
          </p:cNvPr>
          <p:cNvSpPr>
            <a:spLocks noGrp="1"/>
          </p:cNvSpPr>
          <p:nvPr>
            <p:ph idx="1"/>
          </p:nvPr>
        </p:nvSpPr>
        <p:spPr>
          <a:xfrm>
            <a:off x="476843" y="1718339"/>
            <a:ext cx="11241915" cy="4351338"/>
          </a:xfrm>
        </p:spPr>
        <p:txBody>
          <a:bodyPr/>
          <a:lstStyle/>
          <a:p>
            <a:r>
              <a:rPr lang="en-US" dirty="0"/>
              <a:t>Broadcast packets used by the DHCP process:</a:t>
            </a:r>
          </a:p>
          <a:p>
            <a:pPr lvl="1"/>
            <a:r>
              <a:rPr lang="en-US" sz="2200" dirty="0"/>
              <a:t>DHCPDiscover—the client announces to the network that it’s looking for a DHCP server</a:t>
            </a:r>
          </a:p>
          <a:p>
            <a:pPr lvl="1"/>
            <a:r>
              <a:rPr lang="en-US" sz="2200" dirty="0"/>
              <a:t>DHCPOffer—the server replies and offers the client an IP address for lease</a:t>
            </a:r>
          </a:p>
          <a:p>
            <a:pPr lvl="1"/>
            <a:r>
              <a:rPr lang="en-US" sz="2200" dirty="0"/>
              <a:t>DHCPRequest—the client wants the offered IP address</a:t>
            </a:r>
          </a:p>
          <a:p>
            <a:pPr lvl="1"/>
            <a:r>
              <a:rPr lang="en-US" sz="2200" dirty="0"/>
              <a:t>DHCPAck—the server acknowledges the transaction and the client can now use the IP address</a:t>
            </a:r>
          </a:p>
          <a:p>
            <a:r>
              <a:rPr lang="en-US" dirty="0"/>
              <a:t>Consider assigning static addresses (that don’t change) to certain devices, such as network printers and servers</a:t>
            </a:r>
          </a:p>
        </p:txBody>
      </p:sp>
    </p:spTree>
    <p:extLst>
      <p:ext uri="{BB962C8B-B14F-4D97-AF65-F5344CB8AC3E}">
        <p14:creationId xmlns:p14="http://schemas.microsoft.com/office/powerpoint/2010/main" val="1284280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Dynamic Host Configuration Protocol (5 of 5)</a:t>
            </a:r>
          </a:p>
        </p:txBody>
      </p:sp>
      <p:sp>
        <p:nvSpPr>
          <p:cNvPr id="5" name="TextBox 4">
            <a:extLst>
              <a:ext uri="{FF2B5EF4-FFF2-40B4-BE49-F238E27FC236}">
                <a16:creationId xmlns:a16="http://schemas.microsoft.com/office/drawing/2014/main" id="{7CB0BE92-E73F-42E9-B249-3B271B6E8AA4}"/>
              </a:ext>
            </a:extLst>
          </p:cNvPr>
          <p:cNvSpPr txBox="1"/>
          <p:nvPr/>
        </p:nvSpPr>
        <p:spPr>
          <a:xfrm>
            <a:off x="7424160" y="2828835"/>
            <a:ext cx="4294598" cy="1200329"/>
          </a:xfrm>
          <a:prstGeom prst="rect">
            <a:avLst/>
          </a:prstGeom>
          <a:noFill/>
        </p:spPr>
        <p:txBody>
          <a:bodyPr wrap="square" rtlCol="0">
            <a:spAutoFit/>
          </a:bodyPr>
          <a:lstStyle/>
          <a:p>
            <a:r>
              <a:rPr lang="en-US" sz="2400" b="1" dirty="0">
                <a:latin typeface="Work Sans" pitchFamily="2" charset="0"/>
              </a:rPr>
              <a:t>Figure 5-9  </a:t>
            </a:r>
            <a:r>
              <a:rPr lang="en-US" sz="2400" dirty="0">
                <a:latin typeface="Work Sans" pitchFamily="2" charset="0"/>
              </a:rPr>
              <a:t>A computer requesting a new IP address via DHCP</a:t>
            </a:r>
          </a:p>
        </p:txBody>
      </p:sp>
      <p:pic>
        <p:nvPicPr>
          <p:cNvPr id="4" name="Picture 3" descr="A D H C P client goes through the following steps when requesting for a new I P address via D H C P. 1) D H C P Discover. The client announces to the network that it is looking for a D H C P server to lease an I P address. 2). D H C P Offer. The D H C P server replies to the client with an I P address for lease. 3) D H C P Request. The client requests for the offered I P address. 4) D H C P Ack. The server provides and acknowledgement for the transaction and the client can use the I P address.&#10;">
            <a:extLst>
              <a:ext uri="{FF2B5EF4-FFF2-40B4-BE49-F238E27FC236}">
                <a16:creationId xmlns:a16="http://schemas.microsoft.com/office/drawing/2014/main" id="{CF24D759-9FD2-3BAB-2DE4-906A91C93F6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86152" y="1958256"/>
            <a:ext cx="4294599" cy="3231197"/>
          </a:xfrm>
          <a:prstGeom prst="rect">
            <a:avLst/>
          </a:prstGeom>
        </p:spPr>
      </p:pic>
    </p:spTree>
    <p:extLst>
      <p:ext uri="{BB962C8B-B14F-4D97-AF65-F5344CB8AC3E}">
        <p14:creationId xmlns:p14="http://schemas.microsoft.com/office/powerpoint/2010/main" val="1267325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3B8CF-262B-F6CF-54D8-184F9DEF3C39}"/>
              </a:ext>
            </a:extLst>
          </p:cNvPr>
          <p:cNvSpPr>
            <a:spLocks noGrp="1"/>
          </p:cNvSpPr>
          <p:nvPr>
            <p:ph type="title"/>
          </p:nvPr>
        </p:nvSpPr>
        <p:spPr/>
        <p:txBody>
          <a:bodyPr/>
          <a:lstStyle/>
          <a:p>
            <a:r>
              <a:rPr lang="en-US" dirty="0"/>
              <a:t>Domain Name System (1 of 8)</a:t>
            </a:r>
          </a:p>
        </p:txBody>
      </p:sp>
      <p:sp>
        <p:nvSpPr>
          <p:cNvPr id="3" name="Content Placeholder 2">
            <a:extLst>
              <a:ext uri="{FF2B5EF4-FFF2-40B4-BE49-F238E27FC236}">
                <a16:creationId xmlns:a16="http://schemas.microsoft.com/office/drawing/2014/main" id="{24AC92C4-39BF-2BAB-D3CE-AE3A77B34B41}"/>
              </a:ext>
            </a:extLst>
          </p:cNvPr>
          <p:cNvSpPr>
            <a:spLocks noGrp="1"/>
          </p:cNvSpPr>
          <p:nvPr>
            <p:ph idx="1"/>
          </p:nvPr>
        </p:nvSpPr>
        <p:spPr/>
        <p:txBody>
          <a:bodyPr/>
          <a:lstStyle/>
          <a:p>
            <a:r>
              <a:rPr lang="en-US" b="1" dirty="0"/>
              <a:t>Domain Name System (DNS) </a:t>
            </a:r>
            <a:r>
              <a:rPr lang="en-US" dirty="0"/>
              <a:t>is a name-to-address resolution protocol that keeps a list of computer names and their IP addresses</a:t>
            </a:r>
          </a:p>
          <a:p>
            <a:r>
              <a:rPr lang="en-US" dirty="0"/>
              <a:t>Example:</a:t>
            </a:r>
          </a:p>
          <a:p>
            <a:pPr lvl="1"/>
            <a:r>
              <a:rPr lang="en-US" sz="2200" dirty="0"/>
              <a:t>When you enter www.cengage.com in your Web browser, the DNS Client service contacts the DNS server specified in your OS’s IP configuration and requests that the name be resolved to an IP address</a:t>
            </a:r>
          </a:p>
          <a:p>
            <a:pPr lvl="1"/>
            <a:r>
              <a:rPr lang="en-US" sz="2200" dirty="0"/>
              <a:t>Once the IP address for the website is returned, your computer can contact the Web server to request a Web page</a:t>
            </a:r>
          </a:p>
          <a:p>
            <a:pPr lvl="1"/>
            <a:r>
              <a:rPr lang="en-US" sz="2200" dirty="0"/>
              <a:t>DNS uses UDP because DNS messages usually consist of a single packet of data</a:t>
            </a:r>
          </a:p>
          <a:p>
            <a:endParaRPr lang="en-US" dirty="0"/>
          </a:p>
        </p:txBody>
      </p:sp>
    </p:spTree>
    <p:extLst>
      <p:ext uri="{BB962C8B-B14F-4D97-AF65-F5344CB8AC3E}">
        <p14:creationId xmlns:p14="http://schemas.microsoft.com/office/powerpoint/2010/main" val="287606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C97F7-5D1D-1CB5-0562-9AF1D2C5A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8FE8B-BE66-0DEC-6A3F-4C90F8EE6052}"/>
              </a:ext>
            </a:extLst>
          </p:cNvPr>
          <p:cNvSpPr>
            <a:spLocks noGrp="1"/>
          </p:cNvSpPr>
          <p:nvPr>
            <p:ph type="title"/>
          </p:nvPr>
        </p:nvSpPr>
        <p:spPr/>
        <p:txBody>
          <a:bodyPr/>
          <a:lstStyle/>
          <a:p>
            <a:r>
              <a:rPr lang="en-US" dirty="0"/>
              <a:t>Domain Name System (2 of 8)</a:t>
            </a:r>
          </a:p>
        </p:txBody>
      </p:sp>
      <p:sp>
        <p:nvSpPr>
          <p:cNvPr id="3" name="Content Placeholder 2">
            <a:extLst>
              <a:ext uri="{FF2B5EF4-FFF2-40B4-BE49-F238E27FC236}">
                <a16:creationId xmlns:a16="http://schemas.microsoft.com/office/drawing/2014/main" id="{F09A9988-4B50-3DB8-A680-9BCA3D4292B7}"/>
              </a:ext>
            </a:extLst>
          </p:cNvPr>
          <p:cNvSpPr>
            <a:spLocks noGrp="1"/>
          </p:cNvSpPr>
          <p:nvPr>
            <p:ph idx="1"/>
          </p:nvPr>
        </p:nvSpPr>
        <p:spPr/>
        <p:txBody>
          <a:bodyPr/>
          <a:lstStyle/>
          <a:p>
            <a:r>
              <a:rPr lang="en-US" dirty="0"/>
              <a:t>DNS is organized as a treelike hierarchy</a:t>
            </a:r>
          </a:p>
          <a:p>
            <a:r>
              <a:rPr lang="en-US" dirty="0"/>
              <a:t>When you put all the names of a branch together, separated by periods, you have the </a:t>
            </a:r>
            <a:r>
              <a:rPr lang="en-US" b="1" dirty="0"/>
              <a:t>fully qualified domain name (FQDN)</a:t>
            </a:r>
          </a:p>
          <a:p>
            <a:pPr lvl="1"/>
            <a:r>
              <a:rPr lang="en-US" sz="2200" dirty="0"/>
              <a:t>Top-level domains are organized into categories such as commercial (.com)</a:t>
            </a:r>
          </a:p>
          <a:p>
            <a:pPr lvl="1"/>
            <a:r>
              <a:rPr lang="en-US" sz="2200" dirty="0"/>
              <a:t>Second-level domains are usually the name of a company or institution</a:t>
            </a:r>
          </a:p>
          <a:p>
            <a:pPr lvl="1"/>
            <a:r>
              <a:rPr lang="en-US" sz="2200" dirty="0"/>
              <a:t>The subdomain level is optional and can consist of names</a:t>
            </a:r>
          </a:p>
          <a:p>
            <a:pPr lvl="1"/>
            <a:r>
              <a:rPr lang="en-US" sz="2200" dirty="0"/>
              <a:t>The host level represents individual computers hosting network services</a:t>
            </a:r>
          </a:p>
          <a:p>
            <a:pPr marL="0" indent="0">
              <a:buNone/>
            </a:pPr>
            <a:endParaRPr lang="en-US" dirty="0"/>
          </a:p>
        </p:txBody>
      </p:sp>
    </p:spTree>
    <p:extLst>
      <p:ext uri="{BB962C8B-B14F-4D97-AF65-F5344CB8AC3E}">
        <p14:creationId xmlns:p14="http://schemas.microsoft.com/office/powerpoint/2010/main" val="30100610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8A860-C418-851C-BA36-F2176751F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F8AAC-4B9F-8962-DB58-23CCE2D46313}"/>
              </a:ext>
            </a:extLst>
          </p:cNvPr>
          <p:cNvSpPr>
            <a:spLocks noGrp="1"/>
          </p:cNvSpPr>
          <p:nvPr>
            <p:ph type="title"/>
          </p:nvPr>
        </p:nvSpPr>
        <p:spPr/>
        <p:txBody>
          <a:bodyPr/>
          <a:lstStyle/>
          <a:p>
            <a:r>
              <a:rPr lang="en-US" dirty="0"/>
              <a:t>Domain Name System (3 of 8)</a:t>
            </a:r>
          </a:p>
        </p:txBody>
      </p:sp>
      <p:sp>
        <p:nvSpPr>
          <p:cNvPr id="5" name="TextBox 4">
            <a:extLst>
              <a:ext uri="{FF2B5EF4-FFF2-40B4-BE49-F238E27FC236}">
                <a16:creationId xmlns:a16="http://schemas.microsoft.com/office/drawing/2014/main" id="{BAA0215C-6072-43C3-F797-E0E9D75A20F5}"/>
              </a:ext>
            </a:extLst>
          </p:cNvPr>
          <p:cNvSpPr txBox="1"/>
          <p:nvPr/>
        </p:nvSpPr>
        <p:spPr>
          <a:xfrm>
            <a:off x="7424160" y="3013501"/>
            <a:ext cx="4294598" cy="830997"/>
          </a:xfrm>
          <a:prstGeom prst="rect">
            <a:avLst/>
          </a:prstGeom>
          <a:noFill/>
        </p:spPr>
        <p:txBody>
          <a:bodyPr wrap="square" rtlCol="0">
            <a:spAutoFit/>
          </a:bodyPr>
          <a:lstStyle/>
          <a:p>
            <a:r>
              <a:rPr lang="en-US" sz="2400" b="1" dirty="0">
                <a:latin typeface="Work Sans" pitchFamily="2" charset="0"/>
              </a:rPr>
              <a:t>Figure 5-11  </a:t>
            </a:r>
            <a:r>
              <a:rPr lang="en-US" sz="2400" dirty="0">
                <a:latin typeface="Work Sans" pitchFamily="2" charset="0"/>
              </a:rPr>
              <a:t>The DNS hierarchical tree structure</a:t>
            </a:r>
          </a:p>
        </p:txBody>
      </p:sp>
      <p:pic>
        <p:nvPicPr>
          <p:cNvPr id="4" name="Picture 3" descr="The D N S system is organized in a tree like hierarchy. At the top is the root domain level. Below it are the top level domains that include dot com, dot o r g, dot e d u, and dot g o v. Below this are the second level domains, examples of which are cengage, tomsho, microsoft, u s d o j, and u s p s. Below the second level domain are the subdomain levels, examples of which are books. At the bottom are the host level domains.&#10;">
            <a:extLst>
              <a:ext uri="{FF2B5EF4-FFF2-40B4-BE49-F238E27FC236}">
                <a16:creationId xmlns:a16="http://schemas.microsoft.com/office/drawing/2014/main" id="{8CBDB897-0BB9-AE20-07B3-DD330D20310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88569" y="1386840"/>
            <a:ext cx="5428488" cy="4084320"/>
          </a:xfrm>
          <a:prstGeom prst="rect">
            <a:avLst/>
          </a:prstGeom>
        </p:spPr>
      </p:pic>
    </p:spTree>
    <p:extLst>
      <p:ext uri="{BB962C8B-B14F-4D97-AF65-F5344CB8AC3E}">
        <p14:creationId xmlns:p14="http://schemas.microsoft.com/office/powerpoint/2010/main" val="1428950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27A6D-3B21-0FCD-D241-2ED70D32A9AD}"/>
              </a:ext>
            </a:extLst>
          </p:cNvPr>
          <p:cNvSpPr>
            <a:spLocks noGrp="1"/>
          </p:cNvSpPr>
          <p:nvPr>
            <p:ph type="title"/>
          </p:nvPr>
        </p:nvSpPr>
        <p:spPr/>
        <p:txBody>
          <a:bodyPr/>
          <a:lstStyle/>
          <a:p>
            <a:r>
              <a:rPr lang="en-US" dirty="0"/>
              <a:t>Domain Name System (4 of 8)</a:t>
            </a:r>
          </a:p>
        </p:txBody>
      </p:sp>
      <p:sp>
        <p:nvSpPr>
          <p:cNvPr id="3" name="Content Placeholder 2">
            <a:extLst>
              <a:ext uri="{FF2B5EF4-FFF2-40B4-BE49-F238E27FC236}">
                <a16:creationId xmlns:a16="http://schemas.microsoft.com/office/drawing/2014/main" id="{66C6642A-103B-0210-21C0-67BBCF314C28}"/>
              </a:ext>
            </a:extLst>
          </p:cNvPr>
          <p:cNvSpPr>
            <a:spLocks noGrp="1"/>
          </p:cNvSpPr>
          <p:nvPr>
            <p:ph idx="1"/>
          </p:nvPr>
        </p:nvSpPr>
        <p:spPr/>
        <p:txBody>
          <a:bodyPr/>
          <a:lstStyle/>
          <a:p>
            <a:r>
              <a:rPr lang="en-US" altLang="zh-CN" dirty="0"/>
              <a:t>When a DNS server is installed, the administrator creates one or more domain names or zones </a:t>
            </a:r>
          </a:p>
          <a:p>
            <a:pPr lvl="1"/>
            <a:r>
              <a:rPr lang="en-US" altLang="zh-CN" sz="2200" dirty="0"/>
              <a:t>A zone is named by using the second-level and top-level domain names and the subdomain</a:t>
            </a:r>
          </a:p>
          <a:p>
            <a:r>
              <a:rPr lang="en-US" altLang="zh-CN" dirty="0"/>
              <a:t>A database contains a list of IP addresses that point to root servers</a:t>
            </a:r>
          </a:p>
          <a:p>
            <a:pPr lvl="1"/>
            <a:r>
              <a:rPr lang="en-US" altLang="zh-CN" sz="2200" dirty="0"/>
              <a:t>These servers supply addresses of top-level domain servers</a:t>
            </a:r>
          </a:p>
          <a:p>
            <a:r>
              <a:rPr lang="en-US" altLang="zh-CN" dirty="0"/>
              <a:t>DNS clients in most OSs maintain a DNS cache, called a </a:t>
            </a:r>
            <a:r>
              <a:rPr lang="en-US" altLang="zh-CN" b="1" dirty="0"/>
              <a:t>resolver cache</a:t>
            </a:r>
          </a:p>
          <a:p>
            <a:pPr lvl="1"/>
            <a:r>
              <a:rPr lang="en-US" altLang="zh-CN" sz="2200" dirty="0"/>
              <a:t>This cache stores name and IP address pairs and other data for names that have been resolved recently</a:t>
            </a:r>
          </a:p>
          <a:p>
            <a:endParaRPr lang="en-US" dirty="0"/>
          </a:p>
        </p:txBody>
      </p:sp>
    </p:spTree>
    <p:extLst>
      <p:ext uri="{BB962C8B-B14F-4D97-AF65-F5344CB8AC3E}">
        <p14:creationId xmlns:p14="http://schemas.microsoft.com/office/powerpoint/2010/main" val="3488717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5F470-1DF7-2325-D0A3-DA709B103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20C566-40D6-2753-C044-397F9C5D74AF}"/>
              </a:ext>
            </a:extLst>
          </p:cNvPr>
          <p:cNvSpPr>
            <a:spLocks noGrp="1"/>
          </p:cNvSpPr>
          <p:nvPr>
            <p:ph type="title"/>
          </p:nvPr>
        </p:nvSpPr>
        <p:spPr/>
        <p:txBody>
          <a:bodyPr/>
          <a:lstStyle/>
          <a:p>
            <a:r>
              <a:rPr lang="en-US" dirty="0"/>
              <a:t>Domain Name System (5 of 8)</a:t>
            </a:r>
          </a:p>
        </p:txBody>
      </p:sp>
      <p:sp>
        <p:nvSpPr>
          <p:cNvPr id="3" name="Content Placeholder 2">
            <a:extLst>
              <a:ext uri="{FF2B5EF4-FFF2-40B4-BE49-F238E27FC236}">
                <a16:creationId xmlns:a16="http://schemas.microsoft.com/office/drawing/2014/main" id="{C1ECC76C-FB2F-2F20-0A84-0B439D81541E}"/>
              </a:ext>
            </a:extLst>
          </p:cNvPr>
          <p:cNvSpPr>
            <a:spLocks noGrp="1"/>
          </p:cNvSpPr>
          <p:nvPr>
            <p:ph idx="1"/>
          </p:nvPr>
        </p:nvSpPr>
        <p:spPr/>
        <p:txBody>
          <a:bodyPr/>
          <a:lstStyle/>
          <a:p>
            <a:r>
              <a:rPr lang="en-US" altLang="zh-CN" dirty="0"/>
              <a:t>The DNS client is responsible for communicating with a DNS server to resolve computer and domain names to IP addresses</a:t>
            </a:r>
          </a:p>
          <a:p>
            <a:pPr lvl="1"/>
            <a:r>
              <a:rPr lang="en-US" altLang="zh-CN" sz="2200" dirty="0"/>
              <a:t>The DNS client is referred to as a “resolver”</a:t>
            </a:r>
          </a:p>
          <a:p>
            <a:pPr lvl="1"/>
            <a:r>
              <a:rPr lang="en-US" altLang="zh-CN" sz="2200" dirty="0"/>
              <a:t>An OS must be configured to use DNS and needs at least one address of a DNS server that it can query</a:t>
            </a:r>
          </a:p>
          <a:p>
            <a:pPr lvl="1"/>
            <a:r>
              <a:rPr lang="en-US" altLang="zh-CN" sz="2200" dirty="0"/>
              <a:t>In Windows, the first DNS server configured is called the preferred DNS server and the second one is the alternate DNS server </a:t>
            </a:r>
          </a:p>
          <a:p>
            <a:pPr lvl="1"/>
            <a:r>
              <a:rPr lang="en-US" altLang="zh-CN" sz="2200" dirty="0"/>
              <a:t>Windows supports Dynamic DNS (DDNS), which allows computers and other devices to contact their primary DNS server whenever their name or address changes</a:t>
            </a:r>
          </a:p>
          <a:p>
            <a:endParaRPr lang="en-US" dirty="0"/>
          </a:p>
        </p:txBody>
      </p:sp>
    </p:spTree>
    <p:extLst>
      <p:ext uri="{BB962C8B-B14F-4D97-AF65-F5344CB8AC3E}">
        <p14:creationId xmlns:p14="http://schemas.microsoft.com/office/powerpoint/2010/main" val="15324041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68ECC-7316-9B9A-7E01-6DD9B516F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803C4-A147-6777-4D02-D0DDB16976CA}"/>
              </a:ext>
            </a:extLst>
          </p:cNvPr>
          <p:cNvSpPr>
            <a:spLocks noGrp="1"/>
          </p:cNvSpPr>
          <p:nvPr>
            <p:ph type="title"/>
          </p:nvPr>
        </p:nvSpPr>
        <p:spPr/>
        <p:txBody>
          <a:bodyPr/>
          <a:lstStyle/>
          <a:p>
            <a:r>
              <a:rPr lang="en-US" dirty="0"/>
              <a:t>Domain Name System (6 of 8)</a:t>
            </a:r>
          </a:p>
        </p:txBody>
      </p:sp>
      <p:sp>
        <p:nvSpPr>
          <p:cNvPr id="5" name="TextBox 4">
            <a:extLst>
              <a:ext uri="{FF2B5EF4-FFF2-40B4-BE49-F238E27FC236}">
                <a16:creationId xmlns:a16="http://schemas.microsoft.com/office/drawing/2014/main" id="{7393DDEB-85D2-251F-7143-FBA7F1B2DA74}"/>
              </a:ext>
            </a:extLst>
          </p:cNvPr>
          <p:cNvSpPr txBox="1"/>
          <p:nvPr/>
        </p:nvSpPr>
        <p:spPr>
          <a:xfrm>
            <a:off x="7315200" y="3013501"/>
            <a:ext cx="4294598" cy="1200329"/>
          </a:xfrm>
          <a:prstGeom prst="rect">
            <a:avLst/>
          </a:prstGeom>
          <a:noFill/>
        </p:spPr>
        <p:txBody>
          <a:bodyPr wrap="square" rtlCol="0">
            <a:spAutoFit/>
          </a:bodyPr>
          <a:lstStyle/>
          <a:p>
            <a:r>
              <a:rPr lang="en-US" sz="2400" b="1" dirty="0">
                <a:latin typeface="Work Sans" pitchFamily="2" charset="0"/>
              </a:rPr>
              <a:t>Figure 5-12  </a:t>
            </a:r>
            <a:r>
              <a:rPr lang="en-US" sz="2400" dirty="0">
                <a:latin typeface="Work Sans" pitchFamily="2" charset="0"/>
              </a:rPr>
              <a:t>Preferred and alternate DNS servers in Windows</a:t>
            </a:r>
          </a:p>
        </p:txBody>
      </p:sp>
      <p:pic>
        <p:nvPicPr>
          <p:cNvPr id="4" name="Picture 3" descr="The Internet Protocol Version 4 Properties dialog box in Windows which used to configure D N S on Windows. On the top of this dialog box, the I P address configuration has been provided and below that the D N S server addresses have been configured. The I P addresses for the preferred D N S server and alternate D N S server have been entered.&#10;">
            <a:extLst>
              <a:ext uri="{FF2B5EF4-FFF2-40B4-BE49-F238E27FC236}">
                <a16:creationId xmlns:a16="http://schemas.microsoft.com/office/drawing/2014/main" id="{026E19F1-C0AD-0FAE-00EB-AD0604D4855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90656" y="1972638"/>
            <a:ext cx="4298758" cy="3235572"/>
          </a:xfrm>
          <a:prstGeom prst="rect">
            <a:avLst/>
          </a:prstGeom>
        </p:spPr>
      </p:pic>
    </p:spTree>
    <p:extLst>
      <p:ext uri="{BB962C8B-B14F-4D97-AF65-F5344CB8AC3E}">
        <p14:creationId xmlns:p14="http://schemas.microsoft.com/office/powerpoint/2010/main" val="17360862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9DA25-6BB9-6C1B-E9DE-A690C9179CEA}"/>
              </a:ext>
            </a:extLst>
          </p:cNvPr>
          <p:cNvSpPr>
            <a:spLocks noGrp="1"/>
          </p:cNvSpPr>
          <p:nvPr>
            <p:ph type="title"/>
          </p:nvPr>
        </p:nvSpPr>
        <p:spPr/>
        <p:txBody>
          <a:bodyPr/>
          <a:lstStyle/>
          <a:p>
            <a:r>
              <a:rPr lang="en-US" dirty="0"/>
              <a:t>Domain Name System (7 of 8)</a:t>
            </a:r>
          </a:p>
        </p:txBody>
      </p:sp>
      <p:sp>
        <p:nvSpPr>
          <p:cNvPr id="3" name="Content Placeholder 2">
            <a:extLst>
              <a:ext uri="{FF2B5EF4-FFF2-40B4-BE49-F238E27FC236}">
                <a16:creationId xmlns:a16="http://schemas.microsoft.com/office/drawing/2014/main" id="{689DC628-C92C-F748-217F-DD474DEA48B2}"/>
              </a:ext>
            </a:extLst>
          </p:cNvPr>
          <p:cNvSpPr>
            <a:spLocks noGrp="1"/>
          </p:cNvSpPr>
          <p:nvPr>
            <p:ph idx="1"/>
          </p:nvPr>
        </p:nvSpPr>
        <p:spPr/>
        <p:txBody>
          <a:bodyPr/>
          <a:lstStyle/>
          <a:p>
            <a:r>
              <a:rPr lang="en-US" dirty="0"/>
              <a:t>DNS servers are composed of the following:</a:t>
            </a:r>
          </a:p>
          <a:p>
            <a:pPr lvl="1"/>
            <a:r>
              <a:rPr lang="en-US" sz="2200" b="1" dirty="0"/>
              <a:t>DNS zones</a:t>
            </a:r>
            <a:r>
              <a:rPr lang="en-US" sz="2200" dirty="0"/>
              <a:t>—a database of primarily hostname and IP address pairs</a:t>
            </a:r>
          </a:p>
          <a:p>
            <a:pPr lvl="1"/>
            <a:r>
              <a:rPr lang="en-US" sz="2200" b="1" dirty="0"/>
              <a:t>Resource records</a:t>
            </a:r>
            <a:r>
              <a:rPr lang="en-US" sz="2200" dirty="0"/>
              <a:t>—the data contained in a zone</a:t>
            </a:r>
          </a:p>
          <a:p>
            <a:pPr lvl="1"/>
            <a:r>
              <a:rPr lang="en-US" sz="2200" dirty="0"/>
              <a:t>Cache—results of queries are cached so that if the same query occurs again, the local DNS server can respond without contacting another server</a:t>
            </a:r>
          </a:p>
          <a:p>
            <a:pPr lvl="1"/>
            <a:r>
              <a:rPr lang="en-US" sz="2200" dirty="0"/>
              <a:t>Root hints—a file containing a list of all IP addresses of Internet root servers</a:t>
            </a:r>
          </a:p>
          <a:p>
            <a:pPr lvl="1"/>
            <a:r>
              <a:rPr lang="en-US" sz="2200" dirty="0"/>
              <a:t>DNS Server service—runs in the background and listens for DNS queries on UDP port 53</a:t>
            </a:r>
          </a:p>
          <a:p>
            <a:endParaRPr lang="en-US" dirty="0"/>
          </a:p>
        </p:txBody>
      </p:sp>
    </p:spTree>
    <p:extLst>
      <p:ext uri="{BB962C8B-B14F-4D97-AF65-F5344CB8AC3E}">
        <p14:creationId xmlns:p14="http://schemas.microsoft.com/office/powerpoint/2010/main" val="13726215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65154-5C94-0EAD-3DA7-2140203D2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85EEC1-8F84-6B13-391E-092594312184}"/>
              </a:ext>
            </a:extLst>
          </p:cNvPr>
          <p:cNvSpPr>
            <a:spLocks noGrp="1"/>
          </p:cNvSpPr>
          <p:nvPr>
            <p:ph type="title"/>
          </p:nvPr>
        </p:nvSpPr>
        <p:spPr/>
        <p:txBody>
          <a:bodyPr/>
          <a:lstStyle/>
          <a:p>
            <a:r>
              <a:rPr lang="en-US" dirty="0"/>
              <a:t>Domain Name System (8 of 8)</a:t>
            </a:r>
          </a:p>
        </p:txBody>
      </p:sp>
      <p:sp>
        <p:nvSpPr>
          <p:cNvPr id="5" name="TextBox 4">
            <a:extLst>
              <a:ext uri="{FF2B5EF4-FFF2-40B4-BE49-F238E27FC236}">
                <a16:creationId xmlns:a16="http://schemas.microsoft.com/office/drawing/2014/main" id="{36AC2406-6EE4-26F2-B911-B59F82B5B9A4}"/>
              </a:ext>
            </a:extLst>
          </p:cNvPr>
          <p:cNvSpPr txBox="1"/>
          <p:nvPr/>
        </p:nvSpPr>
        <p:spPr>
          <a:xfrm>
            <a:off x="7315200" y="3013501"/>
            <a:ext cx="4294598" cy="830997"/>
          </a:xfrm>
          <a:prstGeom prst="rect">
            <a:avLst/>
          </a:prstGeom>
          <a:noFill/>
        </p:spPr>
        <p:txBody>
          <a:bodyPr wrap="square" rtlCol="0">
            <a:spAutoFit/>
          </a:bodyPr>
          <a:lstStyle/>
          <a:p>
            <a:r>
              <a:rPr lang="en-US" sz="2400" b="1" dirty="0">
                <a:latin typeface="Work Sans" pitchFamily="2" charset="0"/>
              </a:rPr>
              <a:t>Figure 5-16  </a:t>
            </a:r>
            <a:r>
              <a:rPr lang="en-US" sz="2400" dirty="0">
                <a:latin typeface="Work Sans" pitchFamily="2" charset="0"/>
              </a:rPr>
              <a:t>The DNS Manager console</a:t>
            </a:r>
          </a:p>
        </p:txBody>
      </p:sp>
      <p:pic>
        <p:nvPicPr>
          <p:cNvPr id="4" name="Picture 3" descr="The D N S Manager console in Windows Server. Under Forward Lookup Zones, the A Z 800 dot corp zone is selected. Under this zone several D N S records are shown.&#10;">
            <a:extLst>
              <a:ext uri="{FF2B5EF4-FFF2-40B4-BE49-F238E27FC236}">
                <a16:creationId xmlns:a16="http://schemas.microsoft.com/office/drawing/2014/main" id="{A6E0AA77-FE83-0FE4-CEB1-06BBD0C5C1D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16476" y="1755614"/>
            <a:ext cx="4458180" cy="3346771"/>
          </a:xfrm>
          <a:prstGeom prst="rect">
            <a:avLst/>
          </a:prstGeom>
        </p:spPr>
      </p:pic>
    </p:spTree>
    <p:extLst>
      <p:ext uri="{BB962C8B-B14F-4D97-AF65-F5344CB8AC3E}">
        <p14:creationId xmlns:p14="http://schemas.microsoft.com/office/powerpoint/2010/main" val="4273022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5-1</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At which TCP/IP layer does the NIC operate?</a:t>
            </a:r>
          </a:p>
          <a:p>
            <a:pPr marL="0" indent="0">
              <a:buNone/>
            </a:pPr>
            <a:r>
              <a:rPr lang="en-US" dirty="0"/>
              <a:t>a. Application</a:t>
            </a:r>
          </a:p>
          <a:p>
            <a:pPr marL="0" indent="0">
              <a:buNone/>
            </a:pPr>
            <a:r>
              <a:rPr lang="en-US" dirty="0"/>
              <a:t>b. Session</a:t>
            </a:r>
          </a:p>
          <a:p>
            <a:pPr marL="0" indent="0">
              <a:buNone/>
            </a:pPr>
            <a:r>
              <a:rPr lang="en-US" dirty="0"/>
              <a:t>c. Transport</a:t>
            </a:r>
          </a:p>
          <a:p>
            <a:pPr marL="0" indent="0">
              <a:buNone/>
            </a:pPr>
            <a:r>
              <a:rPr lang="en-US" dirty="0"/>
              <a:t>d. Network Access</a:t>
            </a:r>
          </a:p>
        </p:txBody>
      </p:sp>
    </p:spTree>
    <p:extLst>
      <p:ext uri="{BB962C8B-B14F-4D97-AF65-F5344CB8AC3E}">
        <p14:creationId xmlns:p14="http://schemas.microsoft.com/office/powerpoint/2010/main" val="36838000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5-1: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At which TCP/IP layer does the NIC operate?</a:t>
            </a:r>
          </a:p>
          <a:p>
            <a:pPr marL="0" indent="0">
              <a:buNone/>
            </a:pPr>
            <a:r>
              <a:rPr lang="en-US" b="1" dirty="0"/>
              <a:t>Answer: d</a:t>
            </a:r>
            <a:r>
              <a:rPr lang="en-US" dirty="0"/>
              <a:t>. Network Access</a:t>
            </a:r>
          </a:p>
          <a:p>
            <a:pPr marL="0" indent="0">
              <a:buNone/>
            </a:pPr>
            <a:r>
              <a:rPr lang="en-US" b="1" dirty="0"/>
              <a:t>Explanation:</a:t>
            </a:r>
            <a:r>
              <a:rPr lang="en-US" dirty="0"/>
              <a:t> Network technologies such as Ethernet are defined at the Network Access layer and the NIC is a component of the Network Access layer, along with the NIC driver, cabling, and connectors.</a:t>
            </a:r>
          </a:p>
        </p:txBody>
      </p:sp>
    </p:spTree>
    <p:extLst>
      <p:ext uri="{BB962C8B-B14F-4D97-AF65-F5344CB8AC3E}">
        <p14:creationId xmlns:p14="http://schemas.microsoft.com/office/powerpoint/2010/main" val="3889104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DFFC4-FE4D-E586-4650-BD6A909DC87A}"/>
              </a:ext>
            </a:extLst>
          </p:cNvPr>
          <p:cNvSpPr>
            <a:spLocks noGrp="1"/>
          </p:cNvSpPr>
          <p:nvPr>
            <p:ph type="title"/>
          </p:nvPr>
        </p:nvSpPr>
        <p:spPr/>
        <p:txBody>
          <a:bodyPr/>
          <a:lstStyle/>
          <a:p>
            <a:r>
              <a:rPr lang="en-US" dirty="0"/>
              <a:t>Transport Layer Protocols</a:t>
            </a:r>
          </a:p>
        </p:txBody>
      </p:sp>
      <p:sp>
        <p:nvSpPr>
          <p:cNvPr id="3" name="Content Placeholder 2">
            <a:extLst>
              <a:ext uri="{FF2B5EF4-FFF2-40B4-BE49-F238E27FC236}">
                <a16:creationId xmlns:a16="http://schemas.microsoft.com/office/drawing/2014/main" id="{490D0570-12D0-B434-DD90-547F2FB72E51}"/>
              </a:ext>
            </a:extLst>
          </p:cNvPr>
          <p:cNvSpPr>
            <a:spLocks noGrp="1"/>
          </p:cNvSpPr>
          <p:nvPr>
            <p:ph idx="1"/>
          </p:nvPr>
        </p:nvSpPr>
        <p:spPr/>
        <p:txBody>
          <a:bodyPr/>
          <a:lstStyle/>
          <a:p>
            <a:r>
              <a:rPr lang="en-US" dirty="0"/>
              <a:t>Transport layer protocols are used with most Application layer protocols because they accomplish the following:</a:t>
            </a:r>
          </a:p>
          <a:p>
            <a:pPr lvl="1"/>
            <a:r>
              <a:rPr lang="en-US" dirty="0"/>
              <a:t>Supply a header field to identify the Application layer</a:t>
            </a:r>
          </a:p>
          <a:p>
            <a:pPr lvl="1"/>
            <a:r>
              <a:rPr lang="en-US" dirty="0"/>
              <a:t>Provide reliability and flow control for applications that require it</a:t>
            </a:r>
          </a:p>
          <a:p>
            <a:endParaRPr lang="en-US" dirty="0"/>
          </a:p>
        </p:txBody>
      </p:sp>
    </p:spTree>
    <p:extLst>
      <p:ext uri="{BB962C8B-B14F-4D97-AF65-F5344CB8AC3E}">
        <p14:creationId xmlns:p14="http://schemas.microsoft.com/office/powerpoint/2010/main" val="9451564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AB186-56CA-4459-AF1E-303217BF1246}"/>
              </a:ext>
            </a:extLst>
          </p:cNvPr>
          <p:cNvSpPr>
            <a:spLocks noGrp="1"/>
          </p:cNvSpPr>
          <p:nvPr>
            <p:ph type="title"/>
          </p:nvPr>
        </p:nvSpPr>
        <p:spPr/>
        <p:txBody>
          <a:bodyPr/>
          <a:lstStyle/>
          <a:p>
            <a:r>
              <a:rPr lang="en-US" dirty="0"/>
              <a:t>Role of the Transport Layer (1 of 3)</a:t>
            </a:r>
          </a:p>
        </p:txBody>
      </p:sp>
      <p:sp>
        <p:nvSpPr>
          <p:cNvPr id="3" name="Content Placeholder 2">
            <a:extLst>
              <a:ext uri="{FF2B5EF4-FFF2-40B4-BE49-F238E27FC236}">
                <a16:creationId xmlns:a16="http://schemas.microsoft.com/office/drawing/2014/main" id="{63F0EB44-2443-A4EF-CB31-77D7B1AB9FDB}"/>
              </a:ext>
            </a:extLst>
          </p:cNvPr>
          <p:cNvSpPr>
            <a:spLocks noGrp="1"/>
          </p:cNvSpPr>
          <p:nvPr>
            <p:ph idx="1"/>
          </p:nvPr>
        </p:nvSpPr>
        <p:spPr/>
        <p:txBody>
          <a:bodyPr/>
          <a:lstStyle/>
          <a:p>
            <a:r>
              <a:rPr lang="en-US" dirty="0"/>
              <a:t>The Transport layer has two protocols:</a:t>
            </a:r>
          </a:p>
          <a:p>
            <a:pPr lvl="1"/>
            <a:r>
              <a:rPr lang="en-US" sz="2200" dirty="0"/>
              <a:t>Transmission Control Protocol (TCP) is </a:t>
            </a:r>
            <a:r>
              <a:rPr lang="en-US" sz="2200" b="1" dirty="0"/>
              <a:t>connection-oriented</a:t>
            </a:r>
            <a:r>
              <a:rPr lang="en-US" sz="2200" dirty="0"/>
              <a:t> and designed for reliable transfer of information in complex internetworks</a:t>
            </a:r>
          </a:p>
          <a:p>
            <a:pPr lvl="1"/>
            <a:r>
              <a:rPr lang="en-US" sz="2200" dirty="0"/>
              <a:t>User Datagram Protocol (UDP) is </a:t>
            </a:r>
            <a:r>
              <a:rPr lang="en-US" sz="2200" b="1" dirty="0"/>
              <a:t>connectionless</a:t>
            </a:r>
            <a:r>
              <a:rPr lang="en-US" sz="2200" dirty="0"/>
              <a:t> and designed for efficient communication of generally small amounts of data</a:t>
            </a:r>
          </a:p>
          <a:p>
            <a:r>
              <a:rPr lang="en-US" dirty="0"/>
              <a:t>Both protocols perform the following tasks:</a:t>
            </a:r>
          </a:p>
          <a:p>
            <a:pPr lvl="1"/>
            <a:r>
              <a:rPr lang="en-US" sz="2200" dirty="0"/>
              <a:t>Work with segments (TCP) or datagrams (UDP)</a:t>
            </a:r>
          </a:p>
          <a:p>
            <a:pPr lvl="1"/>
            <a:r>
              <a:rPr lang="en-US" sz="2200" dirty="0"/>
              <a:t>Provide a means to identify the source and destination applications involved in a communication and protect data with a checksum</a:t>
            </a:r>
          </a:p>
          <a:p>
            <a:endParaRPr lang="en-US" dirty="0"/>
          </a:p>
        </p:txBody>
      </p:sp>
    </p:spTree>
    <p:extLst>
      <p:ext uri="{BB962C8B-B14F-4D97-AF65-F5344CB8AC3E}">
        <p14:creationId xmlns:p14="http://schemas.microsoft.com/office/powerpoint/2010/main" val="6947917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686CA-5090-83AD-E37C-0702776499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61070-ABC3-5C30-92D6-99D243C307A8}"/>
              </a:ext>
            </a:extLst>
          </p:cNvPr>
          <p:cNvSpPr>
            <a:spLocks noGrp="1"/>
          </p:cNvSpPr>
          <p:nvPr>
            <p:ph type="title"/>
          </p:nvPr>
        </p:nvSpPr>
        <p:spPr/>
        <p:txBody>
          <a:bodyPr/>
          <a:lstStyle/>
          <a:p>
            <a:r>
              <a:rPr lang="en-US" dirty="0"/>
              <a:t>Role of the Transport Layer (2 of 3)</a:t>
            </a:r>
          </a:p>
        </p:txBody>
      </p:sp>
      <p:sp>
        <p:nvSpPr>
          <p:cNvPr id="3" name="Content Placeholder 2">
            <a:extLst>
              <a:ext uri="{FF2B5EF4-FFF2-40B4-BE49-F238E27FC236}">
                <a16:creationId xmlns:a16="http://schemas.microsoft.com/office/drawing/2014/main" id="{319E6385-5C77-F7E0-73FD-0A2DB1995C36}"/>
              </a:ext>
            </a:extLst>
          </p:cNvPr>
          <p:cNvSpPr>
            <a:spLocks noGrp="1"/>
          </p:cNvSpPr>
          <p:nvPr>
            <p:ph idx="1"/>
          </p:nvPr>
        </p:nvSpPr>
        <p:spPr/>
        <p:txBody>
          <a:bodyPr/>
          <a:lstStyle/>
          <a:p>
            <a:r>
              <a:rPr lang="en-US" dirty="0"/>
              <a:t>TCP works with units of data called “segments” and UDP works with units of data called “datagrams”</a:t>
            </a:r>
          </a:p>
          <a:p>
            <a:pPr lvl="1"/>
            <a:r>
              <a:rPr lang="en-US" sz="2200" dirty="0"/>
              <a:t>For outgoing data, both TCP and UDP add a header to data</a:t>
            </a:r>
          </a:p>
          <a:p>
            <a:pPr lvl="1"/>
            <a:r>
              <a:rPr lang="en-US" sz="2200" dirty="0"/>
              <a:t>The Transport layer protocol then passes the segment to the Internetwork layer protocol (usually IP)</a:t>
            </a:r>
          </a:p>
          <a:p>
            <a:pPr lvl="1"/>
            <a:r>
              <a:rPr lang="en-US" sz="2200" dirty="0"/>
              <a:t>With incoming data, the Internetwork layer protocol de-encapsulates the packet and forwards the resulting segment or datagram to the Transport layer protocol</a:t>
            </a:r>
          </a:p>
          <a:p>
            <a:pPr lvl="1"/>
            <a:r>
              <a:rPr lang="en-US" sz="2200" dirty="0"/>
              <a:t>The Transport layer protocol processes it, de-encapsulates it, and sends the resulting data up to the Application layer</a:t>
            </a:r>
            <a:endParaRPr lang="en-US" dirty="0"/>
          </a:p>
        </p:txBody>
      </p:sp>
    </p:spTree>
    <p:extLst>
      <p:ext uri="{BB962C8B-B14F-4D97-AF65-F5344CB8AC3E}">
        <p14:creationId xmlns:p14="http://schemas.microsoft.com/office/powerpoint/2010/main" val="22445440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40C42-C52A-4C3A-CCDE-A2C45E9AF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EB0C76-8E18-3656-2364-9FFC137F9ACB}"/>
              </a:ext>
            </a:extLst>
          </p:cNvPr>
          <p:cNvSpPr>
            <a:spLocks noGrp="1"/>
          </p:cNvSpPr>
          <p:nvPr>
            <p:ph type="title"/>
          </p:nvPr>
        </p:nvSpPr>
        <p:spPr>
          <a:xfrm>
            <a:off x="476843" y="448153"/>
            <a:ext cx="11241915" cy="1217447"/>
          </a:xfrm>
        </p:spPr>
        <p:txBody>
          <a:bodyPr/>
          <a:lstStyle/>
          <a:p>
            <a:r>
              <a:rPr lang="en-US" dirty="0"/>
              <a:t>Role of the Transport Layer (3 of 3)</a:t>
            </a:r>
          </a:p>
        </p:txBody>
      </p:sp>
      <p:sp>
        <p:nvSpPr>
          <p:cNvPr id="3" name="Content Placeholder 2">
            <a:extLst>
              <a:ext uri="{FF2B5EF4-FFF2-40B4-BE49-F238E27FC236}">
                <a16:creationId xmlns:a16="http://schemas.microsoft.com/office/drawing/2014/main" id="{E49E7970-72DA-8377-85BF-DFF8D701F031}"/>
              </a:ext>
            </a:extLst>
          </p:cNvPr>
          <p:cNvSpPr>
            <a:spLocks noGrp="1"/>
          </p:cNvSpPr>
          <p:nvPr>
            <p:ph idx="1"/>
          </p:nvPr>
        </p:nvSpPr>
        <p:spPr>
          <a:xfrm>
            <a:off x="476843" y="1682973"/>
            <a:ext cx="11241915" cy="4351338"/>
          </a:xfrm>
        </p:spPr>
        <p:txBody>
          <a:bodyPr/>
          <a:lstStyle/>
          <a:p>
            <a:r>
              <a:rPr lang="en-US" dirty="0"/>
              <a:t>TCP and UDP use port numbers to specify the source and destination Application layer protocols</a:t>
            </a:r>
          </a:p>
          <a:p>
            <a:pPr lvl="1"/>
            <a:r>
              <a:rPr lang="en-US" sz="2200" dirty="0"/>
              <a:t>Port numbers are 16-bit values assigned to specific applications running on a computer or network device</a:t>
            </a:r>
          </a:p>
          <a:p>
            <a:pPr lvl="1"/>
            <a:r>
              <a:rPr lang="en-US" sz="2200" dirty="0"/>
              <a:t>The Internet Assigned Numbers Authority (IANA) assigns a dedicated port number to every well-known network service</a:t>
            </a:r>
          </a:p>
          <a:p>
            <a:r>
              <a:rPr lang="en-US" dirty="0"/>
              <a:t>To protect data integrity, TCP and UDP provide a checksum similar to the CRC (discussed in Chapter 3)</a:t>
            </a:r>
          </a:p>
          <a:p>
            <a:r>
              <a:rPr lang="en-US" dirty="0"/>
              <a:t>If data corruption occurs during the transmission, the final receiving station detects the checksum error and discards the data</a:t>
            </a:r>
          </a:p>
          <a:p>
            <a:endParaRPr lang="en-US" dirty="0"/>
          </a:p>
        </p:txBody>
      </p:sp>
    </p:spTree>
    <p:extLst>
      <p:ext uri="{BB962C8B-B14F-4D97-AF65-F5344CB8AC3E}">
        <p14:creationId xmlns:p14="http://schemas.microsoft.com/office/powerpoint/2010/main" val="18801522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079A8-4E55-A956-D558-8A51E0BB14B5}"/>
              </a:ext>
            </a:extLst>
          </p:cNvPr>
          <p:cNvSpPr>
            <a:spLocks noGrp="1"/>
          </p:cNvSpPr>
          <p:nvPr>
            <p:ph type="title"/>
          </p:nvPr>
        </p:nvSpPr>
        <p:spPr/>
        <p:txBody>
          <a:bodyPr/>
          <a:lstStyle/>
          <a:p>
            <a:r>
              <a:rPr lang="en-US" dirty="0"/>
              <a:t>TCP: The Reliable Transport Layer (1 of 5)</a:t>
            </a:r>
          </a:p>
        </p:txBody>
      </p:sp>
      <p:sp>
        <p:nvSpPr>
          <p:cNvPr id="3" name="Content Placeholder 2">
            <a:extLst>
              <a:ext uri="{FF2B5EF4-FFF2-40B4-BE49-F238E27FC236}">
                <a16:creationId xmlns:a16="http://schemas.microsoft.com/office/drawing/2014/main" id="{2C8E50D5-839B-22EE-CF6F-6303FCF7FC3F}"/>
              </a:ext>
            </a:extLst>
          </p:cNvPr>
          <p:cNvSpPr>
            <a:spLocks noGrp="1"/>
          </p:cNvSpPr>
          <p:nvPr>
            <p:ph idx="1"/>
          </p:nvPr>
        </p:nvSpPr>
        <p:spPr>
          <a:xfrm>
            <a:off x="476843" y="1708065"/>
            <a:ext cx="11241915" cy="4351338"/>
          </a:xfrm>
        </p:spPr>
        <p:txBody>
          <a:bodyPr/>
          <a:lstStyle/>
          <a:p>
            <a:r>
              <a:rPr lang="en-US" dirty="0"/>
              <a:t>If an application requires reliable data transfer, it uses TCP as the Transport layer protocol</a:t>
            </a:r>
          </a:p>
          <a:p>
            <a:r>
              <a:rPr lang="en-US" dirty="0"/>
              <a:t>TCP uses these features that aren’t available in UDP:</a:t>
            </a:r>
          </a:p>
          <a:p>
            <a:pPr lvl="1"/>
            <a:r>
              <a:rPr lang="en-US" sz="2200" dirty="0"/>
              <a:t>Establishing a connection</a:t>
            </a:r>
          </a:p>
          <a:p>
            <a:pPr lvl="1"/>
            <a:r>
              <a:rPr lang="en-US" sz="2200" dirty="0"/>
              <a:t>Segmenting large chunks of data </a:t>
            </a:r>
          </a:p>
          <a:p>
            <a:pPr lvl="1"/>
            <a:r>
              <a:rPr lang="en-US" sz="2200" dirty="0"/>
              <a:t>Ensuring flow control with acknowledgements</a:t>
            </a:r>
          </a:p>
          <a:p>
            <a:r>
              <a:rPr lang="en-US" dirty="0"/>
              <a:t>TCP is a connection-oriented protocol</a:t>
            </a:r>
          </a:p>
          <a:p>
            <a:pPr lvl="1"/>
            <a:r>
              <a:rPr lang="en-US" sz="2200" dirty="0"/>
              <a:t>It establishes a connection with the destination, data is transferred, and the connection is broken</a:t>
            </a:r>
          </a:p>
          <a:p>
            <a:endParaRPr lang="en-US" dirty="0"/>
          </a:p>
        </p:txBody>
      </p:sp>
    </p:spTree>
    <p:extLst>
      <p:ext uri="{BB962C8B-B14F-4D97-AF65-F5344CB8AC3E}">
        <p14:creationId xmlns:p14="http://schemas.microsoft.com/office/powerpoint/2010/main" val="3707437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90018-FD4E-5885-7A8D-0119ADCD10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FD15CC-F6DA-B1A8-3ACF-A2F110FF0081}"/>
              </a:ext>
            </a:extLst>
          </p:cNvPr>
          <p:cNvSpPr>
            <a:spLocks noGrp="1"/>
          </p:cNvSpPr>
          <p:nvPr>
            <p:ph type="title"/>
          </p:nvPr>
        </p:nvSpPr>
        <p:spPr/>
        <p:txBody>
          <a:bodyPr/>
          <a:lstStyle/>
          <a:p>
            <a:r>
              <a:rPr lang="en-US" dirty="0"/>
              <a:t>TCP: The Reliable Transport Layer (2 of 5)</a:t>
            </a:r>
          </a:p>
        </p:txBody>
      </p:sp>
      <p:sp>
        <p:nvSpPr>
          <p:cNvPr id="3" name="Content Placeholder 2">
            <a:extLst>
              <a:ext uri="{FF2B5EF4-FFF2-40B4-BE49-F238E27FC236}">
                <a16:creationId xmlns:a16="http://schemas.microsoft.com/office/drawing/2014/main" id="{6B425E7E-C115-C884-BF75-F9EA4E8A75DB}"/>
              </a:ext>
            </a:extLst>
          </p:cNvPr>
          <p:cNvSpPr>
            <a:spLocks noGrp="1"/>
          </p:cNvSpPr>
          <p:nvPr>
            <p:ph idx="1"/>
          </p:nvPr>
        </p:nvSpPr>
        <p:spPr>
          <a:xfrm>
            <a:off x="476843" y="1708065"/>
            <a:ext cx="11241915" cy="4351338"/>
          </a:xfrm>
        </p:spPr>
        <p:txBody>
          <a:bodyPr/>
          <a:lstStyle/>
          <a:p>
            <a:r>
              <a:rPr lang="en-US" sz="2200" dirty="0"/>
              <a:t>A TCP session begins when a client sends a TCP synchronization (SYN) segment to the destination device, usually a server</a:t>
            </a:r>
          </a:p>
          <a:p>
            <a:r>
              <a:rPr lang="en-US" sz="2200" dirty="0"/>
              <a:t>A destination port is specified and a source port is assigned dynamically</a:t>
            </a:r>
          </a:p>
          <a:p>
            <a:r>
              <a:rPr lang="en-US" sz="2200" dirty="0"/>
              <a:t>When the server receives the SYN segment, it responds by sending either an acknowledgement-synchronization (ACK-SYN) segment or a reset connection (RST) segment</a:t>
            </a:r>
          </a:p>
          <a:p>
            <a:r>
              <a:rPr lang="en-US" sz="2200" dirty="0"/>
              <a:t>An RST is sent when the server refused the request to open the session</a:t>
            </a:r>
          </a:p>
          <a:p>
            <a:r>
              <a:rPr lang="en-US" sz="2200" dirty="0"/>
              <a:t>If an ACK-SYN is returned, the client completes the </a:t>
            </a:r>
            <a:r>
              <a:rPr lang="en-US" sz="2200" b="1" dirty="0"/>
              <a:t>three-way handshake </a:t>
            </a:r>
            <a:r>
              <a:rPr lang="en-US" sz="2200" dirty="0"/>
              <a:t>by sending an ACK segment back to the server</a:t>
            </a:r>
          </a:p>
          <a:p>
            <a:endParaRPr lang="en-US" dirty="0"/>
          </a:p>
        </p:txBody>
      </p:sp>
    </p:spTree>
    <p:extLst>
      <p:ext uri="{BB962C8B-B14F-4D97-AF65-F5344CB8AC3E}">
        <p14:creationId xmlns:p14="http://schemas.microsoft.com/office/powerpoint/2010/main" val="31469356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BB3B-3CAD-413D-4727-6248D9933A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C8EBBF-59E0-DEBC-A44F-75C940F9AEDF}"/>
              </a:ext>
            </a:extLst>
          </p:cNvPr>
          <p:cNvSpPr>
            <a:spLocks noGrp="1"/>
          </p:cNvSpPr>
          <p:nvPr>
            <p:ph type="title"/>
          </p:nvPr>
        </p:nvSpPr>
        <p:spPr/>
        <p:txBody>
          <a:bodyPr/>
          <a:lstStyle/>
          <a:p>
            <a:r>
              <a:rPr lang="en-US" dirty="0"/>
              <a:t>TCP: The Reliable Transport Layer (3 of 5)</a:t>
            </a:r>
          </a:p>
        </p:txBody>
      </p:sp>
      <p:sp>
        <p:nvSpPr>
          <p:cNvPr id="3" name="Content Placeholder 2">
            <a:extLst>
              <a:ext uri="{FF2B5EF4-FFF2-40B4-BE49-F238E27FC236}">
                <a16:creationId xmlns:a16="http://schemas.microsoft.com/office/drawing/2014/main" id="{D19123BC-BAA2-FB0A-8196-3C9F3F8AF777}"/>
              </a:ext>
            </a:extLst>
          </p:cNvPr>
          <p:cNvSpPr>
            <a:spLocks noGrp="1"/>
          </p:cNvSpPr>
          <p:nvPr>
            <p:ph idx="1"/>
          </p:nvPr>
        </p:nvSpPr>
        <p:spPr>
          <a:xfrm>
            <a:off x="476843" y="1708065"/>
            <a:ext cx="11241915" cy="4351338"/>
          </a:xfrm>
        </p:spPr>
        <p:txBody>
          <a:bodyPr/>
          <a:lstStyle/>
          <a:p>
            <a:r>
              <a:rPr lang="en-US" dirty="0"/>
              <a:t>When TCP receives data from the Application layer, the size might be too large to send in one piece</a:t>
            </a:r>
          </a:p>
          <a:p>
            <a:r>
              <a:rPr lang="en-US" dirty="0"/>
              <a:t>TCP breaks the data into smaller segments (max frame sent by Ethernet is 1518 bytes)</a:t>
            </a:r>
          </a:p>
          <a:p>
            <a:r>
              <a:rPr lang="en-US" dirty="0"/>
              <a:t>Each segment is labeled with a sequence number so that if segments arrive out of order they can be reassembled in the correct order</a:t>
            </a:r>
          </a:p>
          <a:p>
            <a:endParaRPr lang="en-US" dirty="0"/>
          </a:p>
          <a:p>
            <a:endParaRPr lang="en-US" dirty="0"/>
          </a:p>
        </p:txBody>
      </p:sp>
    </p:spTree>
    <p:extLst>
      <p:ext uri="{BB962C8B-B14F-4D97-AF65-F5344CB8AC3E}">
        <p14:creationId xmlns:p14="http://schemas.microsoft.com/office/powerpoint/2010/main" val="6090452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DFF80-CAB9-3A2D-4D0F-0AD70280C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14FF1E-EDAB-9C23-009F-A22C31AF285F}"/>
              </a:ext>
            </a:extLst>
          </p:cNvPr>
          <p:cNvSpPr>
            <a:spLocks noGrp="1"/>
          </p:cNvSpPr>
          <p:nvPr>
            <p:ph type="title"/>
          </p:nvPr>
        </p:nvSpPr>
        <p:spPr/>
        <p:txBody>
          <a:bodyPr/>
          <a:lstStyle/>
          <a:p>
            <a:r>
              <a:rPr lang="en-US" dirty="0"/>
              <a:t>TCP: The Reliable Transport Layer (4 of 5)</a:t>
            </a:r>
          </a:p>
        </p:txBody>
      </p:sp>
      <p:sp>
        <p:nvSpPr>
          <p:cNvPr id="3" name="Content Placeholder 2">
            <a:extLst>
              <a:ext uri="{FF2B5EF4-FFF2-40B4-BE49-F238E27FC236}">
                <a16:creationId xmlns:a16="http://schemas.microsoft.com/office/drawing/2014/main" id="{5F2ED462-0991-BAD3-E6D6-F8CBD5D0EC8D}"/>
              </a:ext>
            </a:extLst>
          </p:cNvPr>
          <p:cNvSpPr>
            <a:spLocks noGrp="1"/>
          </p:cNvSpPr>
          <p:nvPr>
            <p:ph idx="1"/>
          </p:nvPr>
        </p:nvSpPr>
        <p:spPr>
          <a:xfrm>
            <a:off x="476843" y="1708065"/>
            <a:ext cx="11241915" cy="4351338"/>
          </a:xfrm>
        </p:spPr>
        <p:txBody>
          <a:bodyPr/>
          <a:lstStyle/>
          <a:p>
            <a:r>
              <a:rPr lang="en-US" b="1" dirty="0"/>
              <a:t>Flow control </a:t>
            </a:r>
            <a:r>
              <a:rPr lang="en-US" dirty="0"/>
              <a:t>prevents a destination from becoming overwhelmed by data, resulting in dropped packets</a:t>
            </a:r>
          </a:p>
          <a:p>
            <a:r>
              <a:rPr lang="en-US" dirty="0"/>
              <a:t>TCP establishes a maximum number of bytes, called the “window size”, that can be sent before the destination must acknowledge the receipt of data</a:t>
            </a:r>
          </a:p>
          <a:p>
            <a:r>
              <a:rPr lang="en-US" dirty="0"/>
              <a:t>If no acknowledgement is received within a specified period of time, the sending station will retransmit from the point at which an acknowledgement was last received </a:t>
            </a:r>
          </a:p>
          <a:p>
            <a:endParaRPr lang="en-US" dirty="0"/>
          </a:p>
          <a:p>
            <a:endParaRPr lang="en-US" dirty="0"/>
          </a:p>
        </p:txBody>
      </p:sp>
    </p:spTree>
    <p:extLst>
      <p:ext uri="{BB962C8B-B14F-4D97-AF65-F5344CB8AC3E}">
        <p14:creationId xmlns:p14="http://schemas.microsoft.com/office/powerpoint/2010/main" val="38198031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TCP: The Reliable Transport Layer (5 of 5)</a:t>
            </a:r>
          </a:p>
        </p:txBody>
      </p:sp>
      <p:sp>
        <p:nvSpPr>
          <p:cNvPr id="5" name="TextBox 4">
            <a:extLst>
              <a:ext uri="{FF2B5EF4-FFF2-40B4-BE49-F238E27FC236}">
                <a16:creationId xmlns:a16="http://schemas.microsoft.com/office/drawing/2014/main" id="{7CB0BE92-E73F-42E9-B249-3B271B6E8AA4}"/>
              </a:ext>
            </a:extLst>
          </p:cNvPr>
          <p:cNvSpPr txBox="1"/>
          <p:nvPr/>
        </p:nvSpPr>
        <p:spPr>
          <a:xfrm>
            <a:off x="7424160" y="2845721"/>
            <a:ext cx="4294598" cy="1200329"/>
          </a:xfrm>
          <a:prstGeom prst="rect">
            <a:avLst/>
          </a:prstGeom>
          <a:noFill/>
        </p:spPr>
        <p:txBody>
          <a:bodyPr wrap="square" rtlCol="0">
            <a:spAutoFit/>
          </a:bodyPr>
          <a:lstStyle/>
          <a:p>
            <a:r>
              <a:rPr lang="en-US" sz="2400" b="1" dirty="0">
                <a:latin typeface="Work Sans" pitchFamily="2" charset="0"/>
              </a:rPr>
              <a:t>Figure 5-17  </a:t>
            </a:r>
            <a:r>
              <a:rPr lang="en-US" sz="2400" dirty="0">
                <a:latin typeface="Work Sans" pitchFamily="2" charset="0"/>
              </a:rPr>
              <a:t>An HTTP message with a TCP header</a:t>
            </a:r>
          </a:p>
        </p:txBody>
      </p:sp>
      <p:pic>
        <p:nvPicPr>
          <p:cNvPr id="4" name="Picture 3" descr="A segment created by the transport layer which is made of a header added to the data from the application layer. The T C P header has the following information. Source port: 4921. Destination port: 80. The H T T P data contains the following information. GET H T T P 1.1 w w w dot cengage dot com.&#10;">
            <a:extLst>
              <a:ext uri="{FF2B5EF4-FFF2-40B4-BE49-F238E27FC236}">
                <a16:creationId xmlns:a16="http://schemas.microsoft.com/office/drawing/2014/main" id="{46A7E83B-7578-782B-8380-B070A6D19DA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79680" y="1815453"/>
            <a:ext cx="4369900" cy="3260863"/>
          </a:xfrm>
          <a:prstGeom prst="rect">
            <a:avLst/>
          </a:prstGeom>
        </p:spPr>
      </p:pic>
    </p:spTree>
    <p:extLst>
      <p:ext uri="{BB962C8B-B14F-4D97-AF65-F5344CB8AC3E}">
        <p14:creationId xmlns:p14="http://schemas.microsoft.com/office/powerpoint/2010/main" val="38506307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4FF51-EB0C-6679-0941-48297C765AED}"/>
              </a:ext>
            </a:extLst>
          </p:cNvPr>
          <p:cNvSpPr>
            <a:spLocks noGrp="1"/>
          </p:cNvSpPr>
          <p:nvPr>
            <p:ph type="title"/>
          </p:nvPr>
        </p:nvSpPr>
        <p:spPr/>
        <p:txBody>
          <a:bodyPr/>
          <a:lstStyle/>
          <a:p>
            <a:r>
              <a:rPr lang="en-US" dirty="0"/>
              <a:t>Internetwork Layer Protocols</a:t>
            </a:r>
          </a:p>
        </p:txBody>
      </p:sp>
      <p:sp>
        <p:nvSpPr>
          <p:cNvPr id="3" name="Content Placeholder 2">
            <a:extLst>
              <a:ext uri="{FF2B5EF4-FFF2-40B4-BE49-F238E27FC236}">
                <a16:creationId xmlns:a16="http://schemas.microsoft.com/office/drawing/2014/main" id="{9E96FAE0-6AE6-0E5A-86A5-B89FC9447190}"/>
              </a:ext>
            </a:extLst>
          </p:cNvPr>
          <p:cNvSpPr>
            <a:spLocks noGrp="1"/>
          </p:cNvSpPr>
          <p:nvPr>
            <p:ph idx="1"/>
          </p:nvPr>
        </p:nvSpPr>
        <p:spPr/>
        <p:txBody>
          <a:bodyPr/>
          <a:lstStyle/>
          <a:p>
            <a:r>
              <a:rPr lang="en-US" dirty="0"/>
              <a:t>The Internetwork layer is where IP protocol operates and is the heart of the TCP/IP protocol suite</a:t>
            </a:r>
          </a:p>
          <a:p>
            <a:r>
              <a:rPr lang="en-US" dirty="0"/>
              <a:t>The Internetwork layer is responsible for four main tasks:</a:t>
            </a:r>
          </a:p>
          <a:p>
            <a:pPr lvl="1"/>
            <a:r>
              <a:rPr lang="en-US" sz="2200" dirty="0"/>
              <a:t>Defines and verifies IP addresses</a:t>
            </a:r>
          </a:p>
          <a:p>
            <a:pPr lvl="1"/>
            <a:r>
              <a:rPr lang="en-US" sz="2200" dirty="0"/>
              <a:t>Routes packets through an internetwork</a:t>
            </a:r>
          </a:p>
          <a:p>
            <a:pPr lvl="1"/>
            <a:r>
              <a:rPr lang="en-US" sz="2200" dirty="0"/>
              <a:t>Resolves MAC addresses from IP addresses</a:t>
            </a:r>
          </a:p>
          <a:p>
            <a:pPr lvl="1"/>
            <a:r>
              <a:rPr lang="en-US" sz="2200" dirty="0"/>
              <a:t>Delivers packets efficiently</a:t>
            </a:r>
          </a:p>
          <a:p>
            <a:endParaRPr lang="en-US" dirty="0"/>
          </a:p>
        </p:txBody>
      </p:sp>
    </p:spTree>
    <p:extLst>
      <p:ext uri="{BB962C8B-B14F-4D97-AF65-F5344CB8AC3E}">
        <p14:creationId xmlns:p14="http://schemas.microsoft.com/office/powerpoint/2010/main" val="17466795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FB3CD-4710-E3DB-68F0-55F71E84949C}"/>
              </a:ext>
            </a:extLst>
          </p:cNvPr>
          <p:cNvSpPr>
            <a:spLocks noGrp="1"/>
          </p:cNvSpPr>
          <p:nvPr>
            <p:ph type="title"/>
          </p:nvPr>
        </p:nvSpPr>
        <p:spPr/>
        <p:txBody>
          <a:bodyPr/>
          <a:lstStyle/>
          <a:p>
            <a:r>
              <a:rPr lang="en-US" dirty="0"/>
              <a:t>Defines and Verifies IP Addresses</a:t>
            </a:r>
          </a:p>
        </p:txBody>
      </p:sp>
      <p:sp>
        <p:nvSpPr>
          <p:cNvPr id="3" name="Content Placeholder 2">
            <a:extLst>
              <a:ext uri="{FF2B5EF4-FFF2-40B4-BE49-F238E27FC236}">
                <a16:creationId xmlns:a16="http://schemas.microsoft.com/office/drawing/2014/main" id="{95FEE121-3B2D-6A7A-B3B0-45DCF49F86BC}"/>
              </a:ext>
            </a:extLst>
          </p:cNvPr>
          <p:cNvSpPr>
            <a:spLocks noGrp="1"/>
          </p:cNvSpPr>
          <p:nvPr>
            <p:ph idx="1"/>
          </p:nvPr>
        </p:nvSpPr>
        <p:spPr>
          <a:xfrm>
            <a:off x="476843" y="1690692"/>
            <a:ext cx="11241915" cy="4351338"/>
          </a:xfrm>
        </p:spPr>
        <p:txBody>
          <a:bodyPr/>
          <a:lstStyle/>
          <a:p>
            <a:r>
              <a:rPr lang="en-US" sz="2200" dirty="0"/>
              <a:t>An IP address is essential for devices using TCP/IP for communications</a:t>
            </a:r>
          </a:p>
          <a:p>
            <a:r>
              <a:rPr lang="en-US" sz="2200" dirty="0"/>
              <a:t>IP addresses are used for two main purposes:</a:t>
            </a:r>
          </a:p>
          <a:p>
            <a:pPr lvl="1"/>
            <a:r>
              <a:rPr lang="en-US" sz="2200" dirty="0"/>
              <a:t>To identify a network device at the Internetwork layer</a:t>
            </a:r>
          </a:p>
          <a:p>
            <a:pPr lvl="1"/>
            <a:r>
              <a:rPr lang="en-US" sz="2200" dirty="0"/>
              <a:t>To identify the network on which a device resides</a:t>
            </a:r>
          </a:p>
          <a:p>
            <a:r>
              <a:rPr lang="en-US" sz="2200" dirty="0"/>
              <a:t>When a device receives an IP packet, it compares the destination IP address with its own:</a:t>
            </a:r>
          </a:p>
          <a:p>
            <a:pPr lvl="1"/>
            <a:r>
              <a:rPr lang="en-US" sz="2200" dirty="0"/>
              <a:t>If it matches or is a broadcast, the packet is processed</a:t>
            </a:r>
          </a:p>
          <a:p>
            <a:pPr lvl="1"/>
            <a:r>
              <a:rPr lang="en-US" sz="2200" dirty="0"/>
              <a:t>It is does not match then it is discarded</a:t>
            </a:r>
          </a:p>
          <a:p>
            <a:r>
              <a:rPr lang="en-US" sz="2200" dirty="0"/>
              <a:t>Every IP address contains two parts: A network ID and a host ID</a:t>
            </a:r>
          </a:p>
          <a:p>
            <a:endParaRPr lang="en-US" dirty="0"/>
          </a:p>
        </p:txBody>
      </p:sp>
    </p:spTree>
    <p:extLst>
      <p:ext uri="{BB962C8B-B14F-4D97-AF65-F5344CB8AC3E}">
        <p14:creationId xmlns:p14="http://schemas.microsoft.com/office/powerpoint/2010/main" val="20414252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18895-FE8A-455A-D9A2-965913E71F4A}"/>
              </a:ext>
            </a:extLst>
          </p:cNvPr>
          <p:cNvSpPr>
            <a:spLocks noGrp="1"/>
          </p:cNvSpPr>
          <p:nvPr>
            <p:ph type="title"/>
          </p:nvPr>
        </p:nvSpPr>
        <p:spPr/>
        <p:txBody>
          <a:bodyPr/>
          <a:lstStyle/>
          <a:p>
            <a:r>
              <a:rPr lang="en-US" dirty="0"/>
              <a:t>Routes Packets through an Internetwork</a:t>
            </a:r>
          </a:p>
        </p:txBody>
      </p:sp>
      <p:sp>
        <p:nvSpPr>
          <p:cNvPr id="3" name="Content Placeholder 2">
            <a:extLst>
              <a:ext uri="{FF2B5EF4-FFF2-40B4-BE49-F238E27FC236}">
                <a16:creationId xmlns:a16="http://schemas.microsoft.com/office/drawing/2014/main" id="{85050B78-A0DA-19A7-1074-D53D25A44FCB}"/>
              </a:ext>
            </a:extLst>
          </p:cNvPr>
          <p:cNvSpPr>
            <a:spLocks noGrp="1"/>
          </p:cNvSpPr>
          <p:nvPr>
            <p:ph idx="1"/>
          </p:nvPr>
        </p:nvSpPr>
        <p:spPr/>
        <p:txBody>
          <a:bodyPr/>
          <a:lstStyle/>
          <a:p>
            <a:r>
              <a:rPr lang="en-US" dirty="0"/>
              <a:t>The Internetwork layer determines the best way to get a packet from network to network until it reaches its destination</a:t>
            </a:r>
          </a:p>
          <a:p>
            <a:r>
              <a:rPr lang="en-US" dirty="0"/>
              <a:t>Most large internetworks (the Internet) have multiple paths for getting from one network to another</a:t>
            </a:r>
          </a:p>
          <a:p>
            <a:r>
              <a:rPr lang="en-US" dirty="0"/>
              <a:t>Routers work at the Internetwork layer and it is their job to select the best path to the destination</a:t>
            </a:r>
          </a:p>
          <a:p>
            <a:r>
              <a:rPr lang="en-US" dirty="0"/>
              <a:t>Routers use the network ID portion of IP addresses along with their routing tables to determine the best path</a:t>
            </a:r>
          </a:p>
          <a:p>
            <a:endParaRPr lang="en-US" dirty="0"/>
          </a:p>
        </p:txBody>
      </p:sp>
    </p:spTree>
    <p:extLst>
      <p:ext uri="{BB962C8B-B14F-4D97-AF65-F5344CB8AC3E}">
        <p14:creationId xmlns:p14="http://schemas.microsoft.com/office/powerpoint/2010/main" val="21540458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C051C-661A-D04E-BF05-F2F7F5039401}"/>
              </a:ext>
            </a:extLst>
          </p:cNvPr>
          <p:cNvSpPr>
            <a:spLocks noGrp="1"/>
          </p:cNvSpPr>
          <p:nvPr>
            <p:ph type="title"/>
          </p:nvPr>
        </p:nvSpPr>
        <p:spPr/>
        <p:txBody>
          <a:bodyPr/>
          <a:lstStyle/>
          <a:p>
            <a:r>
              <a:rPr lang="en-US" dirty="0"/>
              <a:t>Resolves MAC Addresses from IP Addresses</a:t>
            </a:r>
          </a:p>
        </p:txBody>
      </p:sp>
      <p:sp>
        <p:nvSpPr>
          <p:cNvPr id="3" name="Content Placeholder 2">
            <a:extLst>
              <a:ext uri="{FF2B5EF4-FFF2-40B4-BE49-F238E27FC236}">
                <a16:creationId xmlns:a16="http://schemas.microsoft.com/office/drawing/2014/main" id="{65F1A14F-25DD-996C-AE03-262766ABE85D}"/>
              </a:ext>
            </a:extLst>
          </p:cNvPr>
          <p:cNvSpPr>
            <a:spLocks noGrp="1"/>
          </p:cNvSpPr>
          <p:nvPr>
            <p:ph idx="1"/>
          </p:nvPr>
        </p:nvSpPr>
        <p:spPr/>
        <p:txBody>
          <a:bodyPr/>
          <a:lstStyle/>
          <a:p>
            <a:r>
              <a:rPr lang="en-US" dirty="0"/>
              <a:t>Every frame contains both physical (MAC) and logical (IP) source and destination addresses</a:t>
            </a:r>
          </a:p>
          <a:p>
            <a:r>
              <a:rPr lang="en-US" dirty="0"/>
              <a:t>When a packet is ready to be sent to the Network access layer, the destination device’s MAC address must be retrieved before the frame header can be constructed</a:t>
            </a:r>
          </a:p>
          <a:p>
            <a:r>
              <a:rPr lang="en-US" dirty="0"/>
              <a:t>TCP/IP uses Address Resolution Protocol (ARP) to find MAC addresses</a:t>
            </a:r>
          </a:p>
          <a:p>
            <a:r>
              <a:rPr lang="en-US" dirty="0"/>
              <a:t>ARP is discussed in more detail later in the chapter</a:t>
            </a:r>
          </a:p>
          <a:p>
            <a:endParaRPr lang="en-US" dirty="0"/>
          </a:p>
        </p:txBody>
      </p:sp>
    </p:spTree>
    <p:extLst>
      <p:ext uri="{BB962C8B-B14F-4D97-AF65-F5344CB8AC3E}">
        <p14:creationId xmlns:p14="http://schemas.microsoft.com/office/powerpoint/2010/main" val="9871611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5DF55-643E-7770-36FC-B09DDC16A01C}"/>
              </a:ext>
            </a:extLst>
          </p:cNvPr>
          <p:cNvSpPr>
            <a:spLocks noGrp="1"/>
          </p:cNvSpPr>
          <p:nvPr>
            <p:ph type="title"/>
          </p:nvPr>
        </p:nvSpPr>
        <p:spPr/>
        <p:txBody>
          <a:bodyPr/>
          <a:lstStyle/>
          <a:p>
            <a:r>
              <a:rPr lang="en-US" dirty="0"/>
              <a:t>Delivers Packets Efficiently</a:t>
            </a:r>
          </a:p>
        </p:txBody>
      </p:sp>
      <p:sp>
        <p:nvSpPr>
          <p:cNvPr id="3" name="Content Placeholder 2">
            <a:extLst>
              <a:ext uri="{FF2B5EF4-FFF2-40B4-BE49-F238E27FC236}">
                <a16:creationId xmlns:a16="http://schemas.microsoft.com/office/drawing/2014/main" id="{6EE90203-E1A1-8D0B-37BF-C2F898804E84}"/>
              </a:ext>
            </a:extLst>
          </p:cNvPr>
          <p:cNvSpPr>
            <a:spLocks noGrp="1"/>
          </p:cNvSpPr>
          <p:nvPr>
            <p:ph idx="1"/>
          </p:nvPr>
        </p:nvSpPr>
        <p:spPr/>
        <p:txBody>
          <a:bodyPr/>
          <a:lstStyle/>
          <a:p>
            <a:r>
              <a:rPr lang="en-US" dirty="0"/>
              <a:t>Internetwork layer protocols primarily focus on efficient delivery of packets</a:t>
            </a:r>
          </a:p>
          <a:p>
            <a:pPr lvl="1"/>
            <a:r>
              <a:rPr lang="en-US" sz="2200" dirty="0"/>
              <a:t>Features such as flow control, delivery confirmation or message assembly are not included in Internetwork layer protocols</a:t>
            </a:r>
          </a:p>
          <a:p>
            <a:pPr lvl="1"/>
            <a:r>
              <a:rPr lang="en-US" sz="2200" dirty="0"/>
              <a:t>These features require overhead to ensure reliable delivery</a:t>
            </a:r>
          </a:p>
          <a:p>
            <a:r>
              <a:rPr lang="en-US" dirty="0"/>
              <a:t>Internetwork layer protocols rely on the protocols in the Transport and Application layers to provide reliability features</a:t>
            </a:r>
          </a:p>
          <a:p>
            <a:r>
              <a:rPr lang="en-US" dirty="0"/>
              <a:t>These protocols are considered </a:t>
            </a:r>
            <a:r>
              <a:rPr lang="en-US" b="1" dirty="0"/>
              <a:t>connectionless protocols</a:t>
            </a:r>
            <a:r>
              <a:rPr lang="en-US" dirty="0"/>
              <a:t>, because they rely on upper layer protocols to ensure the packet’s safe journey</a:t>
            </a:r>
          </a:p>
          <a:p>
            <a:endParaRPr lang="en-US" dirty="0"/>
          </a:p>
        </p:txBody>
      </p:sp>
    </p:spTree>
    <p:extLst>
      <p:ext uri="{BB962C8B-B14F-4D97-AF65-F5344CB8AC3E}">
        <p14:creationId xmlns:p14="http://schemas.microsoft.com/office/powerpoint/2010/main" val="6343406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81053-D810-6A1C-CB6C-AE99B305D514}"/>
              </a:ext>
            </a:extLst>
          </p:cNvPr>
          <p:cNvSpPr>
            <a:spLocks noGrp="1"/>
          </p:cNvSpPr>
          <p:nvPr>
            <p:ph type="title"/>
          </p:nvPr>
        </p:nvSpPr>
        <p:spPr/>
        <p:txBody>
          <a:bodyPr/>
          <a:lstStyle/>
          <a:p>
            <a:r>
              <a:rPr lang="en-US" dirty="0"/>
              <a:t>Protocols at the Internetwork Layer (1 of 6)</a:t>
            </a:r>
          </a:p>
        </p:txBody>
      </p:sp>
      <p:sp>
        <p:nvSpPr>
          <p:cNvPr id="3" name="Content Placeholder 2">
            <a:extLst>
              <a:ext uri="{FF2B5EF4-FFF2-40B4-BE49-F238E27FC236}">
                <a16:creationId xmlns:a16="http://schemas.microsoft.com/office/drawing/2014/main" id="{BB0A04FF-40E9-7CD4-93B2-6DC62434A4CF}"/>
              </a:ext>
            </a:extLst>
          </p:cNvPr>
          <p:cNvSpPr>
            <a:spLocks noGrp="1"/>
          </p:cNvSpPr>
          <p:nvPr>
            <p:ph idx="1"/>
          </p:nvPr>
        </p:nvSpPr>
        <p:spPr/>
        <p:txBody>
          <a:bodyPr/>
          <a:lstStyle/>
          <a:p>
            <a:r>
              <a:rPr lang="en-US" b="1" dirty="0"/>
              <a:t>Internet Protocol Version 4 </a:t>
            </a:r>
            <a:r>
              <a:rPr lang="en-US" dirty="0"/>
              <a:t>(</a:t>
            </a:r>
            <a:r>
              <a:rPr lang="en-US" b="1" dirty="0"/>
              <a:t>IPv4</a:t>
            </a:r>
            <a:r>
              <a:rPr lang="en-US" dirty="0"/>
              <a:t>) is also known as “IP”</a:t>
            </a:r>
          </a:p>
          <a:p>
            <a:r>
              <a:rPr lang="en-US" dirty="0"/>
              <a:t>IPv4 is the most common version in networks and the first version that was in widespread use</a:t>
            </a:r>
          </a:p>
          <a:p>
            <a:pPr lvl="1"/>
            <a:r>
              <a:rPr lang="en-US" sz="2200" dirty="0"/>
              <a:t>It defines a 32-bit dotted decimal IP address</a:t>
            </a:r>
          </a:p>
          <a:p>
            <a:pPr lvl="1"/>
            <a:r>
              <a:rPr lang="en-US" sz="2200" dirty="0"/>
              <a:t>Example: 172.31.149.10</a:t>
            </a:r>
          </a:p>
          <a:p>
            <a:r>
              <a:rPr lang="en-US" dirty="0"/>
              <a:t>Important fields in an IP packet:</a:t>
            </a:r>
          </a:p>
          <a:p>
            <a:pPr lvl="1"/>
            <a:r>
              <a:rPr lang="en-US" sz="2200" dirty="0"/>
              <a:t>Version, time to live (TTL), protocol, checksum, and source and destination addresses</a:t>
            </a:r>
          </a:p>
          <a:p>
            <a:pPr lvl="1"/>
            <a:endParaRPr lang="en-US" sz="2200" dirty="0"/>
          </a:p>
          <a:p>
            <a:endParaRPr lang="en-US" dirty="0"/>
          </a:p>
        </p:txBody>
      </p:sp>
    </p:spTree>
    <p:extLst>
      <p:ext uri="{BB962C8B-B14F-4D97-AF65-F5344CB8AC3E}">
        <p14:creationId xmlns:p14="http://schemas.microsoft.com/office/powerpoint/2010/main" val="36973863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90D27-CE65-DE50-187D-177BD3B214DB}"/>
              </a:ext>
            </a:extLst>
          </p:cNvPr>
          <p:cNvSpPr>
            <a:spLocks noGrp="1"/>
          </p:cNvSpPr>
          <p:nvPr>
            <p:ph type="title"/>
          </p:nvPr>
        </p:nvSpPr>
        <p:spPr>
          <a:xfrm>
            <a:off x="476843" y="494427"/>
            <a:ext cx="11241915" cy="1217447"/>
          </a:xfrm>
        </p:spPr>
        <p:txBody>
          <a:bodyPr/>
          <a:lstStyle/>
          <a:p>
            <a:r>
              <a:rPr lang="en-US" dirty="0"/>
              <a:t>Protocols at the Internetwork Layer (2 of 6)</a:t>
            </a:r>
          </a:p>
        </p:txBody>
      </p:sp>
      <p:sp>
        <p:nvSpPr>
          <p:cNvPr id="3" name="Content Placeholder 2">
            <a:extLst>
              <a:ext uri="{FF2B5EF4-FFF2-40B4-BE49-F238E27FC236}">
                <a16:creationId xmlns:a16="http://schemas.microsoft.com/office/drawing/2014/main" id="{8429AEE9-0796-86B1-F6CE-024DF83ED2F1}"/>
              </a:ext>
            </a:extLst>
          </p:cNvPr>
          <p:cNvSpPr>
            <a:spLocks noGrp="1"/>
          </p:cNvSpPr>
          <p:nvPr>
            <p:ph idx="1"/>
          </p:nvPr>
        </p:nvSpPr>
        <p:spPr/>
        <p:txBody>
          <a:bodyPr/>
          <a:lstStyle/>
          <a:p>
            <a:r>
              <a:rPr lang="en-US" b="1" dirty="0"/>
              <a:t>Internet Protocol version 6 </a:t>
            </a:r>
            <a:r>
              <a:rPr lang="en-US" dirty="0"/>
              <a:t>uses a different format for IP addresses than IPv4</a:t>
            </a:r>
          </a:p>
          <a:p>
            <a:pPr lvl="1"/>
            <a:r>
              <a:rPr lang="en-US" sz="2200" dirty="0"/>
              <a:t>IPv6 can run alongside IPv4 without needing to change the Transport Layer or Network Access Layer</a:t>
            </a:r>
          </a:p>
          <a:p>
            <a:r>
              <a:rPr lang="en-US" dirty="0"/>
              <a:t>Improvements and changes from IPv4:</a:t>
            </a:r>
          </a:p>
          <a:p>
            <a:pPr lvl="1"/>
            <a:r>
              <a:rPr lang="en-US" sz="2200" dirty="0"/>
              <a:t>Larger address space, hierarchical address space, autoconfiguration, built-in Quality of Service (QoS) support, built-in support for security, support for mobility, extensibility</a:t>
            </a:r>
          </a:p>
          <a:p>
            <a:endParaRPr lang="en-US" dirty="0"/>
          </a:p>
        </p:txBody>
      </p:sp>
    </p:spTree>
    <p:extLst>
      <p:ext uri="{BB962C8B-B14F-4D97-AF65-F5344CB8AC3E}">
        <p14:creationId xmlns:p14="http://schemas.microsoft.com/office/powerpoint/2010/main" val="36240375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EE85C-B9B5-B001-1D49-E7F10CDD15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4930D-FB8F-8D2D-A7BB-E4A08B0529C8}"/>
              </a:ext>
            </a:extLst>
          </p:cNvPr>
          <p:cNvSpPr>
            <a:spLocks noGrp="1"/>
          </p:cNvSpPr>
          <p:nvPr>
            <p:ph type="title"/>
          </p:nvPr>
        </p:nvSpPr>
        <p:spPr/>
        <p:txBody>
          <a:bodyPr/>
          <a:lstStyle/>
          <a:p>
            <a:r>
              <a:rPr lang="en-US" dirty="0"/>
              <a:t>Protocols at the Internetwork Layer (3 of 6)</a:t>
            </a:r>
          </a:p>
        </p:txBody>
      </p:sp>
      <p:sp>
        <p:nvSpPr>
          <p:cNvPr id="3" name="Content Placeholder 2">
            <a:extLst>
              <a:ext uri="{FF2B5EF4-FFF2-40B4-BE49-F238E27FC236}">
                <a16:creationId xmlns:a16="http://schemas.microsoft.com/office/drawing/2014/main" id="{8298C157-E65B-F5DE-D54A-F4CBB9821C28}"/>
              </a:ext>
            </a:extLst>
          </p:cNvPr>
          <p:cNvSpPr>
            <a:spLocks noGrp="1"/>
          </p:cNvSpPr>
          <p:nvPr>
            <p:ph idx="1"/>
          </p:nvPr>
        </p:nvSpPr>
        <p:spPr/>
        <p:txBody>
          <a:bodyPr/>
          <a:lstStyle/>
          <a:p>
            <a:r>
              <a:rPr lang="en-US" b="1" dirty="0"/>
              <a:t>Address Resolution Protocol </a:t>
            </a:r>
            <a:r>
              <a:rPr lang="en-US" dirty="0"/>
              <a:t>(</a:t>
            </a:r>
            <a:r>
              <a:rPr lang="en-US" b="1" dirty="0"/>
              <a:t>ARP</a:t>
            </a:r>
            <a:r>
              <a:rPr lang="en-US" dirty="0"/>
              <a:t>) is used to resolve a logical (IP) address to physical (MAC) address</a:t>
            </a:r>
          </a:p>
          <a:p>
            <a:pPr lvl="1"/>
            <a:r>
              <a:rPr lang="en-US" sz="2200" dirty="0"/>
              <a:t>When a source doesn’t have the destination’s MAC it sends out an ARP broadcast frame requesting the MAC address corresponding to the host’s IP address</a:t>
            </a:r>
          </a:p>
          <a:p>
            <a:pPr lvl="1"/>
            <a:r>
              <a:rPr lang="en-US" sz="2200" dirty="0"/>
              <a:t>A network device configured with the specified IP address responds with an ARP reply containing its MAC address</a:t>
            </a:r>
          </a:p>
          <a:p>
            <a:pPr lvl="1"/>
            <a:r>
              <a:rPr lang="en-US" sz="2200" dirty="0"/>
              <a:t>To avoid sending an ARP request every time, PCs and other devices store learned IP address/MAC address pairs in an </a:t>
            </a:r>
            <a:r>
              <a:rPr lang="en-US" sz="2200" b="1" dirty="0"/>
              <a:t>ARP cache </a:t>
            </a:r>
            <a:r>
              <a:rPr lang="en-US" sz="2200" dirty="0"/>
              <a:t>which is a temporary location in RAM</a:t>
            </a:r>
          </a:p>
          <a:p>
            <a:endParaRPr lang="en-US" dirty="0"/>
          </a:p>
          <a:p>
            <a:endParaRPr lang="en-US" dirty="0"/>
          </a:p>
        </p:txBody>
      </p:sp>
    </p:spTree>
    <p:extLst>
      <p:ext uri="{BB962C8B-B14F-4D97-AF65-F5344CB8AC3E}">
        <p14:creationId xmlns:p14="http://schemas.microsoft.com/office/powerpoint/2010/main" val="2847116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46665-F86A-355E-E715-703763357D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245FF-1BFD-5C7D-8DD8-3D218D346AF4}"/>
              </a:ext>
            </a:extLst>
          </p:cNvPr>
          <p:cNvSpPr>
            <a:spLocks noGrp="1"/>
          </p:cNvSpPr>
          <p:nvPr>
            <p:ph type="title"/>
          </p:nvPr>
        </p:nvSpPr>
        <p:spPr/>
        <p:txBody>
          <a:bodyPr/>
          <a:lstStyle/>
          <a:p>
            <a:r>
              <a:rPr lang="en-US" dirty="0"/>
              <a:t>Protocols at the Internetwork Layer (4 of 6)</a:t>
            </a:r>
          </a:p>
        </p:txBody>
      </p:sp>
      <p:sp>
        <p:nvSpPr>
          <p:cNvPr id="5" name="TextBox 4">
            <a:extLst>
              <a:ext uri="{FF2B5EF4-FFF2-40B4-BE49-F238E27FC236}">
                <a16:creationId xmlns:a16="http://schemas.microsoft.com/office/drawing/2014/main" id="{3750EE03-1646-A98E-D129-99939B678BC0}"/>
              </a:ext>
            </a:extLst>
          </p:cNvPr>
          <p:cNvSpPr txBox="1"/>
          <p:nvPr/>
        </p:nvSpPr>
        <p:spPr>
          <a:xfrm>
            <a:off x="7424160" y="3013501"/>
            <a:ext cx="4294598" cy="1200329"/>
          </a:xfrm>
          <a:prstGeom prst="rect">
            <a:avLst/>
          </a:prstGeom>
          <a:noFill/>
        </p:spPr>
        <p:txBody>
          <a:bodyPr wrap="square" rtlCol="0">
            <a:spAutoFit/>
          </a:bodyPr>
          <a:lstStyle/>
          <a:p>
            <a:r>
              <a:rPr lang="en-US" sz="2400" b="1" dirty="0">
                <a:latin typeface="Work Sans" pitchFamily="2" charset="0"/>
              </a:rPr>
              <a:t>Figure 5-19  </a:t>
            </a:r>
            <a:r>
              <a:rPr lang="en-US" sz="2400" dirty="0">
                <a:latin typeface="Work Sans" pitchFamily="2" charset="0"/>
              </a:rPr>
              <a:t>How MAC addresses are used in an internetwork</a:t>
            </a:r>
          </a:p>
        </p:txBody>
      </p:sp>
      <p:pic>
        <p:nvPicPr>
          <p:cNvPr id="4" name="Picture 3" descr="A demonstration of how MAC addresses are used in an internetwork when a computer sends a message to another computer. A network is indicated with computer 1 connected to a switch. The switch is connected to router R 1. Router R 1 is connected to router R 2. Router R 2 is connected to router R 3. R 3 is connected to a switch and Computer 2 is connected to this switch. Computer 1 has the I P address 192 dot 168 dot 100 dot 10 and MAC address 0 0 colon 1 d colon d 8 colon b 7 colon 1 c colon 0 1. Computer 2 has the I P address 172 dot 16 dot 11 dot 5 and MAC address 0 0 colon 1 d colon d 8 colon A 4 colon B 9 colon 41. Router R 1 has the I P address 192 dot 168 dot 100 dot 254 and MAC address 0 0 colon 0 C colon 85 colon 15 colon 31 colon 5 B. Router R 3 has the I P address 172 dot 16 dot 11 dot 254 and MAC address 0 0 colon 0 C colon 85 colon 15 colon 64 colon 8 C. Computer 1 needs to send a message to computer 2. A packet with the following information is sent to router R 1. Message to computer 2. Destination MAC: 0 0 colon 0 C colon F 1 colon F 1 colon 15 colon 31 colon 5 B. Source MAC: 0 0 colon 1 d colon d 8 colon b 7 colon 1 c colon 0 1. Destination I P: 172 dot 16 dot 11 dot 5. Source I P: 192 dot 168 dot 100 dot 10. After traversing the network, Router R 3 sends a packet with the following information to Computer 2. Destination MAC: 0 0 colon 1 d colon d 8 colon A 4 colon B 9 colon 41. Source MAC: 0 0 colon 0 C colon 85 colon 15 colon 64 colon 8 C. Destination I P: 172 dot 16 dot 11 dot 5. Source I P: 192 dot 168 dot 100 dot 10. In the original message from computer 1, the destination MAC address listed is that of router R 1. When the message reaches the destination network connected to router 3, the destination MAC address listed is that of computer 2. Also, the source MAC address listed is that of router 3. The source and destination MAC addresses change at each router in the path but the source and destination IP addresses remain the same throughout the journey.&#10;">
            <a:extLst>
              <a:ext uri="{FF2B5EF4-FFF2-40B4-BE49-F238E27FC236}">
                <a16:creationId xmlns:a16="http://schemas.microsoft.com/office/drawing/2014/main" id="{D598F14D-7EB2-E58F-F1A2-F2BDE535E97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82913" y="1868841"/>
            <a:ext cx="4690612" cy="3489647"/>
          </a:xfrm>
          <a:prstGeom prst="rect">
            <a:avLst/>
          </a:prstGeom>
        </p:spPr>
      </p:pic>
    </p:spTree>
    <p:extLst>
      <p:ext uri="{BB962C8B-B14F-4D97-AF65-F5344CB8AC3E}">
        <p14:creationId xmlns:p14="http://schemas.microsoft.com/office/powerpoint/2010/main" val="11453987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DF2B8-61F4-0231-8B1D-FD5A189C6345}"/>
              </a:ext>
            </a:extLst>
          </p:cNvPr>
          <p:cNvSpPr>
            <a:spLocks noGrp="1"/>
          </p:cNvSpPr>
          <p:nvPr>
            <p:ph type="title"/>
          </p:nvPr>
        </p:nvSpPr>
        <p:spPr/>
        <p:txBody>
          <a:bodyPr/>
          <a:lstStyle/>
          <a:p>
            <a:r>
              <a:rPr lang="en-US" dirty="0"/>
              <a:t>Protocols at the Internetwork Layer (5 of 6)</a:t>
            </a:r>
          </a:p>
        </p:txBody>
      </p:sp>
      <p:sp>
        <p:nvSpPr>
          <p:cNvPr id="3" name="Content Placeholder 2">
            <a:extLst>
              <a:ext uri="{FF2B5EF4-FFF2-40B4-BE49-F238E27FC236}">
                <a16:creationId xmlns:a16="http://schemas.microsoft.com/office/drawing/2014/main" id="{E3088795-3791-D530-A421-EBCB61244684}"/>
              </a:ext>
            </a:extLst>
          </p:cNvPr>
          <p:cNvSpPr>
            <a:spLocks noGrp="1"/>
          </p:cNvSpPr>
          <p:nvPr>
            <p:ph idx="1"/>
          </p:nvPr>
        </p:nvSpPr>
        <p:spPr/>
        <p:txBody>
          <a:bodyPr/>
          <a:lstStyle/>
          <a:p>
            <a:r>
              <a:rPr lang="en-US" b="1" dirty="0"/>
              <a:t>Internet Control Message Protocol (ICMP) </a:t>
            </a:r>
            <a:r>
              <a:rPr lang="en-US" dirty="0"/>
              <a:t>is used to send error, status, and control messages between systems or devices</a:t>
            </a:r>
          </a:p>
          <a:p>
            <a:pPr lvl="1"/>
            <a:r>
              <a:rPr lang="en-US" sz="2200" dirty="0"/>
              <a:t>The </a:t>
            </a:r>
            <a:r>
              <a:rPr lang="en-US" sz="2200" b="1" dirty="0">
                <a:latin typeface="Courier New" panose="02070309020205020404" pitchFamily="49" charset="0"/>
                <a:cs typeface="Courier New" panose="02070309020205020404" pitchFamily="49" charset="0"/>
              </a:rPr>
              <a:t>ping </a:t>
            </a:r>
            <a:r>
              <a:rPr lang="en-US" sz="2200" dirty="0"/>
              <a:t>program uses ICMP Echo packets to request a response from another computer or to verify whether it is available for communication</a:t>
            </a:r>
          </a:p>
          <a:p>
            <a:pPr lvl="1"/>
            <a:r>
              <a:rPr lang="en-US" sz="2200" dirty="0"/>
              <a:t>A ICMP Echo Reply packet indicates whether the host is reachable and how long the message’s round trip from sender to receiver took</a:t>
            </a:r>
          </a:p>
          <a:p>
            <a:pPr lvl="1"/>
            <a:r>
              <a:rPr lang="en-US" sz="2200" dirty="0"/>
              <a:t>The </a:t>
            </a:r>
            <a:r>
              <a:rPr lang="en-US" sz="2200" b="1" dirty="0">
                <a:latin typeface="Courier New" panose="02070309020205020404" pitchFamily="49" charset="0"/>
                <a:cs typeface="Courier New" panose="02070309020205020404" pitchFamily="49" charset="0"/>
              </a:rPr>
              <a:t>tracert</a:t>
            </a:r>
            <a:r>
              <a:rPr lang="en-US" sz="2200" dirty="0"/>
              <a:t> program uses ICMP Echo packets to determine the route a packet takes through an internetwork</a:t>
            </a:r>
          </a:p>
          <a:p>
            <a:r>
              <a:rPr lang="en-US" dirty="0"/>
              <a:t>ICMPv6 does not use ARP to resolve MAC addresses, it uses </a:t>
            </a:r>
            <a:r>
              <a:rPr lang="en-US" b="1" dirty="0"/>
              <a:t>neighbor discovery protocol (NDP)</a:t>
            </a:r>
          </a:p>
        </p:txBody>
      </p:sp>
    </p:spTree>
    <p:extLst>
      <p:ext uri="{BB962C8B-B14F-4D97-AF65-F5344CB8AC3E}">
        <p14:creationId xmlns:p14="http://schemas.microsoft.com/office/powerpoint/2010/main" val="32098217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42BE2-F94F-24DE-FE91-ED7B48FC40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70EAF-FEFC-BF79-C29F-0CD4C3A9374F}"/>
              </a:ext>
            </a:extLst>
          </p:cNvPr>
          <p:cNvSpPr>
            <a:spLocks noGrp="1"/>
          </p:cNvSpPr>
          <p:nvPr>
            <p:ph type="title"/>
          </p:nvPr>
        </p:nvSpPr>
        <p:spPr/>
        <p:txBody>
          <a:bodyPr/>
          <a:lstStyle/>
          <a:p>
            <a:r>
              <a:rPr lang="en-US" dirty="0"/>
              <a:t>Protocols at the Internetwork Layer (6 of 6)</a:t>
            </a:r>
          </a:p>
        </p:txBody>
      </p:sp>
      <p:sp>
        <p:nvSpPr>
          <p:cNvPr id="3" name="Content Placeholder 2">
            <a:extLst>
              <a:ext uri="{FF2B5EF4-FFF2-40B4-BE49-F238E27FC236}">
                <a16:creationId xmlns:a16="http://schemas.microsoft.com/office/drawing/2014/main" id="{858C73DD-2676-8C4F-CE39-76D1B2BF2CB0}"/>
              </a:ext>
            </a:extLst>
          </p:cNvPr>
          <p:cNvSpPr>
            <a:spLocks noGrp="1"/>
          </p:cNvSpPr>
          <p:nvPr>
            <p:ph idx="1"/>
          </p:nvPr>
        </p:nvSpPr>
        <p:spPr/>
        <p:txBody>
          <a:bodyPr/>
          <a:lstStyle/>
          <a:p>
            <a:r>
              <a:rPr lang="en-US" b="1" dirty="0"/>
              <a:t>Internet Protocol Security (IPsec) </a:t>
            </a:r>
            <a:r>
              <a:rPr lang="en-US" dirty="0"/>
              <a:t>works with IPv4 to ensure secure delivery of packets</a:t>
            </a:r>
          </a:p>
          <a:p>
            <a:r>
              <a:rPr lang="en-US" dirty="0"/>
              <a:t>IPsec can be used to secure sensitive network transmissions between computers that need extra security</a:t>
            </a:r>
          </a:p>
          <a:p>
            <a:r>
              <a:rPr lang="en-US" dirty="0"/>
              <a:t>This protocol provides security by using authentication and encryption</a:t>
            </a:r>
          </a:p>
          <a:p>
            <a:r>
              <a:rPr lang="en-US" dirty="0"/>
              <a:t>IPsec requires additional network/computer resources, so it should be enabled only for highly sensitive communication and in environments where security risks are high</a:t>
            </a:r>
          </a:p>
          <a:p>
            <a:endParaRPr lang="en-US" b="1" dirty="0"/>
          </a:p>
          <a:p>
            <a:endParaRPr lang="en-US" b="1" dirty="0"/>
          </a:p>
          <a:p>
            <a:endParaRPr lang="en-US" dirty="0"/>
          </a:p>
        </p:txBody>
      </p:sp>
    </p:spTree>
    <p:extLst>
      <p:ext uri="{BB962C8B-B14F-4D97-AF65-F5344CB8AC3E}">
        <p14:creationId xmlns:p14="http://schemas.microsoft.com/office/powerpoint/2010/main" val="28091041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A9D5B-6240-3B45-5EAC-6C2FD8F78599}"/>
              </a:ext>
            </a:extLst>
          </p:cNvPr>
          <p:cNvSpPr>
            <a:spLocks noGrp="1"/>
          </p:cNvSpPr>
          <p:nvPr>
            <p:ph type="title"/>
          </p:nvPr>
        </p:nvSpPr>
        <p:spPr/>
        <p:txBody>
          <a:bodyPr/>
          <a:lstStyle/>
          <a:p>
            <a:r>
              <a:rPr lang="en-US" dirty="0"/>
              <a:t>Network Access Layer Protocols (1 of 2)</a:t>
            </a:r>
          </a:p>
        </p:txBody>
      </p:sp>
      <p:sp>
        <p:nvSpPr>
          <p:cNvPr id="3" name="Content Placeholder 2">
            <a:extLst>
              <a:ext uri="{FF2B5EF4-FFF2-40B4-BE49-F238E27FC236}">
                <a16:creationId xmlns:a16="http://schemas.microsoft.com/office/drawing/2014/main" id="{3CCE1FA4-9EB4-AEF3-706B-807EF7FECE25}"/>
              </a:ext>
            </a:extLst>
          </p:cNvPr>
          <p:cNvSpPr>
            <a:spLocks noGrp="1"/>
          </p:cNvSpPr>
          <p:nvPr>
            <p:ph idx="1"/>
          </p:nvPr>
        </p:nvSpPr>
        <p:spPr/>
        <p:txBody>
          <a:bodyPr/>
          <a:lstStyle/>
          <a:p>
            <a:r>
              <a:rPr lang="en-US" dirty="0"/>
              <a:t>Some tasks performed by the Network access layer:</a:t>
            </a:r>
          </a:p>
          <a:p>
            <a:pPr lvl="1"/>
            <a:r>
              <a:rPr lang="en-US" sz="2200" dirty="0"/>
              <a:t>Provides a physical (MAC) address for the network interface</a:t>
            </a:r>
          </a:p>
          <a:p>
            <a:pPr lvl="1"/>
            <a:r>
              <a:rPr lang="en-US" sz="2200" dirty="0"/>
              <a:t>Verifies incoming frames have the correct destination MAC address</a:t>
            </a:r>
          </a:p>
          <a:p>
            <a:pPr lvl="1"/>
            <a:r>
              <a:rPr lang="en-US" sz="2200" dirty="0"/>
              <a:t>Defines and follows media access rules</a:t>
            </a:r>
          </a:p>
          <a:p>
            <a:pPr lvl="1"/>
            <a:r>
              <a:rPr lang="en-US" sz="2200" dirty="0"/>
              <a:t>Receives packets from the Internetwork layer and encapsulates them to create frames</a:t>
            </a:r>
          </a:p>
          <a:p>
            <a:pPr lvl="1"/>
            <a:r>
              <a:rPr lang="en-US" sz="2200" dirty="0"/>
              <a:t>De-encapsulates received frames and sends the resulting packets to the Internetwork layer</a:t>
            </a:r>
          </a:p>
          <a:p>
            <a:pPr lvl="1"/>
            <a:r>
              <a:rPr lang="en-US" sz="2200" dirty="0"/>
              <a:t>Often provides frame error detection in the form of a CRC code </a:t>
            </a:r>
          </a:p>
          <a:p>
            <a:endParaRPr lang="en-US" dirty="0"/>
          </a:p>
        </p:txBody>
      </p:sp>
    </p:spTree>
    <p:extLst>
      <p:ext uri="{BB962C8B-B14F-4D97-AF65-F5344CB8AC3E}">
        <p14:creationId xmlns:p14="http://schemas.microsoft.com/office/powerpoint/2010/main" val="9549612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B726B-B6D3-8B47-9B84-2D2571BFC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89282-139C-CF26-6A40-F382CF9C5A7C}"/>
              </a:ext>
            </a:extLst>
          </p:cNvPr>
          <p:cNvSpPr>
            <a:spLocks noGrp="1"/>
          </p:cNvSpPr>
          <p:nvPr>
            <p:ph type="title"/>
          </p:nvPr>
        </p:nvSpPr>
        <p:spPr/>
        <p:txBody>
          <a:bodyPr/>
          <a:lstStyle/>
          <a:p>
            <a:r>
              <a:rPr lang="en-US" dirty="0"/>
              <a:t>Network Access Layer Protocols (2 of 2)</a:t>
            </a:r>
          </a:p>
        </p:txBody>
      </p:sp>
      <p:sp>
        <p:nvSpPr>
          <p:cNvPr id="3" name="Content Placeholder 2">
            <a:extLst>
              <a:ext uri="{FF2B5EF4-FFF2-40B4-BE49-F238E27FC236}">
                <a16:creationId xmlns:a16="http://schemas.microsoft.com/office/drawing/2014/main" id="{58B10BAB-EE54-6204-CA76-E4C920899093}"/>
              </a:ext>
            </a:extLst>
          </p:cNvPr>
          <p:cNvSpPr>
            <a:spLocks noGrp="1"/>
          </p:cNvSpPr>
          <p:nvPr>
            <p:ph idx="1"/>
          </p:nvPr>
        </p:nvSpPr>
        <p:spPr/>
        <p:txBody>
          <a:bodyPr/>
          <a:lstStyle/>
          <a:p>
            <a:r>
              <a:rPr lang="en-US" dirty="0"/>
              <a:t>Some tasks performed by the Network access layer (continued):</a:t>
            </a:r>
          </a:p>
          <a:p>
            <a:pPr lvl="1"/>
            <a:r>
              <a:rPr lang="en-US" sz="2200" dirty="0"/>
              <a:t>Transmits and receives bit signals</a:t>
            </a:r>
          </a:p>
          <a:p>
            <a:pPr lvl="1"/>
            <a:r>
              <a:rPr lang="en-US" sz="2200" dirty="0"/>
              <a:t>Defines the signaling needed to transmit bits, whether electrical, light pulses, or radio waves</a:t>
            </a:r>
          </a:p>
          <a:p>
            <a:pPr lvl="1"/>
            <a:r>
              <a:rPr lang="en-US" sz="2200" dirty="0"/>
              <a:t>Defines the media and connectors needed to make a physical network connection</a:t>
            </a:r>
          </a:p>
          <a:p>
            <a:endParaRPr lang="en-US" dirty="0"/>
          </a:p>
        </p:txBody>
      </p:sp>
    </p:spTree>
    <p:extLst>
      <p:ext uri="{BB962C8B-B14F-4D97-AF65-F5344CB8AC3E}">
        <p14:creationId xmlns:p14="http://schemas.microsoft.com/office/powerpoint/2010/main" val="24756902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5-2</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Which field in a Transport layer protocol header specifies the destination Application layer protocol?</a:t>
            </a:r>
          </a:p>
          <a:p>
            <a:pPr marL="0" indent="0">
              <a:buNone/>
            </a:pPr>
            <a:r>
              <a:rPr lang="en-US" dirty="0"/>
              <a:t>a. TTL</a:t>
            </a:r>
          </a:p>
          <a:p>
            <a:pPr marL="0" indent="0">
              <a:buNone/>
            </a:pPr>
            <a:r>
              <a:rPr lang="en-US" dirty="0"/>
              <a:t>b. Checksum</a:t>
            </a:r>
          </a:p>
          <a:p>
            <a:pPr marL="0" indent="0">
              <a:buNone/>
            </a:pPr>
            <a:r>
              <a:rPr lang="en-US" dirty="0"/>
              <a:t>c. Port</a:t>
            </a:r>
          </a:p>
          <a:p>
            <a:pPr marL="0" indent="0">
              <a:buNone/>
            </a:pPr>
            <a:r>
              <a:rPr lang="en-US" dirty="0"/>
              <a:t>d. Sequence number</a:t>
            </a:r>
          </a:p>
        </p:txBody>
      </p:sp>
    </p:spTree>
    <p:extLst>
      <p:ext uri="{BB962C8B-B14F-4D97-AF65-F5344CB8AC3E}">
        <p14:creationId xmlns:p14="http://schemas.microsoft.com/office/powerpoint/2010/main" val="12251530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5-2: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Which field in a Transport layer protocol header specifies the destination Application layer protocol?</a:t>
            </a:r>
          </a:p>
          <a:p>
            <a:pPr marL="0" indent="0">
              <a:buNone/>
            </a:pPr>
            <a:r>
              <a:rPr lang="en-US" b="1" dirty="0"/>
              <a:t>Answer: c</a:t>
            </a:r>
            <a:r>
              <a:rPr lang="en-US" dirty="0"/>
              <a:t>. </a:t>
            </a:r>
            <a:r>
              <a:rPr lang="nb-NO" dirty="0"/>
              <a:t>Port</a:t>
            </a:r>
            <a:endParaRPr lang="de-DE" dirty="0"/>
          </a:p>
          <a:p>
            <a:pPr marL="0" indent="0">
              <a:buNone/>
            </a:pPr>
            <a:r>
              <a:rPr lang="en-US" b="1" dirty="0"/>
              <a:t>Explanation:</a:t>
            </a:r>
            <a:r>
              <a:rPr lang="en-US" dirty="0"/>
              <a:t> The destination port number in a Transport layer header specifies the destination Application layer protocol to which the segment or datagram should be delivered. The source port number identifies the Application layer protocol that sent the message.</a:t>
            </a:r>
          </a:p>
        </p:txBody>
      </p:sp>
    </p:spTree>
    <p:extLst>
      <p:ext uri="{BB962C8B-B14F-4D97-AF65-F5344CB8AC3E}">
        <p14:creationId xmlns:p14="http://schemas.microsoft.com/office/powerpoint/2010/main" val="19977629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0525-58F2-4405-81C6-344F11016177}"/>
              </a:ext>
            </a:extLst>
          </p:cNvPr>
          <p:cNvSpPr>
            <a:spLocks noGrp="1"/>
          </p:cNvSpPr>
          <p:nvPr>
            <p:ph type="title"/>
          </p:nvPr>
        </p:nvSpPr>
        <p:spPr/>
        <p:txBody>
          <a:bodyPr/>
          <a:lstStyle/>
          <a:p>
            <a:r>
              <a:rPr lang="en-US" dirty="0"/>
              <a:t>Self Assessment</a:t>
            </a:r>
          </a:p>
        </p:txBody>
      </p:sp>
      <p:sp>
        <p:nvSpPr>
          <p:cNvPr id="3" name="Content Placeholder 2">
            <a:extLst>
              <a:ext uri="{FF2B5EF4-FFF2-40B4-BE49-F238E27FC236}">
                <a16:creationId xmlns:a16="http://schemas.microsoft.com/office/drawing/2014/main" id="{D90D28A5-F477-438F-8470-076D1B855E62}"/>
              </a:ext>
            </a:extLst>
          </p:cNvPr>
          <p:cNvSpPr>
            <a:spLocks noGrp="1"/>
          </p:cNvSpPr>
          <p:nvPr>
            <p:ph idx="1"/>
          </p:nvPr>
        </p:nvSpPr>
        <p:spPr/>
        <p:txBody>
          <a:bodyPr/>
          <a:lstStyle/>
          <a:p>
            <a:pPr marL="0" indent="0">
              <a:buNone/>
            </a:pPr>
            <a:r>
              <a:rPr lang="en-US" dirty="0"/>
              <a:t>Explain the differences between TCP and UDP. Why would an Application layer protocol use TCP instead of UDP?</a:t>
            </a:r>
          </a:p>
          <a:p>
            <a:pPr marL="0" indent="0">
              <a:buNone/>
            </a:pPr>
            <a:endParaRPr lang="en-US" dirty="0"/>
          </a:p>
          <a:p>
            <a:pPr marL="0" indent="0">
              <a:buNone/>
            </a:pPr>
            <a:r>
              <a:rPr lang="en-US" dirty="0"/>
              <a:t>When a Windows computer is configured to use DHCP, but no DHCP server is available, what type of address is configured automatically?</a:t>
            </a:r>
          </a:p>
        </p:txBody>
      </p:sp>
    </p:spTree>
    <p:extLst>
      <p:ext uri="{BB962C8B-B14F-4D97-AF65-F5344CB8AC3E}">
        <p14:creationId xmlns:p14="http://schemas.microsoft.com/office/powerpoint/2010/main" val="6237428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9388-57EA-415D-BA4C-9D237D98148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C62FF5B-1A90-449C-9F51-BCC153EB61C0}"/>
              </a:ext>
            </a:extLst>
          </p:cNvPr>
          <p:cNvSpPr>
            <a:spLocks noGrp="1"/>
          </p:cNvSpPr>
          <p:nvPr>
            <p:ph idx="1"/>
          </p:nvPr>
        </p:nvSpPr>
        <p:spPr/>
        <p:txBody>
          <a:bodyPr/>
          <a:lstStyle/>
          <a:p>
            <a:pPr marL="0" indent="0">
              <a:buNone/>
            </a:pPr>
            <a:r>
              <a:rPr lang="en-US" dirty="0"/>
              <a:t>Now that the lesson has ended, you should be able to:</a:t>
            </a:r>
          </a:p>
          <a:p>
            <a:pPr marL="457200" indent="-457200">
              <a:buFont typeface="+mj-lt"/>
              <a:buAutoNum type="arabicPeriod"/>
            </a:pPr>
            <a:r>
              <a:rPr lang="en-US" altLang="zh-CN" dirty="0"/>
              <a:t>Describe the purpose of a network protocol and the layers in the TCP/IP architecture</a:t>
            </a:r>
          </a:p>
          <a:p>
            <a:pPr marL="457200" indent="-457200">
              <a:buFont typeface="+mj-lt"/>
              <a:buAutoNum type="arabicPeriod"/>
            </a:pPr>
            <a:r>
              <a:rPr lang="en-US" altLang="zh-CN" dirty="0"/>
              <a:t>Describe TCP/IP Application layer protocols</a:t>
            </a:r>
          </a:p>
          <a:p>
            <a:pPr marL="457200" indent="-457200">
              <a:buFont typeface="+mj-lt"/>
              <a:buAutoNum type="arabicPeriod"/>
            </a:pPr>
            <a:r>
              <a:rPr lang="en-US" altLang="zh-CN" dirty="0"/>
              <a:t>Describe TCP/IP Transport layer protocols</a:t>
            </a:r>
          </a:p>
          <a:p>
            <a:pPr marL="457200" indent="-457200">
              <a:buFont typeface="+mj-lt"/>
              <a:buAutoNum type="arabicPeriod"/>
            </a:pPr>
            <a:r>
              <a:rPr lang="en-US" altLang="zh-CN" dirty="0"/>
              <a:t>Describe TCP/IP Internetwork layer protocols</a:t>
            </a:r>
          </a:p>
          <a:p>
            <a:pPr marL="457200" indent="-457200">
              <a:buFont typeface="+mj-lt"/>
              <a:buAutoNum type="arabicPeriod"/>
            </a:pPr>
            <a:r>
              <a:rPr lang="en-US" altLang="zh-CN" dirty="0"/>
              <a:t>Describe TCP/IP Network access layer protocols</a:t>
            </a:r>
          </a:p>
        </p:txBody>
      </p:sp>
    </p:spTree>
    <p:extLst>
      <p:ext uri="{BB962C8B-B14F-4D97-AF65-F5344CB8AC3E}">
        <p14:creationId xmlns:p14="http://schemas.microsoft.com/office/powerpoint/2010/main" val="2322370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Admin xmlns="c8ecdccd-e3b0-4392-94c4-49d90f16d1d5">
      <UserInfo>
        <DisplayName/>
        <AccountId xsi:nil="true"/>
        <AccountType/>
      </UserInfo>
    </Admin>
    <PartnerProgram xmlns="c8ecdccd-e3b0-4392-94c4-49d90f16d1d5" xsi:nil="true"/>
    <Topic xmlns="c8ecdccd-e3b0-4392-94c4-49d90f16d1d5">
      <Value>Accessibility</Value>
    </Topic>
    <Copy xmlns="c8ecdccd-e3b0-4392-94c4-49d90f16d1d5">false</Copy>
    <MasterLocation_x0028_ifCopy_x003d_Yes_x0029_ xmlns="c8ecdccd-e3b0-4392-94c4-49d90f16d1d5">n/a</MasterLocation_x0028_ifCopy_x003d_Yes_x0029_>
    <Owner xmlns="c8ecdccd-e3b0-4392-94c4-49d90f16d1d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23" ma:contentTypeDescription="Create a new document." ma:contentTypeScope="" ma:versionID="bb91af784c98ffd54f07baef4de8c87a">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6483f901f2ec473eb96d4dadeaaace36" ns2:_="" ns3:_="">
    <xsd:import namespace="c8ecdccd-e3b0-4392-94c4-49d90f16d1d5"/>
    <xsd:import namespace="cc1e726a-7c3b-4654-9122-87de3e28a51c"/>
    <xsd:element name="properties">
      <xsd:complexType>
        <xsd:sequence>
          <xsd:element name="documentManagement">
            <xsd:complexType>
              <xsd:all>
                <xsd:element ref="ns2:Topic" minOccurs="0"/>
                <xsd:element ref="ns2:Owner" minOccurs="0"/>
                <xsd:element ref="ns2:Admin" minOccurs="0"/>
                <xsd:element ref="ns2:Copy" minOccurs="0"/>
                <xsd:element ref="ns2:MasterLocation_x0028_ifCopy_x003d_Yes_x0029_" minOccurs="0"/>
                <xsd:element ref="ns2:AdminNotes" minOccurs="0"/>
                <xsd:element ref="ns2:MediaServiceMetadata" minOccurs="0"/>
                <xsd:element ref="ns2:MediaServiceFastMetadata" minOccurs="0"/>
                <xsd:element ref="ns2:MediaServiceAutoTags"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PartnerProgra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Topic" ma:index="2" nillable="true" ma:displayName="Topic" ma:default="Unassigned" ma:format="Dropdown" ma:internalName="Topic">
      <xsd:complexType>
        <xsd:complexContent>
          <xsd:extension base="dms:MultiChoice">
            <xsd:sequence>
              <xsd:element name="Value" maxOccurs="unbounded" minOccurs="0" nillable="true">
                <xsd:simpleType>
                  <xsd:restriction base="dms:Choice">
                    <xsd:enumeration value="Accessibility"/>
                    <xsd:enumeration value="Alt text"/>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enumeration value="Design"/>
                    <xsd:enumeration value="Inclusivity &amp; Diversity"/>
                    <xsd:enumeration value="Choice 16"/>
                  </xsd:restriction>
                </xsd:simpleType>
              </xsd:element>
            </xsd:sequence>
          </xsd:extension>
        </xsd:complexContent>
      </xsd:complexType>
    </xsd:element>
    <xsd:element name="Owner" ma:index="3"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earning"/>
          <xsd:enumeration value="Manufacturing"/>
          <xsd:enumeration value="NGL"/>
          <xsd:enumeration value="Strategic Sourcing"/>
        </xsd:restriction>
      </xsd:simpleType>
    </xsd:element>
    <xsd:element name="Admin" ma:index="4" nillable="true" ma:displayName="Admin" ma:list="UserInfo" ma:SharePointGroup="0" ma:internalName="Admi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py" ma:index="5"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6"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earning"/>
          <xsd:enumeration value="Strategic Sourcing"/>
          <xsd:enumeration value="VIP Documents"/>
          <xsd:enumeration value="n/a"/>
          <xsd:enumeration value="Creative Studio"/>
          <xsd:enumeration value="NGL"/>
        </xsd:restriction>
      </xsd:simpleType>
    </xsd:element>
    <xsd:element name="AdminNotes" ma:index="7" nillable="true" ma:displayName="Admin Notes" ma:format="Dropdown" ma:internalName="AdminNotes">
      <xsd:complexType>
        <xsd:complexContent>
          <xsd:extension base="dms:MultiChoiceFillIn">
            <xsd:sequence>
              <xsd:element name="Value" maxOccurs="unbounded" minOccurs="0" nillable="true">
                <xsd:simpleType>
                  <xsd:union memberTypes="dms:Text">
                    <xsd:simpleType>
                      <xsd:restriction base="dms:Choice">
                        <xsd:enumeration value="See VIP Source Documents"/>
                        <xsd:enumeration value="E2E copy"/>
                        <xsd:enumeration value="Link to VIP copy"/>
                        <xsd:enumeration value="Same as internal version"/>
                        <xsd:enumeration value="Vendor-facing version"/>
                        <xsd:enumeration value="Source document w/owner"/>
                      </xsd:restriction>
                    </xsd:simpleType>
                  </xsd:union>
                </xsd:simpleType>
              </xsd:element>
            </xsd:sequence>
          </xsd:extension>
        </xsd:complexContent>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PartnerProgram" ma:index="25" nillable="true" ma:displayName="Partner Program" ma:format="Dropdown" ma:internalName="PartnerProgram">
      <xsd:complexType>
        <xsd:complexContent>
          <xsd:extension base="dms:MultiChoice">
            <xsd:sequence>
              <xsd:element name="Value" maxOccurs="unbounded" minOccurs="0" nillable="true">
                <xsd:simpleType>
                  <xsd:restriction base="dms:Choice">
                    <xsd:enumeration value="HE Production"/>
                    <xsd:enumeration value="Design"/>
                    <xsd:enumeration value="Authoring"/>
                    <xsd:enumeration value="Ancillary Production"/>
                    <xsd:enumeration value="Archiving"/>
                    <xsd:enumeration value="NGL"/>
                    <xsd:enumeration value="Media"/>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purl.org/dc/terms/"/>
    <ds:schemaRef ds:uri="http://schemas.microsoft.com/office/2006/documentManagement/types"/>
    <ds:schemaRef ds:uri="http://purl.org/dc/dcmitype/"/>
    <ds:schemaRef ds:uri="c8ecdccd-e3b0-4392-94c4-49d90f16d1d5"/>
    <ds:schemaRef ds:uri="http://schemas.microsoft.com/office/infopath/2007/PartnerControls"/>
    <ds:schemaRef ds:uri="http://schemas.openxmlformats.org/package/2006/metadata/core-properties"/>
    <ds:schemaRef ds:uri="cc1e726a-7c3b-4654-9122-87de3e28a51c"/>
    <ds:schemaRef ds:uri="http://schemas.microsoft.com/office/2006/metadata/properties"/>
    <ds:schemaRef ds:uri="http://www.w3.org/XML/1998/namespace"/>
    <ds:schemaRef ds:uri="http://purl.org/dc/elements/1.1/"/>
  </ds:schemaRefs>
</ds:datastoreItem>
</file>

<file path=customXml/itemProps2.xml><?xml version="1.0" encoding="utf-8"?>
<ds:datastoreItem xmlns:ds="http://schemas.openxmlformats.org/officeDocument/2006/customXml" ds:itemID="{99006C67-D151-4DD6-B0C5-0010ADB115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12166</TotalTime>
  <Words>3900</Words>
  <Application>Microsoft Office PowerPoint</Application>
  <PresentationFormat>Widescreen</PresentationFormat>
  <Paragraphs>322</Paragraphs>
  <Slides>57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Arial</vt:lpstr>
      <vt:lpstr>Calibri</vt:lpstr>
      <vt:lpstr>Courier New</vt:lpstr>
      <vt:lpstr>Wingdings</vt:lpstr>
      <vt:lpstr>Work Sans</vt:lpstr>
      <vt:lpstr>Work Sans </vt:lpstr>
      <vt:lpstr>Optimized Template Master</vt:lpstr>
      <vt:lpstr>Guide to Networking Essentials, 9e</vt:lpstr>
      <vt:lpstr>Chapter Objectives</vt:lpstr>
      <vt:lpstr>TCP/IP’s Layered Architecture (1 of 5)</vt:lpstr>
      <vt:lpstr>TCP/IP’s Layered Architecture (2 of 5)</vt:lpstr>
      <vt:lpstr>TCP/IP’s Layered Architecture (3 of 5)</vt:lpstr>
      <vt:lpstr>TCP/IP’s Layered Architecture (4 of 5)</vt:lpstr>
      <vt:lpstr>TCP/IP’s Layered Architecture (5 of 5)</vt:lpstr>
      <vt:lpstr>Application Layer Protocols</vt:lpstr>
      <vt:lpstr>HTTP: Protocol of the World Wide Web</vt:lpstr>
      <vt:lpstr>E-Mail Protocols: POP3, IMAP, and SMTP</vt:lpstr>
      <vt:lpstr>FTP, SFTP, and TFTP</vt:lpstr>
      <vt:lpstr>Server Message Block</vt:lpstr>
      <vt:lpstr>Remote Desktop Protocol</vt:lpstr>
      <vt:lpstr>Telnet and SSH</vt:lpstr>
      <vt:lpstr>Simple Network Management Protocol</vt:lpstr>
      <vt:lpstr>Network Time Protocol</vt:lpstr>
      <vt:lpstr>Dynamic Host Configuration Protocol (1 of 5)</vt:lpstr>
      <vt:lpstr>Dynamic Host Configuration Protocol (2 of 5)</vt:lpstr>
      <vt:lpstr>Dynamic Host Configuration Protocol (3 of 5)</vt:lpstr>
      <vt:lpstr>Dynamic Host Configuration Protocol (4 of 5)</vt:lpstr>
      <vt:lpstr>Dynamic Host Configuration Protocol (5 of 5)</vt:lpstr>
      <vt:lpstr>Domain Name System (1 of 8)</vt:lpstr>
      <vt:lpstr>Domain Name System (2 of 8)</vt:lpstr>
      <vt:lpstr>Domain Name System (3 of 8)</vt:lpstr>
      <vt:lpstr>Domain Name System (4 of 8)</vt:lpstr>
      <vt:lpstr>Domain Name System (5 of 8)</vt:lpstr>
      <vt:lpstr>Domain Name System (6 of 8)</vt:lpstr>
      <vt:lpstr>Domain Name System (7 of 8)</vt:lpstr>
      <vt:lpstr>Domain Name System (8 of 8)</vt:lpstr>
      <vt:lpstr>Knowledge Check Activity 5-1</vt:lpstr>
      <vt:lpstr>Knowledge Check Activity 5-1: Answer</vt:lpstr>
      <vt:lpstr>Transport Layer Protocols</vt:lpstr>
      <vt:lpstr>Role of the Transport Layer (1 of 3)</vt:lpstr>
      <vt:lpstr>Role of the Transport Layer (2 of 3)</vt:lpstr>
      <vt:lpstr>Role of the Transport Layer (3 of 3)</vt:lpstr>
      <vt:lpstr>TCP: The Reliable Transport Layer (1 of 5)</vt:lpstr>
      <vt:lpstr>TCP: The Reliable Transport Layer (2 of 5)</vt:lpstr>
      <vt:lpstr>TCP: The Reliable Transport Layer (3 of 5)</vt:lpstr>
      <vt:lpstr>TCP: The Reliable Transport Layer (4 of 5)</vt:lpstr>
      <vt:lpstr>TCP: The Reliable Transport Layer (5 of 5)</vt:lpstr>
      <vt:lpstr>Internetwork Layer Protocols</vt:lpstr>
      <vt:lpstr>Defines and Verifies IP Addresses</vt:lpstr>
      <vt:lpstr>Routes Packets through an Internetwork</vt:lpstr>
      <vt:lpstr>Resolves MAC Addresses from IP Addresses</vt:lpstr>
      <vt:lpstr>Delivers Packets Efficiently</vt:lpstr>
      <vt:lpstr>Protocols at the Internetwork Layer (1 of 6)</vt:lpstr>
      <vt:lpstr>Protocols at the Internetwork Layer (2 of 6)</vt:lpstr>
      <vt:lpstr>Protocols at the Internetwork Layer (3 of 6)</vt:lpstr>
      <vt:lpstr>Protocols at the Internetwork Layer (4 of 6)</vt:lpstr>
      <vt:lpstr>Protocols at the Internetwork Layer (5 of 6)</vt:lpstr>
      <vt:lpstr>Protocols at the Internetwork Layer (6 of 6)</vt:lpstr>
      <vt:lpstr>Network Access Layer Protocols (1 of 2)</vt:lpstr>
      <vt:lpstr>Network Access Layer Protocols (2 of 2)</vt:lpstr>
      <vt:lpstr>Knowledge Check Activity 5-2</vt:lpstr>
      <vt:lpstr>Knowledge Check Activity 5-2: Answer</vt:lpstr>
      <vt:lpstr>Self 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Williams</dc:creator>
  <cp:lastModifiedBy>Anthony Pacheco</cp:lastModifiedBy>
  <cp:revision>334</cp:revision>
  <cp:lastPrinted>2016-10-03T15:29:39Z</cp:lastPrinted>
  <dcterms:created xsi:type="dcterms:W3CDTF">2021-12-10T16:21:02Z</dcterms:created>
  <dcterms:modified xsi:type="dcterms:W3CDTF">2026-02-19T00:15:19Z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ies>
</file>