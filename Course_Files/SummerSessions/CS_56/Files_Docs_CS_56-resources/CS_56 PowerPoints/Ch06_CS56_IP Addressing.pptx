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7"/>
  </p:notesMasterIdLst>
  <p:handoutMasterIdLst>
    <p:handoutMasterId r:id="rId68"/>
  </p:handoutMasterIdLst>
  <p:sldIdLst>
    <p:sldId id="257" r:id="rId5"/>
    <p:sldId id="259" r:id="rId6"/>
    <p:sldId id="401" r:id="rId7"/>
    <p:sldId id="402" r:id="rId8"/>
    <p:sldId id="403" r:id="rId9"/>
    <p:sldId id="404" r:id="rId10"/>
    <p:sldId id="405" r:id="rId11"/>
    <p:sldId id="406" r:id="rId12"/>
    <p:sldId id="407" r:id="rId13"/>
    <p:sldId id="408" r:id="rId14"/>
    <p:sldId id="409" r:id="rId15"/>
    <p:sldId id="410" r:id="rId16"/>
    <p:sldId id="411" r:id="rId17"/>
    <p:sldId id="412" r:id="rId18"/>
    <p:sldId id="413" r:id="rId19"/>
    <p:sldId id="414" r:id="rId20"/>
    <p:sldId id="415" r:id="rId21"/>
    <p:sldId id="416" r:id="rId22"/>
    <p:sldId id="417" r:id="rId23"/>
    <p:sldId id="418" r:id="rId24"/>
    <p:sldId id="419" r:id="rId25"/>
    <p:sldId id="420" r:id="rId26"/>
    <p:sldId id="268" r:id="rId27"/>
    <p:sldId id="421" r:id="rId28"/>
    <p:sldId id="422" r:id="rId29"/>
    <p:sldId id="400" r:id="rId30"/>
    <p:sldId id="262" r:id="rId31"/>
    <p:sldId id="263" r:id="rId32"/>
    <p:sldId id="423" r:id="rId33"/>
    <p:sldId id="424" r:id="rId34"/>
    <p:sldId id="425" r:id="rId35"/>
    <p:sldId id="426" r:id="rId36"/>
    <p:sldId id="283" r:id="rId37"/>
    <p:sldId id="427" r:id="rId38"/>
    <p:sldId id="428" r:id="rId39"/>
    <p:sldId id="429" r:id="rId40"/>
    <p:sldId id="430" r:id="rId41"/>
    <p:sldId id="431" r:id="rId42"/>
    <p:sldId id="432" r:id="rId43"/>
    <p:sldId id="396" r:id="rId44"/>
    <p:sldId id="433" r:id="rId45"/>
    <p:sldId id="344" r:id="rId46"/>
    <p:sldId id="434" r:id="rId47"/>
    <p:sldId id="435" r:id="rId48"/>
    <p:sldId id="436" r:id="rId49"/>
    <p:sldId id="437" r:id="rId50"/>
    <p:sldId id="438" r:id="rId51"/>
    <p:sldId id="439" r:id="rId52"/>
    <p:sldId id="375" r:id="rId53"/>
    <p:sldId id="440" r:id="rId54"/>
    <p:sldId id="441" r:id="rId55"/>
    <p:sldId id="442" r:id="rId56"/>
    <p:sldId id="443" r:id="rId57"/>
    <p:sldId id="444" r:id="rId58"/>
    <p:sldId id="295" r:id="rId59"/>
    <p:sldId id="445" r:id="rId60"/>
    <p:sldId id="446" r:id="rId61"/>
    <p:sldId id="447" r:id="rId62"/>
    <p:sldId id="313" r:id="rId63"/>
    <p:sldId id="314" r:id="rId64"/>
    <p:sldId id="269" r:id="rId65"/>
    <p:sldId id="270" r:id="rId66"/>
  </p:sldIdLst>
  <p:sldSz cx="12192000" cy="6858000"/>
  <p:notesSz cx="6858000" cy="9144000"/>
  <p:custDataLst>
    <p:tags r:id="rId69"/>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91041" autoAdjust="0"/>
  </p:normalViewPr>
  <p:slideViewPr>
    <p:cSldViewPr snapToGrid="0" snapToObjects="1">
      <p:cViewPr varScale="1">
        <p:scale>
          <a:sx n="99" d="100"/>
          <a:sy n="99" d="100"/>
        </p:scale>
        <p:origin x="858" y="7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commentAuthors" Target="commentAuthors.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4D64734A-F1A7-4B0F-B628-7B3A171A7AC0}"/>
    <pc:docChg chg="undo custSel modSld">
      <pc:chgData name="Anthony Pacheco" userId="fdf46b62-f4f9-461f-bfbc-c3446c220a65" providerId="ADAL" clId="{4D64734A-F1A7-4B0F-B628-7B3A171A7AC0}" dt="2026-02-26T16:35:19.852" v="2" actId="207"/>
      <pc:docMkLst>
        <pc:docMk/>
      </pc:docMkLst>
      <pc:sldChg chg="modSp mod">
        <pc:chgData name="Anthony Pacheco" userId="fdf46b62-f4f9-461f-bfbc-c3446c220a65" providerId="ADAL" clId="{4D64734A-F1A7-4B0F-B628-7B3A171A7AC0}" dt="2026-02-26T16:35:19.852" v="2" actId="207"/>
        <pc:sldMkLst>
          <pc:docMk/>
          <pc:sldMk cId="3909749175" sldId="425"/>
        </pc:sldMkLst>
        <pc:spChg chg="mod">
          <ac:chgData name="Anthony Pacheco" userId="fdf46b62-f4f9-461f-bfbc-c3446c220a65" providerId="ADAL" clId="{4D64734A-F1A7-4B0F-B628-7B3A171A7AC0}" dt="2026-02-26T16:35:19.852" v="2" actId="207"/>
          <ac:spMkLst>
            <pc:docMk/>
            <pc:sldMk cId="3909749175" sldId="425"/>
            <ac:spMk id="4" creationId="{2BEDA509-FBEB-AEE2-8DF7-0BE5E7FF0DC7}"/>
          </ac:spMkLst>
        </pc:spChg>
      </pc:sldChg>
    </pc:docChg>
  </pc:docChgLst>
  <pc:docChgLst>
    <pc:chgData name="Anthony Pacheco" userId="fdf46b62-f4f9-461f-bfbc-c3446c220a65" providerId="ADAL" clId="{F61D4616-AC92-41C0-83A1-12E9A6221C29}"/>
    <pc:docChg chg="modSld">
      <pc:chgData name="Anthony Pacheco" userId="fdf46b62-f4f9-461f-bfbc-c3446c220a65" providerId="ADAL" clId="{F61D4616-AC92-41C0-83A1-12E9A6221C29}" dt="2026-02-26T18:14:17.697" v="1" actId="14100"/>
      <pc:docMkLst>
        <pc:docMk/>
      </pc:docMkLst>
      <pc:sldChg chg="modSp mod">
        <pc:chgData name="Anthony Pacheco" userId="fdf46b62-f4f9-461f-bfbc-c3446c220a65" providerId="ADAL" clId="{F61D4616-AC92-41C0-83A1-12E9A6221C29}" dt="2026-02-26T18:14:17.697" v="1" actId="14100"/>
        <pc:sldMkLst>
          <pc:docMk/>
          <pc:sldMk cId="4083196316" sldId="400"/>
        </pc:sldMkLst>
        <pc:picChg chg="mod">
          <ac:chgData name="Anthony Pacheco" userId="fdf46b62-f4f9-461f-bfbc-c3446c220a65" providerId="ADAL" clId="{F61D4616-AC92-41C0-83A1-12E9A6221C29}" dt="2026-02-26T18:14:17.697" v="1" actId="14100"/>
          <ac:picMkLst>
            <pc:docMk/>
            <pc:sldMk cId="4083196316" sldId="400"/>
            <ac:picMk id="4" creationId="{C2BF8D75-7ACC-C6FE-4CCB-CDB233C1989A}"/>
          </ac:picMkLst>
        </pc:picChg>
      </pc:sldChg>
    </pc:docChg>
  </pc:docChgLst>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2-24T05:59:56.110" v="163" actId="255"/>
      <pc:docMkLst>
        <pc:docMk/>
      </pc:docMkLst>
      <pc:sldChg chg="modSp mod">
        <pc:chgData name="Anthony Pacheco" userId="fdf46b62-f4f9-461f-bfbc-c3446c220a65" providerId="ADAL" clId="{46C61306-57F8-4F30-B63F-8877BEB9A9E1}" dt="2026-02-24T05:50:21.089" v="8" actId="20577"/>
        <pc:sldMkLst>
          <pc:docMk/>
          <pc:sldMk cId="2293288057" sldId="257"/>
        </pc:sldMkLst>
        <pc:spChg chg="mod">
          <ac:chgData name="Anthony Pacheco" userId="fdf46b62-f4f9-461f-bfbc-c3446c220a65" providerId="ADAL" clId="{46C61306-57F8-4F30-B63F-8877BEB9A9E1}" dt="2026-02-24T05:50:21.089" v="8"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2-24T05:53:42.327" v="39" actId="113"/>
        <pc:sldMkLst>
          <pc:docMk/>
          <pc:sldMk cId="3724899739" sldId="259"/>
        </pc:sldMkLst>
        <pc:spChg chg="mod">
          <ac:chgData name="Anthony Pacheco" userId="fdf46b62-f4f9-461f-bfbc-c3446c220a65" providerId="ADAL" clId="{46C61306-57F8-4F30-B63F-8877BEB9A9E1}" dt="2026-02-24T05:53:42.327" v="39"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2-24T05:53:48.122" v="40" actId="1076"/>
        <pc:sldMkLst>
          <pc:docMk/>
          <pc:sldMk cId="1696995191" sldId="401"/>
        </pc:sldMkLst>
        <pc:spChg chg="mod">
          <ac:chgData name="Anthony Pacheco" userId="fdf46b62-f4f9-461f-bfbc-c3446c220a65" providerId="ADAL" clId="{46C61306-57F8-4F30-B63F-8877BEB9A9E1}" dt="2026-02-24T05:53:48.122" v="40" actId="1076"/>
          <ac:spMkLst>
            <pc:docMk/>
            <pc:sldMk cId="1696995191" sldId="401"/>
            <ac:spMk id="3" creationId="{E93B3082-4362-0CB7-D4A5-2EC98296A0F9}"/>
          </ac:spMkLst>
        </pc:spChg>
      </pc:sldChg>
      <pc:sldChg chg="modSp mod">
        <pc:chgData name="Anthony Pacheco" userId="fdf46b62-f4f9-461f-bfbc-c3446c220a65" providerId="ADAL" clId="{46C61306-57F8-4F30-B63F-8877BEB9A9E1}" dt="2026-02-24T05:54:11.027" v="41" actId="1076"/>
        <pc:sldMkLst>
          <pc:docMk/>
          <pc:sldMk cId="4292428499" sldId="403"/>
        </pc:sldMkLst>
        <pc:spChg chg="mod">
          <ac:chgData name="Anthony Pacheco" userId="fdf46b62-f4f9-461f-bfbc-c3446c220a65" providerId="ADAL" clId="{46C61306-57F8-4F30-B63F-8877BEB9A9E1}" dt="2026-02-24T05:54:11.027" v="41" actId="1076"/>
          <ac:spMkLst>
            <pc:docMk/>
            <pc:sldMk cId="4292428499" sldId="403"/>
            <ac:spMk id="3" creationId="{E72F7E27-954D-9C1A-D436-002487BC2185}"/>
          </ac:spMkLst>
        </pc:spChg>
      </pc:sldChg>
      <pc:sldChg chg="modSp mod">
        <pc:chgData name="Anthony Pacheco" userId="fdf46b62-f4f9-461f-bfbc-c3446c220a65" providerId="ADAL" clId="{46C61306-57F8-4F30-B63F-8877BEB9A9E1}" dt="2026-02-24T05:55:21.438" v="61" actId="1036"/>
        <pc:sldMkLst>
          <pc:docMk/>
          <pc:sldMk cId="2031496473" sldId="404"/>
        </pc:sldMkLst>
        <pc:spChg chg="mod">
          <ac:chgData name="Anthony Pacheco" userId="fdf46b62-f4f9-461f-bfbc-c3446c220a65" providerId="ADAL" clId="{46C61306-57F8-4F30-B63F-8877BEB9A9E1}" dt="2026-02-24T05:55:21.438" v="61" actId="1036"/>
          <ac:spMkLst>
            <pc:docMk/>
            <pc:sldMk cId="2031496473" sldId="404"/>
            <ac:spMk id="3" creationId="{1E21DAE1-9C32-2F50-81F4-1D13DF2824AB}"/>
          </ac:spMkLst>
        </pc:spChg>
      </pc:sldChg>
      <pc:sldChg chg="modSp mod">
        <pc:chgData name="Anthony Pacheco" userId="fdf46b62-f4f9-461f-bfbc-c3446c220a65" providerId="ADAL" clId="{46C61306-57F8-4F30-B63F-8877BEB9A9E1}" dt="2026-02-24T05:55:35.764" v="71" actId="1035"/>
        <pc:sldMkLst>
          <pc:docMk/>
          <pc:sldMk cId="837362695" sldId="405"/>
        </pc:sldMkLst>
        <pc:spChg chg="mod">
          <ac:chgData name="Anthony Pacheco" userId="fdf46b62-f4f9-461f-bfbc-c3446c220a65" providerId="ADAL" clId="{46C61306-57F8-4F30-B63F-8877BEB9A9E1}" dt="2026-02-24T05:55:35.764" v="71" actId="1035"/>
          <ac:spMkLst>
            <pc:docMk/>
            <pc:sldMk cId="837362695" sldId="405"/>
            <ac:spMk id="3" creationId="{0A469482-7708-4756-B536-49B81372B2B0}"/>
          </ac:spMkLst>
        </pc:spChg>
      </pc:sldChg>
      <pc:sldChg chg="modSp mod">
        <pc:chgData name="Anthony Pacheco" userId="fdf46b62-f4f9-461f-bfbc-c3446c220a65" providerId="ADAL" clId="{46C61306-57F8-4F30-B63F-8877BEB9A9E1}" dt="2026-02-24T05:57:28.979" v="98" actId="1036"/>
        <pc:sldMkLst>
          <pc:docMk/>
          <pc:sldMk cId="3890971787" sldId="408"/>
        </pc:sldMkLst>
        <pc:spChg chg="mod">
          <ac:chgData name="Anthony Pacheco" userId="fdf46b62-f4f9-461f-bfbc-c3446c220a65" providerId="ADAL" clId="{46C61306-57F8-4F30-B63F-8877BEB9A9E1}" dt="2026-02-24T05:57:28.979" v="98" actId="1036"/>
          <ac:spMkLst>
            <pc:docMk/>
            <pc:sldMk cId="3890971787" sldId="408"/>
            <ac:spMk id="5" creationId="{8E1894F3-B4C4-A5A3-2262-F008C11D4FE7}"/>
          </ac:spMkLst>
        </pc:spChg>
        <pc:graphicFrameChg chg="mod modGraphic">
          <ac:chgData name="Anthony Pacheco" userId="fdf46b62-f4f9-461f-bfbc-c3446c220a65" providerId="ADAL" clId="{46C61306-57F8-4F30-B63F-8877BEB9A9E1}" dt="2026-02-24T05:57:28.979" v="98" actId="1036"/>
          <ac:graphicFrameMkLst>
            <pc:docMk/>
            <pc:sldMk cId="3890971787" sldId="408"/>
            <ac:graphicFrameMk id="4" creationId="{F1058086-D542-13D6-30C4-358C577721BD}"/>
          </ac:graphicFrameMkLst>
        </pc:graphicFrameChg>
      </pc:sldChg>
      <pc:sldChg chg="modSp mod">
        <pc:chgData name="Anthony Pacheco" userId="fdf46b62-f4f9-461f-bfbc-c3446c220a65" providerId="ADAL" clId="{46C61306-57F8-4F30-B63F-8877BEB9A9E1}" dt="2026-02-24T05:59:05.701" v="99" actId="1076"/>
        <pc:sldMkLst>
          <pc:docMk/>
          <pc:sldMk cId="151671051" sldId="409"/>
        </pc:sldMkLst>
        <pc:spChg chg="mod">
          <ac:chgData name="Anthony Pacheco" userId="fdf46b62-f4f9-461f-bfbc-c3446c220a65" providerId="ADAL" clId="{46C61306-57F8-4F30-B63F-8877BEB9A9E1}" dt="2026-02-24T05:59:05.701" v="99" actId="1076"/>
          <ac:spMkLst>
            <pc:docMk/>
            <pc:sldMk cId="151671051" sldId="409"/>
            <ac:spMk id="3" creationId="{70F2354F-CC16-A945-AC2F-687DF1813167}"/>
          </ac:spMkLst>
        </pc:spChg>
      </pc:sldChg>
      <pc:sldChg chg="modSp mod">
        <pc:chgData name="Anthony Pacheco" userId="fdf46b62-f4f9-461f-bfbc-c3446c220a65" providerId="ADAL" clId="{46C61306-57F8-4F30-B63F-8877BEB9A9E1}" dt="2026-02-24T05:59:56.110" v="163" actId="255"/>
        <pc:sldMkLst>
          <pc:docMk/>
          <pc:sldMk cId="613372857" sldId="410"/>
        </pc:sldMkLst>
        <pc:spChg chg="mod">
          <ac:chgData name="Anthony Pacheco" userId="fdf46b62-f4f9-461f-bfbc-c3446c220a65" providerId="ADAL" clId="{46C61306-57F8-4F30-B63F-8877BEB9A9E1}" dt="2026-02-24T05:59:15.541" v="100" actId="1076"/>
          <ac:spMkLst>
            <pc:docMk/>
            <pc:sldMk cId="613372857" sldId="410"/>
            <ac:spMk id="3" creationId="{E287D2D6-359F-DEB1-1E3C-E229EACFF011}"/>
          </ac:spMkLst>
        </pc:spChg>
        <pc:spChg chg="mod">
          <ac:chgData name="Anthony Pacheco" userId="fdf46b62-f4f9-461f-bfbc-c3446c220a65" providerId="ADAL" clId="{46C61306-57F8-4F30-B63F-8877BEB9A9E1}" dt="2026-02-24T05:59:42.077" v="161" actId="14100"/>
          <ac:spMkLst>
            <pc:docMk/>
            <pc:sldMk cId="613372857" sldId="410"/>
            <ac:spMk id="5" creationId="{34495DCF-FCE7-945B-282E-94C87E405AA4}"/>
          </ac:spMkLst>
        </pc:spChg>
        <pc:graphicFrameChg chg="mod modGraphic">
          <ac:chgData name="Anthony Pacheco" userId="fdf46b62-f4f9-461f-bfbc-c3446c220a65" providerId="ADAL" clId="{46C61306-57F8-4F30-B63F-8877BEB9A9E1}" dt="2026-02-24T05:59:56.110" v="163" actId="255"/>
          <ac:graphicFrameMkLst>
            <pc:docMk/>
            <pc:sldMk cId="613372857" sldId="410"/>
            <ac:graphicFrameMk id="4" creationId="{FFB20CB2-3C71-56CB-5F42-B0D5E67D5CE9}"/>
          </ac:graphicFrameMkLst>
        </pc:graphicFrameChg>
      </pc:sldChg>
      <pc:sldChg chg="addSp modSp mod">
        <pc:chgData name="Anthony Pacheco" userId="fdf46b62-f4f9-461f-bfbc-c3446c220a65" providerId="ADAL" clId="{46C61306-57F8-4F30-B63F-8877BEB9A9E1}" dt="2026-02-24T05:51:57.026" v="33" actId="207"/>
        <pc:sldMkLst>
          <pc:docMk/>
          <pc:sldMk cId="3909749175" sldId="425"/>
        </pc:sldMkLst>
        <pc:spChg chg="mod">
          <ac:chgData name="Anthony Pacheco" userId="fdf46b62-f4f9-461f-bfbc-c3446c220a65" providerId="ADAL" clId="{46C61306-57F8-4F30-B63F-8877BEB9A9E1}" dt="2026-02-24T05:51:02.367" v="12" actId="14100"/>
          <ac:spMkLst>
            <pc:docMk/>
            <pc:sldMk cId="3909749175" sldId="425"/>
            <ac:spMk id="2" creationId="{E28610D1-A121-902A-2634-90D240B9512B}"/>
          </ac:spMkLst>
        </pc:spChg>
        <pc:spChg chg="add mod">
          <ac:chgData name="Anthony Pacheco" userId="fdf46b62-f4f9-461f-bfbc-c3446c220a65" providerId="ADAL" clId="{46C61306-57F8-4F30-B63F-8877BEB9A9E1}" dt="2026-02-24T05:51:57.026" v="33" actId="207"/>
          <ac:spMkLst>
            <pc:docMk/>
            <pc:sldMk cId="3909749175" sldId="425"/>
            <ac:spMk id="4" creationId="{2BEDA509-FBEB-AEE2-8DF7-0BE5E7FF0DC7}"/>
          </ac:spMkLst>
        </pc:spChg>
      </pc:sldChg>
      <pc:sldMasterChg chg="delSp modSp mod modSldLayout">
        <pc:chgData name="Anthony Pacheco" userId="fdf46b62-f4f9-461f-bfbc-c3446c220a65" providerId="ADAL" clId="{46C61306-57F8-4F30-B63F-8877BEB9A9E1}" dt="2026-02-24T05:49:46.497" v="5" actId="20577"/>
        <pc:sldMasterMkLst>
          <pc:docMk/>
          <pc:sldMasterMk cId="682046013" sldId="2147483725"/>
        </pc:sldMasterMkLst>
        <pc:spChg chg="mod">
          <ac:chgData name="Anthony Pacheco" userId="fdf46b62-f4f9-461f-bfbc-c3446c220a65" providerId="ADAL" clId="{46C61306-57F8-4F30-B63F-8877BEB9A9E1}" dt="2026-02-24T05:49:18.603" v="1"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2-24T05:49:26.073" v="2" actId="14100"/>
          <ac:spMkLst>
            <pc:docMk/>
            <pc:sldMasterMk cId="682046013" sldId="2147483725"/>
            <ac:spMk id="13" creationId="{A34EF16C-F8E9-4C74-8268-011BE18366AF}"/>
          </ac:spMkLst>
        </pc:spChg>
        <pc:picChg chg="del">
          <ac:chgData name="Anthony Pacheco" userId="fdf46b62-f4f9-461f-bfbc-c3446c220a65" providerId="ADAL" clId="{46C61306-57F8-4F30-B63F-8877BEB9A9E1}" dt="2026-02-24T05:49:13.415" v="0" actId="478"/>
          <ac:picMkLst>
            <pc:docMk/>
            <pc:sldMasterMk cId="682046013" sldId="2147483725"/>
            <ac:picMk id="14" creationId="{E7C5765A-7DA4-4F63-BBF6-FDB000C6FC14}"/>
          </ac:picMkLst>
        </pc:picChg>
        <pc:sldLayoutChg chg="delSp modSp mod">
          <pc:chgData name="Anthony Pacheco" userId="fdf46b62-f4f9-461f-bfbc-c3446c220a65" providerId="ADAL" clId="{46C61306-57F8-4F30-B63F-8877BEB9A9E1}" dt="2026-02-24T05:49:46.497" v="5"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2-24T05:49:46.497" v="5" actId="20577"/>
            <ac:spMkLst>
              <pc:docMk/>
              <pc:sldMasterMk cId="682046013" sldId="2147483725"/>
              <pc:sldLayoutMk cId="803553635" sldId="2147483763"/>
              <ac:spMk id="11" creationId="{09216FC3-84E9-4B73-9DA8-CF771043770B}"/>
            </ac:spMkLst>
          </pc:spChg>
          <pc:picChg chg="del">
            <ac:chgData name="Anthony Pacheco" userId="fdf46b62-f4f9-461f-bfbc-c3446c220a65" providerId="ADAL" clId="{46C61306-57F8-4F30-B63F-8877BEB9A9E1}" dt="2026-02-24T05:49:43.119" v="4" actId="478"/>
            <ac:picMkLst>
              <pc:docMk/>
              <pc:sldMasterMk cId="682046013" sldId="2147483725"/>
              <pc:sldLayoutMk cId="803553635" sldId="2147483763"/>
              <ac:picMk id="17" creationId="{EAF0C6CA-9F2E-439D-8A9B-5B8BD35A9360}"/>
            </ac:picMkLst>
          </pc:picChg>
        </pc:sldLayoutChg>
        <pc:sldLayoutChg chg="delSp mod">
          <pc:chgData name="Anthony Pacheco" userId="fdf46b62-f4f9-461f-bfbc-c3446c220a65" providerId="ADAL" clId="{46C61306-57F8-4F30-B63F-8877BEB9A9E1}" dt="2026-02-24T05:49:40.494" v="3" actId="478"/>
          <pc:sldLayoutMkLst>
            <pc:docMk/>
            <pc:sldMasterMk cId="682046013" sldId="2147483725"/>
            <pc:sldLayoutMk cId="2170826813" sldId="2147483765"/>
          </pc:sldLayoutMkLst>
          <pc:picChg chg="del">
            <ac:chgData name="Anthony Pacheco" userId="fdf46b62-f4f9-461f-bfbc-c3446c220a65" providerId="ADAL" clId="{46C61306-57F8-4F30-B63F-8877BEB9A9E1}" dt="2026-02-24T05:49:40.494" v="3" actId="478"/>
            <ac:picMkLst>
              <pc:docMk/>
              <pc:sldMasterMk cId="682046013" sldId="2147483725"/>
              <pc:sldLayoutMk cId="2170826813" sldId="2147483765"/>
              <ac:picMk id="21" creationId="{FDE6C580-026E-426D-A0EE-BDE15B891A0A}"/>
            </ac:picMkLst>
          </pc:picChg>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2794857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C8F4D-B36B-2F82-284A-F4A5C0F4D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47A0E-99F4-EC0A-426A-2406DF1A68B7}"/>
              </a:ext>
            </a:extLst>
          </p:cNvPr>
          <p:cNvSpPr>
            <a:spLocks noGrp="1" noRot="1" noChangeAspect="1"/>
          </p:cNvSpPr>
          <p:nvPr>
            <p:ph type="sldImg"/>
          </p:nvPr>
        </p:nvSpPr>
        <p:spPr>
          <a:xfrm>
            <a:off x="685800" y="630238"/>
            <a:ext cx="3778250" cy="2125662"/>
          </a:xfrm>
        </p:spPr>
      </p:sp>
      <p:sp>
        <p:nvSpPr>
          <p:cNvPr id="3" name="Notes Placeholder 2">
            <a:extLst>
              <a:ext uri="{FF2B5EF4-FFF2-40B4-BE49-F238E27FC236}">
                <a16:creationId xmlns:a16="http://schemas.microsoft.com/office/drawing/2014/main" id="{FD5CEF1C-E9FD-CE5C-85BF-5CA55BDA1A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81B476-2FE5-8253-D3F8-22FC0E5A05BC}"/>
              </a:ext>
            </a:extLst>
          </p:cNvPr>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3500147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2749-360B-0B36-E90A-FD1D1CEEF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20936-5E6F-EC84-7783-904BF0B34C35}"/>
              </a:ext>
            </a:extLst>
          </p:cNvPr>
          <p:cNvSpPr>
            <a:spLocks noGrp="1" noRot="1" noChangeAspect="1"/>
          </p:cNvSpPr>
          <p:nvPr>
            <p:ph type="sldImg"/>
          </p:nvPr>
        </p:nvSpPr>
        <p:spPr>
          <a:xfrm>
            <a:off x="685800" y="630238"/>
            <a:ext cx="3778250" cy="2125662"/>
          </a:xfrm>
        </p:spPr>
      </p:sp>
      <p:sp>
        <p:nvSpPr>
          <p:cNvPr id="3" name="Notes Placeholder 2">
            <a:extLst>
              <a:ext uri="{FF2B5EF4-FFF2-40B4-BE49-F238E27FC236}">
                <a16:creationId xmlns:a16="http://schemas.microsoft.com/office/drawing/2014/main" id="{90B52B05-7EAD-E693-C1EE-775A76D86E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33B615-1C27-0DAA-011E-A1198DA160B8}"/>
              </a:ext>
            </a:extLst>
          </p:cNvPr>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932848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1DF59-7810-4FE5-A57B-FD84ADAAA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7E378-A03F-C4FB-3AC9-06695654603D}"/>
              </a:ext>
            </a:extLst>
          </p:cNvPr>
          <p:cNvSpPr>
            <a:spLocks noGrp="1" noRot="1" noChangeAspect="1"/>
          </p:cNvSpPr>
          <p:nvPr>
            <p:ph type="sldImg"/>
          </p:nvPr>
        </p:nvSpPr>
        <p:spPr>
          <a:xfrm>
            <a:off x="685800" y="630238"/>
            <a:ext cx="3778250" cy="2125662"/>
          </a:xfrm>
        </p:spPr>
      </p:sp>
      <p:sp>
        <p:nvSpPr>
          <p:cNvPr id="3" name="Notes Placeholder 2">
            <a:extLst>
              <a:ext uri="{FF2B5EF4-FFF2-40B4-BE49-F238E27FC236}">
                <a16:creationId xmlns:a16="http://schemas.microsoft.com/office/drawing/2014/main" id="{BF20F6F6-13C2-1416-B68F-429F081EEA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3CF22B-E50E-D9F3-B833-33D351658CD9}"/>
              </a:ext>
            </a:extLst>
          </p:cNvPr>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20494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5033-B028-E37F-5B9A-5216E38EA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6DB14-FF90-5E67-00C8-7DD43C18D9EE}"/>
              </a:ext>
            </a:extLst>
          </p:cNvPr>
          <p:cNvSpPr>
            <a:spLocks noGrp="1" noRot="1" noChangeAspect="1"/>
          </p:cNvSpPr>
          <p:nvPr>
            <p:ph type="sldImg"/>
          </p:nvPr>
        </p:nvSpPr>
        <p:spPr>
          <a:xfrm>
            <a:off x="685800" y="630238"/>
            <a:ext cx="3778250" cy="2125662"/>
          </a:xfrm>
        </p:spPr>
      </p:sp>
      <p:sp>
        <p:nvSpPr>
          <p:cNvPr id="3" name="Notes Placeholder 2">
            <a:extLst>
              <a:ext uri="{FF2B5EF4-FFF2-40B4-BE49-F238E27FC236}">
                <a16:creationId xmlns:a16="http://schemas.microsoft.com/office/drawing/2014/main" id="{A741CAF7-6CAF-DCC4-20F1-FD3D6B01A8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5B110C-2584-D9BF-6C94-3A1281C670F7}"/>
              </a:ext>
            </a:extLst>
          </p:cNvPr>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9965330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575745"/>
            <a:ext cx="12192000" cy="2822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6: IP Addressing</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164CFB84-7577-B0CD-6D85-D6F03CD2139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35944" y="694840"/>
            <a:ext cx="3911774" cy="5009545"/>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253331"/>
            <a:ext cx="11241915" cy="4351338"/>
          </a:xfrm>
        </p:spPr>
        <p:txBody>
          <a:bodyPr/>
          <a:lstStyle/>
          <a:p>
            <a:pPr marL="0" indent="0">
              <a:buNone/>
            </a:pPr>
            <a:r>
              <a:rPr lang="en-US" dirty="0"/>
              <a:t>By the end of this chapter, you should be able to:</a:t>
            </a:r>
          </a:p>
          <a:p>
            <a:pPr marL="457200" indent="-457200">
              <a:buFont typeface="+mj-lt"/>
              <a:buAutoNum type="arabicPeriod"/>
            </a:pPr>
            <a:r>
              <a:rPr lang="en-US" altLang="zh-CN" sz="2200" dirty="0"/>
              <a:t>Explain IPv4 addressing</a:t>
            </a:r>
          </a:p>
          <a:p>
            <a:pPr marL="457200" indent="-457200">
              <a:buFont typeface="+mj-lt"/>
              <a:buAutoNum type="arabicPeriod"/>
            </a:pPr>
            <a:r>
              <a:rPr lang="en-US" altLang="zh-CN" sz="2200" dirty="0"/>
              <a:t>Use Classless </a:t>
            </a:r>
            <a:r>
              <a:rPr lang="en-US" altLang="zh-CN" sz="2200" b="1" dirty="0"/>
              <a:t>Interdomain Routing </a:t>
            </a:r>
            <a:r>
              <a:rPr lang="en-US" altLang="zh-CN" sz="2200" dirty="0"/>
              <a:t>Notation</a:t>
            </a:r>
          </a:p>
          <a:p>
            <a:pPr marL="457200" indent="-457200">
              <a:buFont typeface="+mj-lt"/>
              <a:buAutoNum type="arabicPeriod"/>
            </a:pPr>
            <a:r>
              <a:rPr lang="en-US" altLang="zh-CN" sz="2200" dirty="0"/>
              <a:t>Perform </a:t>
            </a:r>
            <a:r>
              <a:rPr lang="en-US" altLang="zh-CN" sz="2200" b="1" dirty="0"/>
              <a:t>subnetting calculations</a:t>
            </a:r>
          </a:p>
          <a:p>
            <a:pPr marL="457200" indent="-457200">
              <a:buFont typeface="+mj-lt"/>
              <a:buAutoNum type="arabicPeriod"/>
            </a:pPr>
            <a:r>
              <a:rPr lang="en-US" altLang="zh-CN" sz="2200" dirty="0"/>
              <a:t>Configure </a:t>
            </a:r>
            <a:r>
              <a:rPr lang="en-US" altLang="zh-CN" sz="2200" b="1" dirty="0"/>
              <a:t>IPv4 addresses</a:t>
            </a:r>
          </a:p>
          <a:p>
            <a:pPr marL="457200" indent="-457200">
              <a:buFont typeface="+mj-lt"/>
              <a:buAutoNum type="arabicPeriod"/>
            </a:pPr>
            <a:r>
              <a:rPr lang="en-US" altLang="zh-CN" sz="2200" dirty="0"/>
              <a:t>Describe </a:t>
            </a:r>
            <a:r>
              <a:rPr lang="en-US" altLang="zh-CN" sz="2200" b="1" dirty="0"/>
              <a:t>Network Address Translation</a:t>
            </a:r>
          </a:p>
          <a:p>
            <a:pPr marL="457200" indent="-457200">
              <a:buFont typeface="+mj-lt"/>
              <a:buAutoNum type="arabicPeriod"/>
            </a:pPr>
            <a:r>
              <a:rPr lang="en-US" altLang="zh-CN" sz="2200" dirty="0"/>
              <a:t>Describe </a:t>
            </a:r>
            <a:r>
              <a:rPr lang="en-US" altLang="zh-CN" sz="2200" b="1" dirty="0"/>
              <a:t>IPv6</a:t>
            </a:r>
          </a:p>
          <a:p>
            <a:pPr marL="457200" indent="-457200">
              <a:buFont typeface="+mj-lt"/>
              <a:buAutoNum type="arabicPeriod"/>
            </a:pPr>
            <a:r>
              <a:rPr lang="en-US" altLang="zh-CN" sz="2200" dirty="0"/>
              <a:t>Explain IPv6 autoconfiguration and IPv4 transitioning methods</a:t>
            </a:r>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2645D-36DB-C793-4A90-29FB9D0386D8}"/>
              </a:ext>
            </a:extLst>
          </p:cNvPr>
          <p:cNvSpPr>
            <a:spLocks noGrp="1"/>
          </p:cNvSpPr>
          <p:nvPr>
            <p:ph type="title"/>
          </p:nvPr>
        </p:nvSpPr>
        <p:spPr/>
        <p:txBody>
          <a:bodyPr/>
          <a:lstStyle/>
          <a:p>
            <a:r>
              <a:rPr lang="en-US" dirty="0"/>
              <a:t>IPv4 Addressing (1 of 2)</a:t>
            </a:r>
          </a:p>
        </p:txBody>
      </p:sp>
      <p:sp>
        <p:nvSpPr>
          <p:cNvPr id="3" name="Content Placeholder 2">
            <a:extLst>
              <a:ext uri="{FF2B5EF4-FFF2-40B4-BE49-F238E27FC236}">
                <a16:creationId xmlns:a16="http://schemas.microsoft.com/office/drawing/2014/main" id="{E93B3082-4362-0CB7-D4A5-2EC98296A0F9}"/>
              </a:ext>
            </a:extLst>
          </p:cNvPr>
          <p:cNvSpPr>
            <a:spLocks noGrp="1"/>
          </p:cNvSpPr>
          <p:nvPr>
            <p:ph idx="1"/>
          </p:nvPr>
        </p:nvSpPr>
        <p:spPr>
          <a:xfrm>
            <a:off x="476843" y="1491992"/>
            <a:ext cx="11241915" cy="4351338"/>
          </a:xfrm>
        </p:spPr>
        <p:txBody>
          <a:bodyPr/>
          <a:lstStyle/>
          <a:p>
            <a:r>
              <a:rPr lang="en-US" dirty="0"/>
              <a:t>An </a:t>
            </a:r>
            <a:r>
              <a:rPr lang="en-US" b="1" dirty="0"/>
              <a:t>IPv4 address </a:t>
            </a:r>
            <a:r>
              <a:rPr lang="en-US" dirty="0"/>
              <a:t>is a 32-bit number divided into four 8-bit values called </a:t>
            </a:r>
            <a:r>
              <a:rPr lang="en-US" b="1" dirty="0"/>
              <a:t>octets</a:t>
            </a:r>
            <a:r>
              <a:rPr lang="en-US" dirty="0"/>
              <a:t>, each octet can have a value from 0 to 255</a:t>
            </a:r>
          </a:p>
          <a:p>
            <a:r>
              <a:rPr lang="en-US" dirty="0"/>
              <a:t>Four decimal numbers are separated by periods in a format called </a:t>
            </a:r>
            <a:r>
              <a:rPr lang="en-US" b="1" dirty="0"/>
              <a:t>dotted decimal notation</a:t>
            </a:r>
          </a:p>
          <a:p>
            <a:r>
              <a:rPr lang="en-US" b="1" dirty="0"/>
              <a:t>Subnet masks </a:t>
            </a:r>
            <a:r>
              <a:rPr lang="en-US" dirty="0"/>
              <a:t>are also 32-bit numbers, that are used to determine how many bits are allocated to a network ID, and how many are allocated to a host ID</a:t>
            </a:r>
          </a:p>
          <a:p>
            <a:r>
              <a:rPr lang="en-US" dirty="0"/>
              <a:t>When written in binary, 1’s in the subnet mask that correspond to bits in the IP address mean the matching bit locations are part of the network ID</a:t>
            </a:r>
          </a:p>
          <a:p>
            <a:endParaRPr lang="en-US" dirty="0"/>
          </a:p>
        </p:txBody>
      </p:sp>
    </p:spTree>
    <p:extLst>
      <p:ext uri="{BB962C8B-B14F-4D97-AF65-F5344CB8AC3E}">
        <p14:creationId xmlns:p14="http://schemas.microsoft.com/office/powerpoint/2010/main" val="169699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06B50-CEE4-FE79-A717-165D710A0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93FC9-A5A7-7695-1D02-0A8EB7012DCF}"/>
              </a:ext>
            </a:extLst>
          </p:cNvPr>
          <p:cNvSpPr>
            <a:spLocks noGrp="1"/>
          </p:cNvSpPr>
          <p:nvPr>
            <p:ph type="title"/>
          </p:nvPr>
        </p:nvSpPr>
        <p:spPr/>
        <p:txBody>
          <a:bodyPr/>
          <a:lstStyle/>
          <a:p>
            <a:r>
              <a:rPr lang="en-US" dirty="0"/>
              <a:t>IPv4 Addressing (2 of 2)</a:t>
            </a:r>
          </a:p>
        </p:txBody>
      </p:sp>
      <p:sp>
        <p:nvSpPr>
          <p:cNvPr id="3" name="Content Placeholder 2">
            <a:extLst>
              <a:ext uri="{FF2B5EF4-FFF2-40B4-BE49-F238E27FC236}">
                <a16:creationId xmlns:a16="http://schemas.microsoft.com/office/drawing/2014/main" id="{A53CB05C-F886-A541-69BE-860E3868D688}"/>
              </a:ext>
            </a:extLst>
          </p:cNvPr>
          <p:cNvSpPr>
            <a:spLocks noGrp="1"/>
          </p:cNvSpPr>
          <p:nvPr>
            <p:ph idx="1"/>
          </p:nvPr>
        </p:nvSpPr>
        <p:spPr/>
        <p:txBody>
          <a:bodyPr/>
          <a:lstStyle/>
          <a:p>
            <a:r>
              <a:rPr lang="en-US" dirty="0"/>
              <a:t>Example:</a:t>
            </a:r>
          </a:p>
          <a:p>
            <a:pPr lvl="1"/>
            <a:r>
              <a:rPr lang="en-US" dirty="0"/>
              <a:t>192.168.14.250 = 11000000.10101000.0001110.11111010</a:t>
            </a:r>
            <a:br>
              <a:rPr lang="en-US" dirty="0"/>
            </a:br>
            <a:r>
              <a:rPr lang="en-US" dirty="0"/>
              <a:t>255.255.255.0 = 11111111.11111111.11111111.00000000</a:t>
            </a:r>
          </a:p>
          <a:p>
            <a:r>
              <a:rPr lang="en-US" dirty="0"/>
              <a:t>The example above shows 192.168.14.0 as the network ID and 250 as the host ID</a:t>
            </a:r>
          </a:p>
          <a:p>
            <a:endParaRPr lang="en-US" dirty="0"/>
          </a:p>
        </p:txBody>
      </p:sp>
    </p:spTree>
    <p:extLst>
      <p:ext uri="{BB962C8B-B14F-4D97-AF65-F5344CB8AC3E}">
        <p14:creationId xmlns:p14="http://schemas.microsoft.com/office/powerpoint/2010/main" val="1613567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9BF81-76D3-A0E2-5BAE-F96ECF0239EF}"/>
              </a:ext>
            </a:extLst>
          </p:cNvPr>
          <p:cNvSpPr>
            <a:spLocks noGrp="1"/>
          </p:cNvSpPr>
          <p:nvPr>
            <p:ph type="title"/>
          </p:nvPr>
        </p:nvSpPr>
        <p:spPr/>
        <p:txBody>
          <a:bodyPr/>
          <a:lstStyle/>
          <a:p>
            <a:r>
              <a:rPr lang="en-US" dirty="0"/>
              <a:t>Binary Math (1 of 8)</a:t>
            </a:r>
          </a:p>
        </p:txBody>
      </p:sp>
      <p:sp>
        <p:nvSpPr>
          <p:cNvPr id="3" name="Content Placeholder 2">
            <a:extLst>
              <a:ext uri="{FF2B5EF4-FFF2-40B4-BE49-F238E27FC236}">
                <a16:creationId xmlns:a16="http://schemas.microsoft.com/office/drawing/2014/main" id="{E72F7E27-954D-9C1A-D436-002487BC2185}"/>
              </a:ext>
            </a:extLst>
          </p:cNvPr>
          <p:cNvSpPr>
            <a:spLocks noGrp="1"/>
          </p:cNvSpPr>
          <p:nvPr>
            <p:ph idx="1"/>
          </p:nvPr>
        </p:nvSpPr>
        <p:spPr>
          <a:xfrm>
            <a:off x="476843" y="1473287"/>
            <a:ext cx="11241915" cy="4351338"/>
          </a:xfrm>
        </p:spPr>
        <p:txBody>
          <a:bodyPr/>
          <a:lstStyle/>
          <a:p>
            <a:r>
              <a:rPr lang="en-US" dirty="0"/>
              <a:t>How is the subnet mask used to determine the network ID?</a:t>
            </a:r>
          </a:p>
          <a:p>
            <a:pPr lvl="1"/>
            <a:r>
              <a:rPr lang="en-US" sz="2200" dirty="0"/>
              <a:t>Computers determine the network ID by doing a </a:t>
            </a:r>
            <a:r>
              <a:rPr lang="en-US" sz="2200" b="1" dirty="0"/>
              <a:t>logical AND operation </a:t>
            </a:r>
            <a:r>
              <a:rPr lang="en-US" sz="2200" dirty="0"/>
              <a:t>between its IP address and subnet mask</a:t>
            </a:r>
          </a:p>
          <a:p>
            <a:pPr lvl="1"/>
            <a:r>
              <a:rPr lang="en-US" sz="2200" dirty="0"/>
              <a:t>A logical AND is an operation between two binary values</a:t>
            </a:r>
          </a:p>
          <a:p>
            <a:r>
              <a:rPr lang="en-US" sz="2200" dirty="0"/>
              <a:t>AND operations can have the following results:</a:t>
            </a:r>
          </a:p>
          <a:p>
            <a:pPr lvl="1"/>
            <a:r>
              <a:rPr lang="en-US" sz="2200" dirty="0"/>
              <a:t>0 AND 0 = 0</a:t>
            </a:r>
          </a:p>
          <a:p>
            <a:pPr lvl="1"/>
            <a:r>
              <a:rPr lang="en-US" sz="2200" dirty="0"/>
              <a:t>1 AND 0 = 0</a:t>
            </a:r>
          </a:p>
          <a:p>
            <a:pPr lvl="1"/>
            <a:r>
              <a:rPr lang="en-US" sz="2200" dirty="0"/>
              <a:t>0 AND 1 = 0</a:t>
            </a:r>
          </a:p>
          <a:p>
            <a:pPr lvl="1"/>
            <a:r>
              <a:rPr lang="en-US" sz="2200" dirty="0"/>
              <a:t>1 AND 1 = 1</a:t>
            </a:r>
          </a:p>
          <a:p>
            <a:endParaRPr lang="en-US" dirty="0"/>
          </a:p>
        </p:txBody>
      </p:sp>
    </p:spTree>
    <p:extLst>
      <p:ext uri="{BB962C8B-B14F-4D97-AF65-F5344CB8AC3E}">
        <p14:creationId xmlns:p14="http://schemas.microsoft.com/office/powerpoint/2010/main" val="4292428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F54F-639E-E15C-26D6-DB73E9D47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49713-4A13-0936-5270-0B572598043B}"/>
              </a:ext>
            </a:extLst>
          </p:cNvPr>
          <p:cNvSpPr>
            <a:spLocks noGrp="1"/>
          </p:cNvSpPr>
          <p:nvPr>
            <p:ph type="title"/>
          </p:nvPr>
        </p:nvSpPr>
        <p:spPr/>
        <p:txBody>
          <a:bodyPr/>
          <a:lstStyle/>
          <a:p>
            <a:r>
              <a:rPr lang="en-US" dirty="0"/>
              <a:t>Binary Math (2 of 8)</a:t>
            </a:r>
          </a:p>
        </p:txBody>
      </p:sp>
      <p:sp>
        <p:nvSpPr>
          <p:cNvPr id="3" name="Content Placeholder 2">
            <a:extLst>
              <a:ext uri="{FF2B5EF4-FFF2-40B4-BE49-F238E27FC236}">
                <a16:creationId xmlns:a16="http://schemas.microsoft.com/office/drawing/2014/main" id="{1E21DAE1-9C32-2F50-81F4-1D13DF2824AB}"/>
              </a:ext>
            </a:extLst>
          </p:cNvPr>
          <p:cNvSpPr>
            <a:spLocks noGrp="1"/>
          </p:cNvSpPr>
          <p:nvPr>
            <p:ph idx="1"/>
          </p:nvPr>
        </p:nvSpPr>
        <p:spPr>
          <a:xfrm>
            <a:off x="476843" y="1485639"/>
            <a:ext cx="11241915" cy="4351338"/>
          </a:xfrm>
        </p:spPr>
        <p:txBody>
          <a:bodyPr/>
          <a:lstStyle/>
          <a:p>
            <a:r>
              <a:rPr lang="en-US" dirty="0"/>
              <a:t>The logical AND operation between a computer’s IP address and subnet mask looks like this:</a:t>
            </a:r>
          </a:p>
          <a:p>
            <a:pPr marL="0" indent="0">
              <a:buNone/>
            </a:pPr>
            <a:r>
              <a:rPr lang="en-US" dirty="0"/>
              <a:t>	10101100.00011111.01100100.00000110 (binary for 172.31.100.6)</a:t>
            </a:r>
          </a:p>
          <a:p>
            <a:pPr marL="0" indent="0">
              <a:buNone/>
            </a:pPr>
            <a:r>
              <a:rPr lang="en-US" dirty="0"/>
              <a:t>	   			AND</a:t>
            </a:r>
          </a:p>
          <a:p>
            <a:pPr marL="0" indent="0">
              <a:buNone/>
            </a:pPr>
            <a:r>
              <a:rPr lang="en-US" dirty="0"/>
              <a:t>	11111111.11111111.00000000.00000000 (binary for 255.255.0.0)</a:t>
            </a:r>
          </a:p>
          <a:p>
            <a:pPr marL="0" indent="0">
              <a:buNone/>
            </a:pPr>
            <a:r>
              <a:rPr lang="en-US" dirty="0"/>
              <a:t>	____________________________</a:t>
            </a:r>
          </a:p>
          <a:p>
            <a:pPr marL="0" indent="0">
              <a:buNone/>
            </a:pPr>
            <a:r>
              <a:rPr lang="en-US" dirty="0"/>
              <a:t>	10101100.00011111.00000000.00000000 (binary for 172.31.0.0)</a:t>
            </a:r>
          </a:p>
          <a:p>
            <a:endParaRPr lang="en-US" dirty="0"/>
          </a:p>
        </p:txBody>
      </p:sp>
    </p:spTree>
    <p:extLst>
      <p:ext uri="{BB962C8B-B14F-4D97-AF65-F5344CB8AC3E}">
        <p14:creationId xmlns:p14="http://schemas.microsoft.com/office/powerpoint/2010/main" val="2031496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B489D-D198-8EA3-4B25-473F40549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ADDC0-CB6E-11D6-DD77-659F10D76241}"/>
              </a:ext>
            </a:extLst>
          </p:cNvPr>
          <p:cNvSpPr>
            <a:spLocks noGrp="1"/>
          </p:cNvSpPr>
          <p:nvPr>
            <p:ph type="title"/>
          </p:nvPr>
        </p:nvSpPr>
        <p:spPr/>
        <p:txBody>
          <a:bodyPr/>
          <a:lstStyle/>
          <a:p>
            <a:r>
              <a:rPr lang="en-US" dirty="0"/>
              <a:t>Binary Math (3 of 8)</a:t>
            </a:r>
          </a:p>
        </p:txBody>
      </p:sp>
      <p:sp>
        <p:nvSpPr>
          <p:cNvPr id="3" name="Content Placeholder 2">
            <a:extLst>
              <a:ext uri="{FF2B5EF4-FFF2-40B4-BE49-F238E27FC236}">
                <a16:creationId xmlns:a16="http://schemas.microsoft.com/office/drawing/2014/main" id="{0A469482-7708-4756-B536-49B81372B2B0}"/>
              </a:ext>
            </a:extLst>
          </p:cNvPr>
          <p:cNvSpPr>
            <a:spLocks noGrp="1"/>
          </p:cNvSpPr>
          <p:nvPr>
            <p:ph idx="1"/>
          </p:nvPr>
        </p:nvSpPr>
        <p:spPr>
          <a:xfrm>
            <a:off x="476843" y="1522711"/>
            <a:ext cx="11241915" cy="4351338"/>
          </a:xfrm>
        </p:spPr>
        <p:txBody>
          <a:bodyPr/>
          <a:lstStyle/>
          <a:p>
            <a:r>
              <a:rPr lang="en-US" dirty="0"/>
              <a:t>Review how the decimal number system works</a:t>
            </a:r>
          </a:p>
          <a:p>
            <a:pPr lvl="1"/>
            <a:r>
              <a:rPr lang="en-US" sz="2200" dirty="0"/>
              <a:t>0 through 9 are used to represent any possible number</a:t>
            </a:r>
          </a:p>
          <a:p>
            <a:pPr lvl="1"/>
            <a:r>
              <a:rPr lang="en-US" sz="2200" dirty="0"/>
              <a:t>Each place in a decimal number can have 10 possible values</a:t>
            </a:r>
          </a:p>
          <a:p>
            <a:pPr lvl="1"/>
            <a:r>
              <a:rPr lang="en-US" sz="2200" dirty="0"/>
              <a:t>The ones place can be expressed as a number 0 through 9, multiplied by 10 raised to the 0 power or 10</a:t>
            </a:r>
            <a:r>
              <a:rPr lang="en-US" sz="2200" baseline="30000" dirty="0"/>
              <a:t>0</a:t>
            </a:r>
            <a:r>
              <a:rPr lang="en-US" sz="2200" dirty="0"/>
              <a:t> (any number raised to the 0 power equals 1)</a:t>
            </a:r>
          </a:p>
          <a:p>
            <a:pPr lvl="1"/>
            <a:r>
              <a:rPr lang="en-US" sz="2200" dirty="0"/>
              <a:t>The decimal number 249 can be expressed as either of the following:</a:t>
            </a:r>
          </a:p>
          <a:p>
            <a:pPr marL="457200" lvl="1" indent="0">
              <a:buNone/>
            </a:pPr>
            <a:r>
              <a:rPr lang="en-US" sz="2200" dirty="0"/>
              <a:t>			(2 * 10</a:t>
            </a:r>
            <a:r>
              <a:rPr lang="en-US" sz="2200" baseline="30000" dirty="0"/>
              <a:t>2</a:t>
            </a:r>
            <a:r>
              <a:rPr lang="en-US" sz="2200" dirty="0"/>
              <a:t> ) + (4 * 10</a:t>
            </a:r>
            <a:r>
              <a:rPr lang="en-US" sz="2200" baseline="30000" dirty="0"/>
              <a:t>1</a:t>
            </a:r>
            <a:r>
              <a:rPr lang="en-US" sz="2200" dirty="0"/>
              <a:t> ) + (9 * 10</a:t>
            </a:r>
            <a:r>
              <a:rPr lang="en-US" sz="2200" baseline="30000" dirty="0"/>
              <a:t>0</a:t>
            </a:r>
            <a:r>
              <a:rPr lang="en-US" sz="2200" dirty="0"/>
              <a:t> ) = 249</a:t>
            </a:r>
          </a:p>
          <a:p>
            <a:pPr marL="457200" lvl="1" indent="0">
              <a:buNone/>
            </a:pPr>
            <a:r>
              <a:rPr lang="en-US" sz="2200" dirty="0"/>
              <a:t>			(2* 100 ) +  (4 * 10 ) + (9 * 1 ) = 249</a:t>
            </a:r>
          </a:p>
          <a:p>
            <a:endParaRPr lang="en-US" dirty="0"/>
          </a:p>
        </p:txBody>
      </p:sp>
    </p:spTree>
    <p:extLst>
      <p:ext uri="{BB962C8B-B14F-4D97-AF65-F5344CB8AC3E}">
        <p14:creationId xmlns:p14="http://schemas.microsoft.com/office/powerpoint/2010/main" val="837362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AF41C-26F4-280B-78D0-848F0D2D8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A7E72-9015-2C21-119F-3D6CF1A0C5B7}"/>
              </a:ext>
            </a:extLst>
          </p:cNvPr>
          <p:cNvSpPr>
            <a:spLocks noGrp="1"/>
          </p:cNvSpPr>
          <p:nvPr>
            <p:ph type="title"/>
          </p:nvPr>
        </p:nvSpPr>
        <p:spPr/>
        <p:txBody>
          <a:bodyPr/>
          <a:lstStyle/>
          <a:p>
            <a:r>
              <a:rPr lang="en-US" dirty="0"/>
              <a:t>Binary Math (4 of 8)</a:t>
            </a:r>
          </a:p>
        </p:txBody>
      </p:sp>
      <p:sp>
        <p:nvSpPr>
          <p:cNvPr id="3" name="Content Placeholder 2">
            <a:extLst>
              <a:ext uri="{FF2B5EF4-FFF2-40B4-BE49-F238E27FC236}">
                <a16:creationId xmlns:a16="http://schemas.microsoft.com/office/drawing/2014/main" id="{BD164534-568D-FF64-A56D-EDA37B7D171F}"/>
              </a:ext>
            </a:extLst>
          </p:cNvPr>
          <p:cNvSpPr>
            <a:spLocks noGrp="1"/>
          </p:cNvSpPr>
          <p:nvPr>
            <p:ph idx="1"/>
          </p:nvPr>
        </p:nvSpPr>
        <p:spPr>
          <a:xfrm>
            <a:off x="476843" y="1708065"/>
            <a:ext cx="11241915" cy="4351338"/>
          </a:xfrm>
        </p:spPr>
        <p:txBody>
          <a:bodyPr/>
          <a:lstStyle/>
          <a:p>
            <a:r>
              <a:rPr lang="en-US" dirty="0"/>
              <a:t>With binary arithmetic, there are only 2 possible values (1 or 0)</a:t>
            </a:r>
          </a:p>
          <a:p>
            <a:r>
              <a:rPr lang="en-US" dirty="0"/>
              <a:t>For example, using the same method you used to solve the decimal example, you can express the binary number 101 as either of the following. The numbers in bold are the binary digits.</a:t>
            </a:r>
          </a:p>
          <a:p>
            <a:pPr marL="0" indent="0">
              <a:buNone/>
            </a:pPr>
            <a:r>
              <a:rPr lang="en-US" dirty="0"/>
              <a:t>		(</a:t>
            </a:r>
            <a:r>
              <a:rPr lang="en-US" b="1" dirty="0"/>
              <a:t>1</a:t>
            </a:r>
            <a:r>
              <a:rPr lang="en-US" dirty="0"/>
              <a:t> * 2</a:t>
            </a:r>
            <a:r>
              <a:rPr lang="en-US" baseline="30000" dirty="0"/>
              <a:t>2</a:t>
            </a:r>
            <a:r>
              <a:rPr lang="en-US" dirty="0"/>
              <a:t> ) + (</a:t>
            </a:r>
            <a:r>
              <a:rPr lang="en-US" b="1" dirty="0"/>
              <a:t>0</a:t>
            </a:r>
            <a:r>
              <a:rPr lang="en-US" dirty="0"/>
              <a:t> * 2</a:t>
            </a:r>
            <a:r>
              <a:rPr lang="en-US" baseline="30000" dirty="0"/>
              <a:t>1</a:t>
            </a:r>
            <a:r>
              <a:rPr lang="en-US" dirty="0"/>
              <a:t> ) + (</a:t>
            </a:r>
            <a:r>
              <a:rPr lang="en-US" b="1" dirty="0"/>
              <a:t>1</a:t>
            </a:r>
            <a:r>
              <a:rPr lang="en-US" dirty="0"/>
              <a:t> * 2</a:t>
            </a:r>
            <a:r>
              <a:rPr lang="en-US" baseline="30000" dirty="0"/>
              <a:t>0</a:t>
            </a:r>
            <a:r>
              <a:rPr lang="en-US" dirty="0"/>
              <a:t> ) = 5</a:t>
            </a:r>
          </a:p>
          <a:p>
            <a:pPr marL="0" indent="0">
              <a:buNone/>
            </a:pPr>
            <a:r>
              <a:rPr lang="en-US" dirty="0"/>
              <a:t>		(</a:t>
            </a:r>
            <a:r>
              <a:rPr lang="en-US" b="1" dirty="0"/>
              <a:t>1</a:t>
            </a:r>
            <a:r>
              <a:rPr lang="en-US" dirty="0"/>
              <a:t> * 4 ) + (</a:t>
            </a:r>
            <a:r>
              <a:rPr lang="en-US" b="1" dirty="0"/>
              <a:t>0</a:t>
            </a:r>
            <a:r>
              <a:rPr lang="en-US" dirty="0"/>
              <a:t> * 2 ) + (</a:t>
            </a:r>
            <a:r>
              <a:rPr lang="en-US" b="1" dirty="0"/>
              <a:t>1</a:t>
            </a:r>
            <a:r>
              <a:rPr lang="en-US" dirty="0"/>
              <a:t> * 1 ) = 5</a:t>
            </a:r>
          </a:p>
          <a:p>
            <a:endParaRPr lang="en-US" dirty="0"/>
          </a:p>
        </p:txBody>
      </p:sp>
    </p:spTree>
    <p:extLst>
      <p:ext uri="{BB962C8B-B14F-4D97-AF65-F5344CB8AC3E}">
        <p14:creationId xmlns:p14="http://schemas.microsoft.com/office/powerpoint/2010/main" val="2144417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C69A4-2E8E-51F1-2B9C-6FE204B8E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A2BCE-3DBD-AE3F-8FC7-BA267E0F9F3A}"/>
              </a:ext>
            </a:extLst>
          </p:cNvPr>
          <p:cNvSpPr>
            <a:spLocks noGrp="1"/>
          </p:cNvSpPr>
          <p:nvPr>
            <p:ph type="title"/>
          </p:nvPr>
        </p:nvSpPr>
        <p:spPr/>
        <p:txBody>
          <a:bodyPr/>
          <a:lstStyle/>
          <a:p>
            <a:r>
              <a:rPr lang="en-US" dirty="0"/>
              <a:t>Binary Math (5 of 8)</a:t>
            </a:r>
          </a:p>
        </p:txBody>
      </p:sp>
      <p:sp>
        <p:nvSpPr>
          <p:cNvPr id="3" name="Content Placeholder 2">
            <a:extLst>
              <a:ext uri="{FF2B5EF4-FFF2-40B4-BE49-F238E27FC236}">
                <a16:creationId xmlns:a16="http://schemas.microsoft.com/office/drawing/2014/main" id="{B95E7987-2674-57E4-4FF0-322BB71F8AD1}"/>
              </a:ext>
            </a:extLst>
          </p:cNvPr>
          <p:cNvSpPr>
            <a:spLocks noGrp="1"/>
          </p:cNvSpPr>
          <p:nvPr>
            <p:ph idx="1"/>
          </p:nvPr>
        </p:nvSpPr>
        <p:spPr>
          <a:xfrm>
            <a:off x="476843" y="1708065"/>
            <a:ext cx="11241915" cy="4351338"/>
          </a:xfrm>
        </p:spPr>
        <p:txBody>
          <a:bodyPr/>
          <a:lstStyle/>
          <a:p>
            <a:r>
              <a:rPr lang="en-US" dirty="0"/>
              <a:t>To convert 125 to binary use Table 6-1 and follow the directions:</a:t>
            </a:r>
          </a:p>
          <a:p>
            <a:pPr lvl="1"/>
            <a:r>
              <a:rPr lang="en-US" sz="2200" dirty="0"/>
              <a:t>125 is less than 128, so you place a 0 in the column under the 128. The test number remains 125</a:t>
            </a:r>
          </a:p>
          <a:p>
            <a:pPr lvl="1"/>
            <a:r>
              <a:rPr lang="en-US" sz="2200" dirty="0"/>
              <a:t>125 is greater than 64, so you place a 1 in the column under the 64 and subtract 64 from 125, leaving your new test number as 61</a:t>
            </a:r>
          </a:p>
          <a:p>
            <a:pPr lvl="1"/>
            <a:r>
              <a:rPr lang="en-US" sz="2200" dirty="0"/>
              <a:t>61 is greater than 32, so you place a 1 in the column under the 32 and subtract 32 from 61, leaving your new test number as 29</a:t>
            </a:r>
          </a:p>
          <a:p>
            <a:pPr lvl="1"/>
            <a:r>
              <a:rPr lang="en-US" sz="2200" dirty="0"/>
              <a:t>29 is greater than 16, so you place a 1 in the column under the 16 and subtract 16 from 29, leaving your new test number as 13</a:t>
            </a:r>
          </a:p>
          <a:p>
            <a:pPr lvl="1"/>
            <a:r>
              <a:rPr lang="en-US" sz="2200" dirty="0"/>
              <a:t>Continued on the slide following Table 6-1</a:t>
            </a:r>
          </a:p>
          <a:p>
            <a:endParaRPr lang="en-US" dirty="0"/>
          </a:p>
        </p:txBody>
      </p:sp>
    </p:spTree>
    <p:extLst>
      <p:ext uri="{BB962C8B-B14F-4D97-AF65-F5344CB8AC3E}">
        <p14:creationId xmlns:p14="http://schemas.microsoft.com/office/powerpoint/2010/main" val="3603537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93211-9B0B-B8E7-AC17-8E5AF1C583B8}"/>
              </a:ext>
            </a:extLst>
          </p:cNvPr>
          <p:cNvSpPr>
            <a:spLocks noGrp="1"/>
          </p:cNvSpPr>
          <p:nvPr>
            <p:ph type="title"/>
          </p:nvPr>
        </p:nvSpPr>
        <p:spPr/>
        <p:txBody>
          <a:bodyPr/>
          <a:lstStyle/>
          <a:p>
            <a:r>
              <a:rPr lang="en-US" dirty="0"/>
              <a:t>Binary Math (6 of 8)</a:t>
            </a:r>
          </a:p>
        </p:txBody>
      </p:sp>
      <p:graphicFrame>
        <p:nvGraphicFramePr>
          <p:cNvPr id="4" name="Content Placeholder 3">
            <a:extLst>
              <a:ext uri="{FF2B5EF4-FFF2-40B4-BE49-F238E27FC236}">
                <a16:creationId xmlns:a16="http://schemas.microsoft.com/office/drawing/2014/main" id="{F1058086-D542-13D6-30C4-358C577721BD}"/>
              </a:ext>
            </a:extLst>
          </p:cNvPr>
          <p:cNvGraphicFramePr>
            <a:graphicFrameLocks noGrp="1"/>
          </p:cNvGraphicFramePr>
          <p:nvPr>
            <p:ph idx="1"/>
            <p:extLst>
              <p:ext uri="{D42A27DB-BD31-4B8C-83A1-F6EECF244321}">
                <p14:modId xmlns:p14="http://schemas.microsoft.com/office/powerpoint/2010/main" val="2029711716"/>
              </p:ext>
            </p:extLst>
          </p:nvPr>
        </p:nvGraphicFramePr>
        <p:xfrm>
          <a:off x="476843" y="1964878"/>
          <a:ext cx="11242672" cy="1655649"/>
        </p:xfrm>
        <a:graphic>
          <a:graphicData uri="http://schemas.openxmlformats.org/drawingml/2006/table">
            <a:tbl>
              <a:tblPr firstRow="1" bandRow="1">
                <a:tableStyleId>{5C22544A-7EE6-4342-B048-85BDC9FD1C3A}</a:tableStyleId>
              </a:tblPr>
              <a:tblGrid>
                <a:gridCol w="1405334">
                  <a:extLst>
                    <a:ext uri="{9D8B030D-6E8A-4147-A177-3AD203B41FA5}">
                      <a16:colId xmlns:a16="http://schemas.microsoft.com/office/drawing/2014/main" val="1057233385"/>
                    </a:ext>
                  </a:extLst>
                </a:gridCol>
                <a:gridCol w="1405334">
                  <a:extLst>
                    <a:ext uri="{9D8B030D-6E8A-4147-A177-3AD203B41FA5}">
                      <a16:colId xmlns:a16="http://schemas.microsoft.com/office/drawing/2014/main" val="2122876600"/>
                    </a:ext>
                  </a:extLst>
                </a:gridCol>
                <a:gridCol w="1405334">
                  <a:extLst>
                    <a:ext uri="{9D8B030D-6E8A-4147-A177-3AD203B41FA5}">
                      <a16:colId xmlns:a16="http://schemas.microsoft.com/office/drawing/2014/main" val="2088249626"/>
                    </a:ext>
                  </a:extLst>
                </a:gridCol>
                <a:gridCol w="1405334">
                  <a:extLst>
                    <a:ext uri="{9D8B030D-6E8A-4147-A177-3AD203B41FA5}">
                      <a16:colId xmlns:a16="http://schemas.microsoft.com/office/drawing/2014/main" val="1958236258"/>
                    </a:ext>
                  </a:extLst>
                </a:gridCol>
                <a:gridCol w="1405334">
                  <a:extLst>
                    <a:ext uri="{9D8B030D-6E8A-4147-A177-3AD203B41FA5}">
                      <a16:colId xmlns:a16="http://schemas.microsoft.com/office/drawing/2014/main" val="3858259058"/>
                    </a:ext>
                  </a:extLst>
                </a:gridCol>
                <a:gridCol w="1405334">
                  <a:extLst>
                    <a:ext uri="{9D8B030D-6E8A-4147-A177-3AD203B41FA5}">
                      <a16:colId xmlns:a16="http://schemas.microsoft.com/office/drawing/2014/main" val="1259158583"/>
                    </a:ext>
                  </a:extLst>
                </a:gridCol>
                <a:gridCol w="1405334">
                  <a:extLst>
                    <a:ext uri="{9D8B030D-6E8A-4147-A177-3AD203B41FA5}">
                      <a16:colId xmlns:a16="http://schemas.microsoft.com/office/drawing/2014/main" val="2496714621"/>
                    </a:ext>
                  </a:extLst>
                </a:gridCol>
                <a:gridCol w="1405334">
                  <a:extLst>
                    <a:ext uri="{9D8B030D-6E8A-4147-A177-3AD203B41FA5}">
                      <a16:colId xmlns:a16="http://schemas.microsoft.com/office/drawing/2014/main" val="2306361299"/>
                    </a:ext>
                  </a:extLst>
                </a:gridCol>
              </a:tblGrid>
              <a:tr h="551883">
                <a:tc>
                  <a:txBody>
                    <a:bodyPr/>
                    <a:lstStyle/>
                    <a:p>
                      <a:pPr algn="ctr"/>
                      <a:r>
                        <a:rPr lang="en-US" sz="1800" dirty="0"/>
                        <a:t>128</a:t>
                      </a:r>
                    </a:p>
                  </a:txBody>
                  <a:tcPr/>
                </a:tc>
                <a:tc>
                  <a:txBody>
                    <a:bodyPr/>
                    <a:lstStyle/>
                    <a:p>
                      <a:pPr algn="ctr"/>
                      <a:r>
                        <a:rPr lang="en-US" sz="1800" dirty="0"/>
                        <a:t>64</a:t>
                      </a:r>
                    </a:p>
                  </a:txBody>
                  <a:tcPr/>
                </a:tc>
                <a:tc>
                  <a:txBody>
                    <a:bodyPr/>
                    <a:lstStyle/>
                    <a:p>
                      <a:pPr algn="ctr"/>
                      <a:r>
                        <a:rPr lang="en-US" sz="1800" dirty="0"/>
                        <a:t>32</a:t>
                      </a:r>
                    </a:p>
                  </a:txBody>
                  <a:tcPr/>
                </a:tc>
                <a:tc>
                  <a:txBody>
                    <a:bodyPr/>
                    <a:lstStyle/>
                    <a:p>
                      <a:pPr algn="ctr"/>
                      <a:r>
                        <a:rPr lang="en-US" sz="1800" dirty="0"/>
                        <a:t>16</a:t>
                      </a:r>
                    </a:p>
                  </a:txBody>
                  <a:tcPr/>
                </a:tc>
                <a:tc>
                  <a:txBody>
                    <a:bodyPr/>
                    <a:lstStyle/>
                    <a:p>
                      <a:pPr algn="ctr"/>
                      <a:r>
                        <a:rPr lang="en-US" sz="1800" dirty="0"/>
                        <a:t>8</a:t>
                      </a:r>
                    </a:p>
                  </a:txBody>
                  <a:tcPr/>
                </a:tc>
                <a:tc>
                  <a:txBody>
                    <a:bodyPr/>
                    <a:lstStyle/>
                    <a:p>
                      <a:pPr algn="ctr"/>
                      <a:r>
                        <a:rPr lang="en-US" sz="1800" dirty="0"/>
                        <a:t>4</a:t>
                      </a:r>
                    </a:p>
                  </a:txBody>
                  <a:tcPr/>
                </a:tc>
                <a:tc>
                  <a:txBody>
                    <a:bodyPr/>
                    <a:lstStyle/>
                    <a:p>
                      <a:pPr algn="ctr"/>
                      <a:r>
                        <a:rPr lang="en-US" sz="1800" dirty="0"/>
                        <a:t>2</a:t>
                      </a:r>
                    </a:p>
                  </a:txBody>
                  <a:tcPr/>
                </a:tc>
                <a:tc>
                  <a:txBody>
                    <a:bodyPr/>
                    <a:lstStyle/>
                    <a:p>
                      <a:pPr algn="ctr"/>
                      <a:r>
                        <a:rPr lang="en-US" sz="1800" dirty="0"/>
                        <a:t>1</a:t>
                      </a:r>
                    </a:p>
                  </a:txBody>
                  <a:tcPr/>
                </a:tc>
                <a:extLst>
                  <a:ext uri="{0D108BD9-81ED-4DB2-BD59-A6C34878D82A}">
                    <a16:rowId xmlns:a16="http://schemas.microsoft.com/office/drawing/2014/main" val="1218464477"/>
                  </a:ext>
                </a:extLst>
              </a:tr>
              <a:tr h="551883">
                <a:tc>
                  <a:txBody>
                    <a:bodyPr/>
                    <a:lstStyle/>
                    <a:p>
                      <a:pPr algn="ctr"/>
                      <a:r>
                        <a:rPr lang="en-US" sz="1800" dirty="0"/>
                        <a:t>2</a:t>
                      </a:r>
                      <a:r>
                        <a:rPr lang="en-US" sz="1800" baseline="30000" dirty="0"/>
                        <a:t>7</a:t>
                      </a:r>
                    </a:p>
                  </a:txBody>
                  <a:tcPr/>
                </a:tc>
                <a:tc>
                  <a:txBody>
                    <a:bodyPr/>
                    <a:lstStyle/>
                    <a:p>
                      <a:pPr algn="ctr"/>
                      <a:r>
                        <a:rPr lang="en-US" sz="1800" dirty="0"/>
                        <a:t>2</a:t>
                      </a:r>
                      <a:r>
                        <a:rPr lang="en-US" sz="1800" baseline="30000" dirty="0"/>
                        <a:t>6</a:t>
                      </a:r>
                    </a:p>
                  </a:txBody>
                  <a:tcPr/>
                </a:tc>
                <a:tc>
                  <a:txBody>
                    <a:bodyPr/>
                    <a:lstStyle/>
                    <a:p>
                      <a:pPr algn="ctr"/>
                      <a:r>
                        <a:rPr lang="en-US" sz="1800" dirty="0"/>
                        <a:t>2</a:t>
                      </a:r>
                      <a:r>
                        <a:rPr lang="en-US" sz="1800" baseline="30000" dirty="0"/>
                        <a:t>5</a:t>
                      </a:r>
                    </a:p>
                  </a:txBody>
                  <a:tcPr/>
                </a:tc>
                <a:tc>
                  <a:txBody>
                    <a:bodyPr/>
                    <a:lstStyle/>
                    <a:p>
                      <a:pPr algn="ctr"/>
                      <a:r>
                        <a:rPr lang="en-US" sz="1800" dirty="0"/>
                        <a:t>2</a:t>
                      </a:r>
                      <a:r>
                        <a:rPr lang="en-US" sz="1800" baseline="30000" dirty="0"/>
                        <a:t>4</a:t>
                      </a:r>
                    </a:p>
                  </a:txBody>
                  <a:tcPr/>
                </a:tc>
                <a:tc>
                  <a:txBody>
                    <a:bodyPr/>
                    <a:lstStyle/>
                    <a:p>
                      <a:pPr algn="ctr"/>
                      <a:r>
                        <a:rPr lang="en-US" sz="1800" dirty="0"/>
                        <a:t>2</a:t>
                      </a:r>
                      <a:r>
                        <a:rPr lang="en-US" sz="1800" baseline="30000" dirty="0"/>
                        <a:t>3</a:t>
                      </a:r>
                    </a:p>
                  </a:txBody>
                  <a:tcPr/>
                </a:tc>
                <a:tc>
                  <a:txBody>
                    <a:bodyPr/>
                    <a:lstStyle/>
                    <a:p>
                      <a:pPr algn="ctr"/>
                      <a:r>
                        <a:rPr lang="en-US" sz="1800" dirty="0"/>
                        <a:t>2</a:t>
                      </a:r>
                      <a:r>
                        <a:rPr lang="en-US" sz="1800" baseline="30000" dirty="0"/>
                        <a:t>2</a:t>
                      </a:r>
                    </a:p>
                  </a:txBody>
                  <a:tcPr/>
                </a:tc>
                <a:tc>
                  <a:txBody>
                    <a:bodyPr/>
                    <a:lstStyle/>
                    <a:p>
                      <a:pPr algn="ctr"/>
                      <a:r>
                        <a:rPr lang="en-US" sz="1800" dirty="0"/>
                        <a:t>2</a:t>
                      </a:r>
                      <a:r>
                        <a:rPr lang="en-US" sz="1800" baseline="30000" dirty="0"/>
                        <a:t>1</a:t>
                      </a:r>
                    </a:p>
                  </a:txBody>
                  <a:tcPr/>
                </a:tc>
                <a:tc>
                  <a:txBody>
                    <a:bodyPr/>
                    <a:lstStyle/>
                    <a:p>
                      <a:pPr algn="ctr"/>
                      <a:r>
                        <a:rPr lang="en-US" sz="1800" dirty="0"/>
                        <a:t>2</a:t>
                      </a:r>
                      <a:r>
                        <a:rPr lang="en-US" sz="1800" baseline="30000" dirty="0"/>
                        <a:t>0</a:t>
                      </a:r>
                    </a:p>
                  </a:txBody>
                  <a:tcPr/>
                </a:tc>
                <a:extLst>
                  <a:ext uri="{0D108BD9-81ED-4DB2-BD59-A6C34878D82A}">
                    <a16:rowId xmlns:a16="http://schemas.microsoft.com/office/drawing/2014/main" val="2383436360"/>
                  </a:ext>
                </a:extLst>
              </a:tr>
              <a:tr h="551883">
                <a:tc>
                  <a:txBody>
                    <a:bodyPr/>
                    <a:lstStyle/>
                    <a:p>
                      <a:pPr algn="ctr"/>
                      <a:r>
                        <a:rPr lang="en-US" sz="1800" dirty="0"/>
                        <a:t>0</a:t>
                      </a:r>
                    </a:p>
                  </a:txBody>
                  <a:tcPr/>
                </a:tc>
                <a:tc>
                  <a:txBody>
                    <a:bodyPr/>
                    <a:lstStyle/>
                    <a:p>
                      <a:pPr algn="ctr"/>
                      <a:r>
                        <a:rPr lang="en-US" sz="1800" dirty="0"/>
                        <a:t>1</a:t>
                      </a:r>
                    </a:p>
                  </a:txBody>
                  <a:tcPr/>
                </a:tc>
                <a:tc>
                  <a:txBody>
                    <a:bodyPr/>
                    <a:lstStyle/>
                    <a:p>
                      <a:pPr algn="ctr"/>
                      <a:r>
                        <a:rPr lang="en-US" sz="1800" dirty="0"/>
                        <a:t>1</a:t>
                      </a:r>
                    </a:p>
                  </a:txBody>
                  <a:tcPr/>
                </a:tc>
                <a:tc>
                  <a:txBody>
                    <a:bodyPr/>
                    <a:lstStyle/>
                    <a:p>
                      <a:pPr algn="ctr"/>
                      <a:r>
                        <a:rPr lang="en-US" sz="1800" dirty="0"/>
                        <a:t>1</a:t>
                      </a:r>
                    </a:p>
                  </a:txBody>
                  <a:tcPr/>
                </a:tc>
                <a:tc>
                  <a:txBody>
                    <a:bodyPr/>
                    <a:lstStyle/>
                    <a:p>
                      <a:pPr algn="ctr"/>
                      <a:r>
                        <a:rPr lang="en-US" sz="1800" dirty="0"/>
                        <a:t>1</a:t>
                      </a:r>
                    </a:p>
                  </a:txBody>
                  <a:tcPr/>
                </a:tc>
                <a:tc>
                  <a:txBody>
                    <a:bodyPr/>
                    <a:lstStyle/>
                    <a:p>
                      <a:pPr algn="ctr"/>
                      <a:r>
                        <a:rPr lang="en-US" sz="1800" dirty="0"/>
                        <a:t>1</a:t>
                      </a:r>
                    </a:p>
                  </a:txBody>
                  <a:tcPr/>
                </a:tc>
                <a:tc>
                  <a:txBody>
                    <a:bodyPr/>
                    <a:lstStyle/>
                    <a:p>
                      <a:pPr algn="ctr"/>
                      <a:r>
                        <a:rPr lang="en-US" sz="1800" dirty="0"/>
                        <a:t>0</a:t>
                      </a:r>
                    </a:p>
                  </a:txBody>
                  <a:tcPr/>
                </a:tc>
                <a:tc>
                  <a:txBody>
                    <a:bodyPr/>
                    <a:lstStyle/>
                    <a:p>
                      <a:pPr algn="ctr"/>
                      <a:r>
                        <a:rPr lang="en-US" sz="1800" dirty="0"/>
                        <a:t>1</a:t>
                      </a:r>
                    </a:p>
                  </a:txBody>
                  <a:tcPr/>
                </a:tc>
                <a:extLst>
                  <a:ext uri="{0D108BD9-81ED-4DB2-BD59-A6C34878D82A}">
                    <a16:rowId xmlns:a16="http://schemas.microsoft.com/office/drawing/2014/main" val="296000890"/>
                  </a:ext>
                </a:extLst>
              </a:tr>
            </a:tbl>
          </a:graphicData>
        </a:graphic>
      </p:graphicFrame>
      <p:sp>
        <p:nvSpPr>
          <p:cNvPr id="5" name="TextBox 4">
            <a:extLst>
              <a:ext uri="{FF2B5EF4-FFF2-40B4-BE49-F238E27FC236}">
                <a16:creationId xmlns:a16="http://schemas.microsoft.com/office/drawing/2014/main" id="{8E1894F3-B4C4-A5A3-2262-F008C11D4FE7}"/>
              </a:ext>
            </a:extLst>
          </p:cNvPr>
          <p:cNvSpPr txBox="1"/>
          <p:nvPr/>
        </p:nvSpPr>
        <p:spPr>
          <a:xfrm>
            <a:off x="476843" y="1454346"/>
            <a:ext cx="4425955" cy="369332"/>
          </a:xfrm>
          <a:prstGeom prst="rect">
            <a:avLst/>
          </a:prstGeom>
          <a:noFill/>
        </p:spPr>
        <p:txBody>
          <a:bodyPr wrap="none" rtlCol="0">
            <a:spAutoFit/>
          </a:bodyPr>
          <a:lstStyle/>
          <a:p>
            <a:r>
              <a:rPr lang="en-US" b="1" dirty="0"/>
              <a:t>Table 6-1  </a:t>
            </a:r>
            <a:r>
              <a:rPr lang="en-US" dirty="0"/>
              <a:t>Decimal-to-binary conversion table</a:t>
            </a:r>
          </a:p>
        </p:txBody>
      </p:sp>
    </p:spTree>
    <p:extLst>
      <p:ext uri="{BB962C8B-B14F-4D97-AF65-F5344CB8AC3E}">
        <p14:creationId xmlns:p14="http://schemas.microsoft.com/office/powerpoint/2010/main" val="3890971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D447-1CFA-3817-7573-2CEB948CB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22610-85C1-4BAA-4DC8-1E3AF0E20048}"/>
              </a:ext>
            </a:extLst>
          </p:cNvPr>
          <p:cNvSpPr>
            <a:spLocks noGrp="1"/>
          </p:cNvSpPr>
          <p:nvPr>
            <p:ph type="title"/>
          </p:nvPr>
        </p:nvSpPr>
        <p:spPr/>
        <p:txBody>
          <a:bodyPr/>
          <a:lstStyle/>
          <a:p>
            <a:r>
              <a:rPr lang="en-US" dirty="0"/>
              <a:t>Binary Math (7 of 8)</a:t>
            </a:r>
          </a:p>
        </p:txBody>
      </p:sp>
      <p:sp>
        <p:nvSpPr>
          <p:cNvPr id="3" name="Content Placeholder 2">
            <a:extLst>
              <a:ext uri="{FF2B5EF4-FFF2-40B4-BE49-F238E27FC236}">
                <a16:creationId xmlns:a16="http://schemas.microsoft.com/office/drawing/2014/main" id="{70F2354F-CC16-A945-AC2F-687DF1813167}"/>
              </a:ext>
            </a:extLst>
          </p:cNvPr>
          <p:cNvSpPr>
            <a:spLocks noGrp="1"/>
          </p:cNvSpPr>
          <p:nvPr>
            <p:ph idx="1"/>
          </p:nvPr>
        </p:nvSpPr>
        <p:spPr>
          <a:xfrm>
            <a:off x="476843" y="1436216"/>
            <a:ext cx="11241915" cy="4351338"/>
          </a:xfrm>
        </p:spPr>
        <p:txBody>
          <a:bodyPr/>
          <a:lstStyle/>
          <a:p>
            <a:r>
              <a:rPr lang="en-US" dirty="0"/>
              <a:t>To convert 125 to binary use Table 6-2 and follow the directions (continued):</a:t>
            </a:r>
          </a:p>
          <a:p>
            <a:pPr lvl="1"/>
            <a:r>
              <a:rPr lang="en-US" sz="2200" dirty="0"/>
              <a:t>13 is greater than 8, so you place a 1 in the column under the 8 and subtract 8 from 13, leaving your new test number as 5</a:t>
            </a:r>
          </a:p>
          <a:p>
            <a:pPr lvl="1"/>
            <a:r>
              <a:rPr lang="en-US" sz="2200" dirty="0"/>
              <a:t>5 is greater than 4, so you place a 1 in the column under the 4 and subtract 4 from 5, leaving your new test number as 1</a:t>
            </a:r>
          </a:p>
          <a:p>
            <a:pPr lvl="1"/>
            <a:r>
              <a:rPr lang="en-US" sz="2200" dirty="0"/>
              <a:t>1 is less than 2, so you place a 0 in the column under the 2</a:t>
            </a:r>
          </a:p>
          <a:p>
            <a:pPr lvl="1"/>
            <a:r>
              <a:rPr lang="en-US" sz="2200" dirty="0"/>
              <a:t>1 is equal to 1, so you place a 1 in the column under the 1 and subtract 1 from 1, leaving your new test number as 0. When your test number is 0, you’re done</a:t>
            </a:r>
          </a:p>
          <a:p>
            <a:endParaRPr lang="en-US" dirty="0"/>
          </a:p>
        </p:txBody>
      </p:sp>
    </p:spTree>
    <p:extLst>
      <p:ext uri="{BB962C8B-B14F-4D97-AF65-F5344CB8AC3E}">
        <p14:creationId xmlns:p14="http://schemas.microsoft.com/office/powerpoint/2010/main" val="15167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3AE9-DBFB-CA48-1AEF-D5B9E7A9C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A945D-C32D-C83C-1318-4EDEF6FEF29F}"/>
              </a:ext>
            </a:extLst>
          </p:cNvPr>
          <p:cNvSpPr>
            <a:spLocks noGrp="1"/>
          </p:cNvSpPr>
          <p:nvPr>
            <p:ph type="title"/>
          </p:nvPr>
        </p:nvSpPr>
        <p:spPr/>
        <p:txBody>
          <a:bodyPr/>
          <a:lstStyle/>
          <a:p>
            <a:r>
              <a:rPr lang="en-US" dirty="0"/>
              <a:t>Binary Math (8 of 8)</a:t>
            </a:r>
          </a:p>
        </p:txBody>
      </p:sp>
      <p:sp>
        <p:nvSpPr>
          <p:cNvPr id="3" name="Content Placeholder 2">
            <a:extLst>
              <a:ext uri="{FF2B5EF4-FFF2-40B4-BE49-F238E27FC236}">
                <a16:creationId xmlns:a16="http://schemas.microsoft.com/office/drawing/2014/main" id="{E287D2D6-359F-DEB1-1E3C-E229EACFF011}"/>
              </a:ext>
            </a:extLst>
          </p:cNvPr>
          <p:cNvSpPr>
            <a:spLocks noGrp="1"/>
          </p:cNvSpPr>
          <p:nvPr>
            <p:ph idx="1"/>
          </p:nvPr>
        </p:nvSpPr>
        <p:spPr>
          <a:xfrm>
            <a:off x="476843" y="1399535"/>
            <a:ext cx="11241915" cy="1720935"/>
          </a:xfrm>
        </p:spPr>
        <p:txBody>
          <a:bodyPr/>
          <a:lstStyle/>
          <a:p>
            <a:r>
              <a:rPr lang="en-US" dirty="0"/>
              <a:t>The easiest way to convert an 8-digit binary number is to use Table 6-3</a:t>
            </a:r>
          </a:p>
          <a:p>
            <a:r>
              <a:rPr lang="en-US" sz="2200" dirty="0"/>
              <a:t>Using the binary number 11010011, you get the following:</a:t>
            </a:r>
          </a:p>
          <a:p>
            <a:pPr marL="0" indent="0">
              <a:buNone/>
            </a:pPr>
            <a:r>
              <a:rPr lang="en-US" sz="2200" dirty="0"/>
              <a:t>	128+64+0+16+0+0+2+1 = 211</a:t>
            </a:r>
          </a:p>
          <a:p>
            <a:endParaRPr lang="en-US" dirty="0"/>
          </a:p>
        </p:txBody>
      </p:sp>
      <p:graphicFrame>
        <p:nvGraphicFramePr>
          <p:cNvPr id="4" name="Table 3">
            <a:extLst>
              <a:ext uri="{FF2B5EF4-FFF2-40B4-BE49-F238E27FC236}">
                <a16:creationId xmlns:a16="http://schemas.microsoft.com/office/drawing/2014/main" id="{FFB20CB2-3C71-56CB-5F42-B0D5E67D5CE9}"/>
              </a:ext>
            </a:extLst>
          </p:cNvPr>
          <p:cNvGraphicFramePr>
            <a:graphicFrameLocks noGrp="1"/>
          </p:cNvGraphicFramePr>
          <p:nvPr>
            <p:extLst>
              <p:ext uri="{D42A27DB-BD31-4B8C-83A1-F6EECF244321}">
                <p14:modId xmlns:p14="http://schemas.microsoft.com/office/powerpoint/2010/main" val="3015750108"/>
              </p:ext>
            </p:extLst>
          </p:nvPr>
        </p:nvGraphicFramePr>
        <p:xfrm>
          <a:off x="967792" y="3753204"/>
          <a:ext cx="10066792" cy="2128611"/>
        </p:xfrm>
        <a:graphic>
          <a:graphicData uri="http://schemas.openxmlformats.org/drawingml/2006/table">
            <a:tbl>
              <a:tblPr firstRow="1" bandRow="1">
                <a:tableStyleId>{5C22544A-7EE6-4342-B048-85BDC9FD1C3A}</a:tableStyleId>
              </a:tblPr>
              <a:tblGrid>
                <a:gridCol w="1258349">
                  <a:extLst>
                    <a:ext uri="{9D8B030D-6E8A-4147-A177-3AD203B41FA5}">
                      <a16:colId xmlns:a16="http://schemas.microsoft.com/office/drawing/2014/main" val="784837862"/>
                    </a:ext>
                  </a:extLst>
                </a:gridCol>
                <a:gridCol w="1258349">
                  <a:extLst>
                    <a:ext uri="{9D8B030D-6E8A-4147-A177-3AD203B41FA5}">
                      <a16:colId xmlns:a16="http://schemas.microsoft.com/office/drawing/2014/main" val="2901413250"/>
                    </a:ext>
                  </a:extLst>
                </a:gridCol>
                <a:gridCol w="1258349">
                  <a:extLst>
                    <a:ext uri="{9D8B030D-6E8A-4147-A177-3AD203B41FA5}">
                      <a16:colId xmlns:a16="http://schemas.microsoft.com/office/drawing/2014/main" val="2930731036"/>
                    </a:ext>
                  </a:extLst>
                </a:gridCol>
                <a:gridCol w="1258349">
                  <a:extLst>
                    <a:ext uri="{9D8B030D-6E8A-4147-A177-3AD203B41FA5}">
                      <a16:colId xmlns:a16="http://schemas.microsoft.com/office/drawing/2014/main" val="569896774"/>
                    </a:ext>
                  </a:extLst>
                </a:gridCol>
                <a:gridCol w="1258349">
                  <a:extLst>
                    <a:ext uri="{9D8B030D-6E8A-4147-A177-3AD203B41FA5}">
                      <a16:colId xmlns:a16="http://schemas.microsoft.com/office/drawing/2014/main" val="2030444607"/>
                    </a:ext>
                  </a:extLst>
                </a:gridCol>
                <a:gridCol w="1258349">
                  <a:extLst>
                    <a:ext uri="{9D8B030D-6E8A-4147-A177-3AD203B41FA5}">
                      <a16:colId xmlns:a16="http://schemas.microsoft.com/office/drawing/2014/main" val="2836122167"/>
                    </a:ext>
                  </a:extLst>
                </a:gridCol>
                <a:gridCol w="1258349">
                  <a:extLst>
                    <a:ext uri="{9D8B030D-6E8A-4147-A177-3AD203B41FA5}">
                      <a16:colId xmlns:a16="http://schemas.microsoft.com/office/drawing/2014/main" val="2063269928"/>
                    </a:ext>
                  </a:extLst>
                </a:gridCol>
                <a:gridCol w="1258349">
                  <a:extLst>
                    <a:ext uri="{9D8B030D-6E8A-4147-A177-3AD203B41FA5}">
                      <a16:colId xmlns:a16="http://schemas.microsoft.com/office/drawing/2014/main" val="503479705"/>
                    </a:ext>
                  </a:extLst>
                </a:gridCol>
              </a:tblGrid>
              <a:tr h="709537">
                <a:tc>
                  <a:txBody>
                    <a:bodyPr/>
                    <a:lstStyle/>
                    <a:p>
                      <a:pPr algn="ctr"/>
                      <a:r>
                        <a:rPr lang="en-US" sz="1600" dirty="0"/>
                        <a:t>128</a:t>
                      </a:r>
                    </a:p>
                  </a:txBody>
                  <a:tcPr/>
                </a:tc>
                <a:tc>
                  <a:txBody>
                    <a:bodyPr/>
                    <a:lstStyle/>
                    <a:p>
                      <a:pPr algn="ctr"/>
                      <a:r>
                        <a:rPr lang="en-US" sz="1600" dirty="0"/>
                        <a:t>64</a:t>
                      </a:r>
                    </a:p>
                  </a:txBody>
                  <a:tcPr/>
                </a:tc>
                <a:tc>
                  <a:txBody>
                    <a:bodyPr/>
                    <a:lstStyle/>
                    <a:p>
                      <a:pPr algn="ctr"/>
                      <a:r>
                        <a:rPr lang="en-US" sz="1600" dirty="0"/>
                        <a:t>32</a:t>
                      </a:r>
                    </a:p>
                  </a:txBody>
                  <a:tcPr/>
                </a:tc>
                <a:tc>
                  <a:txBody>
                    <a:bodyPr/>
                    <a:lstStyle/>
                    <a:p>
                      <a:pPr algn="ctr"/>
                      <a:r>
                        <a:rPr lang="en-US" sz="1600" dirty="0"/>
                        <a:t>16</a:t>
                      </a:r>
                    </a:p>
                  </a:txBody>
                  <a:tcPr/>
                </a:tc>
                <a:tc>
                  <a:txBody>
                    <a:bodyPr/>
                    <a:lstStyle/>
                    <a:p>
                      <a:pPr algn="ctr"/>
                      <a:r>
                        <a:rPr lang="en-US" sz="1600" dirty="0"/>
                        <a:t>8</a:t>
                      </a:r>
                    </a:p>
                  </a:txBody>
                  <a:tcPr/>
                </a:tc>
                <a:tc>
                  <a:txBody>
                    <a:bodyPr/>
                    <a:lstStyle/>
                    <a:p>
                      <a:pPr algn="ctr"/>
                      <a:r>
                        <a:rPr lang="en-US" sz="1600" dirty="0"/>
                        <a:t>4</a:t>
                      </a:r>
                    </a:p>
                  </a:txBody>
                  <a:tcPr/>
                </a:tc>
                <a:tc>
                  <a:txBody>
                    <a:bodyPr/>
                    <a:lstStyle/>
                    <a:p>
                      <a:pPr algn="ctr"/>
                      <a:r>
                        <a:rPr lang="en-US" sz="1600" dirty="0"/>
                        <a:t>2</a:t>
                      </a:r>
                    </a:p>
                  </a:txBody>
                  <a:tcPr/>
                </a:tc>
                <a:tc>
                  <a:txBody>
                    <a:bodyPr/>
                    <a:lstStyle/>
                    <a:p>
                      <a:pPr algn="ctr"/>
                      <a:r>
                        <a:rPr lang="en-US" sz="1600" dirty="0"/>
                        <a:t>1</a:t>
                      </a:r>
                    </a:p>
                  </a:txBody>
                  <a:tcPr/>
                </a:tc>
                <a:extLst>
                  <a:ext uri="{0D108BD9-81ED-4DB2-BD59-A6C34878D82A}">
                    <a16:rowId xmlns:a16="http://schemas.microsoft.com/office/drawing/2014/main" val="3610011122"/>
                  </a:ext>
                </a:extLst>
              </a:tr>
              <a:tr h="709537">
                <a:tc>
                  <a:txBody>
                    <a:bodyPr/>
                    <a:lstStyle/>
                    <a:p>
                      <a:pPr algn="ctr"/>
                      <a:r>
                        <a:rPr lang="en-US" sz="1600" dirty="0"/>
                        <a:t>2</a:t>
                      </a:r>
                      <a:r>
                        <a:rPr lang="en-US" sz="1600" baseline="30000" dirty="0"/>
                        <a:t>7</a:t>
                      </a:r>
                    </a:p>
                  </a:txBody>
                  <a:tcPr/>
                </a:tc>
                <a:tc>
                  <a:txBody>
                    <a:bodyPr/>
                    <a:lstStyle/>
                    <a:p>
                      <a:pPr algn="ctr"/>
                      <a:r>
                        <a:rPr lang="en-US" sz="1600" dirty="0"/>
                        <a:t>2</a:t>
                      </a:r>
                      <a:r>
                        <a:rPr lang="en-US" sz="1600" baseline="30000" dirty="0"/>
                        <a:t>6</a:t>
                      </a:r>
                    </a:p>
                  </a:txBody>
                  <a:tcPr/>
                </a:tc>
                <a:tc>
                  <a:txBody>
                    <a:bodyPr/>
                    <a:lstStyle/>
                    <a:p>
                      <a:pPr algn="ctr"/>
                      <a:r>
                        <a:rPr lang="en-US" sz="1600" dirty="0"/>
                        <a:t>2</a:t>
                      </a:r>
                      <a:r>
                        <a:rPr lang="en-US" sz="1600" baseline="30000" dirty="0"/>
                        <a:t>5</a:t>
                      </a:r>
                    </a:p>
                  </a:txBody>
                  <a:tcPr/>
                </a:tc>
                <a:tc>
                  <a:txBody>
                    <a:bodyPr/>
                    <a:lstStyle/>
                    <a:p>
                      <a:pPr algn="ctr"/>
                      <a:r>
                        <a:rPr lang="en-US" sz="1600" dirty="0"/>
                        <a:t>2</a:t>
                      </a:r>
                      <a:r>
                        <a:rPr lang="en-US" sz="1600" baseline="30000" dirty="0"/>
                        <a:t>4</a:t>
                      </a:r>
                    </a:p>
                  </a:txBody>
                  <a:tcPr/>
                </a:tc>
                <a:tc>
                  <a:txBody>
                    <a:bodyPr/>
                    <a:lstStyle/>
                    <a:p>
                      <a:pPr algn="ctr"/>
                      <a:r>
                        <a:rPr lang="en-US" sz="1600" dirty="0"/>
                        <a:t>2</a:t>
                      </a:r>
                      <a:r>
                        <a:rPr lang="en-US" sz="1600" baseline="30000" dirty="0"/>
                        <a:t>3</a:t>
                      </a:r>
                    </a:p>
                  </a:txBody>
                  <a:tcPr/>
                </a:tc>
                <a:tc>
                  <a:txBody>
                    <a:bodyPr/>
                    <a:lstStyle/>
                    <a:p>
                      <a:pPr algn="ctr"/>
                      <a:r>
                        <a:rPr lang="en-US" sz="1600" dirty="0"/>
                        <a:t>2</a:t>
                      </a:r>
                      <a:r>
                        <a:rPr lang="en-US" sz="1600" baseline="30000" dirty="0"/>
                        <a:t>2</a:t>
                      </a:r>
                    </a:p>
                  </a:txBody>
                  <a:tcPr/>
                </a:tc>
                <a:tc>
                  <a:txBody>
                    <a:bodyPr/>
                    <a:lstStyle/>
                    <a:p>
                      <a:pPr algn="ctr"/>
                      <a:r>
                        <a:rPr lang="en-US" sz="1600" dirty="0"/>
                        <a:t>2</a:t>
                      </a:r>
                      <a:r>
                        <a:rPr lang="en-US" sz="1600" baseline="30000" dirty="0"/>
                        <a:t>1</a:t>
                      </a:r>
                    </a:p>
                  </a:txBody>
                  <a:tcPr/>
                </a:tc>
                <a:tc>
                  <a:txBody>
                    <a:bodyPr/>
                    <a:lstStyle/>
                    <a:p>
                      <a:pPr algn="ctr"/>
                      <a:r>
                        <a:rPr lang="en-US" sz="1600" dirty="0"/>
                        <a:t>2</a:t>
                      </a:r>
                      <a:r>
                        <a:rPr lang="en-US" sz="1600" baseline="30000" dirty="0"/>
                        <a:t>0</a:t>
                      </a:r>
                    </a:p>
                  </a:txBody>
                  <a:tcPr/>
                </a:tc>
                <a:extLst>
                  <a:ext uri="{0D108BD9-81ED-4DB2-BD59-A6C34878D82A}">
                    <a16:rowId xmlns:a16="http://schemas.microsoft.com/office/drawing/2014/main" val="4036246229"/>
                  </a:ext>
                </a:extLst>
              </a:tr>
              <a:tr h="709537">
                <a:tc>
                  <a:txBody>
                    <a:bodyPr/>
                    <a:lstStyle/>
                    <a:p>
                      <a:pPr algn="ctr"/>
                      <a:r>
                        <a:rPr lang="en-US" sz="1600" dirty="0"/>
                        <a:t>1</a:t>
                      </a:r>
                    </a:p>
                  </a:txBody>
                  <a:tcPr/>
                </a:tc>
                <a:tc>
                  <a:txBody>
                    <a:bodyPr/>
                    <a:lstStyle/>
                    <a:p>
                      <a:pPr algn="ctr"/>
                      <a:r>
                        <a:rPr lang="en-US" sz="1600" dirty="0"/>
                        <a:t>1</a:t>
                      </a:r>
                    </a:p>
                  </a:txBody>
                  <a:tcPr/>
                </a:tc>
                <a:tc>
                  <a:txBody>
                    <a:bodyPr/>
                    <a:lstStyle/>
                    <a:p>
                      <a:pPr algn="ctr"/>
                      <a:r>
                        <a:rPr lang="en-US" sz="1600" dirty="0"/>
                        <a:t>0</a:t>
                      </a:r>
                    </a:p>
                  </a:txBody>
                  <a:tcPr/>
                </a:tc>
                <a:tc>
                  <a:txBody>
                    <a:bodyPr/>
                    <a:lstStyle/>
                    <a:p>
                      <a:pPr algn="ctr"/>
                      <a:r>
                        <a:rPr lang="en-US" sz="1600" dirty="0"/>
                        <a:t>1</a:t>
                      </a:r>
                    </a:p>
                  </a:txBody>
                  <a:tcPr/>
                </a:tc>
                <a:tc>
                  <a:txBody>
                    <a:bodyPr/>
                    <a:lstStyle/>
                    <a:p>
                      <a:pPr algn="ctr"/>
                      <a:r>
                        <a:rPr lang="en-US" sz="1600" dirty="0"/>
                        <a:t>0</a:t>
                      </a:r>
                    </a:p>
                  </a:txBody>
                  <a:tcPr/>
                </a:tc>
                <a:tc>
                  <a:txBody>
                    <a:bodyPr/>
                    <a:lstStyle/>
                    <a:p>
                      <a:pPr algn="ctr"/>
                      <a:r>
                        <a:rPr lang="en-US" sz="1600" dirty="0"/>
                        <a:t>0</a:t>
                      </a:r>
                    </a:p>
                  </a:txBody>
                  <a:tcPr/>
                </a:tc>
                <a:tc>
                  <a:txBody>
                    <a:bodyPr/>
                    <a:lstStyle/>
                    <a:p>
                      <a:pPr algn="ctr"/>
                      <a:r>
                        <a:rPr lang="en-US" sz="1600" dirty="0"/>
                        <a:t>1</a:t>
                      </a:r>
                    </a:p>
                  </a:txBody>
                  <a:tcPr/>
                </a:tc>
                <a:tc>
                  <a:txBody>
                    <a:bodyPr/>
                    <a:lstStyle/>
                    <a:p>
                      <a:pPr algn="ctr"/>
                      <a:r>
                        <a:rPr lang="en-US" sz="1600" dirty="0"/>
                        <a:t>1</a:t>
                      </a:r>
                    </a:p>
                  </a:txBody>
                  <a:tcPr/>
                </a:tc>
                <a:extLst>
                  <a:ext uri="{0D108BD9-81ED-4DB2-BD59-A6C34878D82A}">
                    <a16:rowId xmlns:a16="http://schemas.microsoft.com/office/drawing/2014/main" val="2618745594"/>
                  </a:ext>
                </a:extLst>
              </a:tr>
            </a:tbl>
          </a:graphicData>
        </a:graphic>
      </p:graphicFrame>
      <p:sp>
        <p:nvSpPr>
          <p:cNvPr id="5" name="TextBox 4">
            <a:extLst>
              <a:ext uri="{FF2B5EF4-FFF2-40B4-BE49-F238E27FC236}">
                <a16:creationId xmlns:a16="http://schemas.microsoft.com/office/drawing/2014/main" id="{34495DCF-FCE7-945B-282E-94C87E405AA4}"/>
              </a:ext>
            </a:extLst>
          </p:cNvPr>
          <p:cNvSpPr txBox="1"/>
          <p:nvPr/>
        </p:nvSpPr>
        <p:spPr>
          <a:xfrm>
            <a:off x="967791" y="3270916"/>
            <a:ext cx="4714781" cy="369332"/>
          </a:xfrm>
          <a:prstGeom prst="rect">
            <a:avLst/>
          </a:prstGeom>
          <a:noFill/>
        </p:spPr>
        <p:txBody>
          <a:bodyPr wrap="square" rtlCol="0">
            <a:spAutoFit/>
          </a:bodyPr>
          <a:lstStyle/>
          <a:p>
            <a:r>
              <a:rPr lang="en-US" b="1" dirty="0"/>
              <a:t>Table 6-2  </a:t>
            </a:r>
            <a:r>
              <a:rPr lang="en-US" dirty="0"/>
              <a:t>Converting 11010011 to 211</a:t>
            </a:r>
          </a:p>
        </p:txBody>
      </p:sp>
    </p:spTree>
    <p:extLst>
      <p:ext uri="{BB962C8B-B14F-4D97-AF65-F5344CB8AC3E}">
        <p14:creationId xmlns:p14="http://schemas.microsoft.com/office/powerpoint/2010/main" val="613372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1F65-A637-D2D2-CF88-07A42BB9C85B}"/>
              </a:ext>
            </a:extLst>
          </p:cNvPr>
          <p:cNvSpPr>
            <a:spLocks noGrp="1"/>
          </p:cNvSpPr>
          <p:nvPr>
            <p:ph type="title"/>
          </p:nvPr>
        </p:nvSpPr>
        <p:spPr/>
        <p:txBody>
          <a:bodyPr/>
          <a:lstStyle/>
          <a:p>
            <a:r>
              <a:rPr lang="en-US" dirty="0"/>
              <a:t>IPv4 Address Classes (1 of 3)</a:t>
            </a:r>
          </a:p>
        </p:txBody>
      </p:sp>
      <p:sp>
        <p:nvSpPr>
          <p:cNvPr id="3" name="Content Placeholder 2">
            <a:extLst>
              <a:ext uri="{FF2B5EF4-FFF2-40B4-BE49-F238E27FC236}">
                <a16:creationId xmlns:a16="http://schemas.microsoft.com/office/drawing/2014/main" id="{0819272E-F3FE-DCD6-8EB2-927094CCF939}"/>
              </a:ext>
            </a:extLst>
          </p:cNvPr>
          <p:cNvSpPr>
            <a:spLocks noGrp="1"/>
          </p:cNvSpPr>
          <p:nvPr>
            <p:ph idx="1"/>
          </p:nvPr>
        </p:nvSpPr>
        <p:spPr/>
        <p:txBody>
          <a:bodyPr/>
          <a:lstStyle/>
          <a:p>
            <a:r>
              <a:rPr lang="en-US" dirty="0"/>
              <a:t>IP Addresses are categorized in Classes A-E</a:t>
            </a:r>
          </a:p>
          <a:p>
            <a:pPr lvl="1"/>
            <a:r>
              <a:rPr lang="en-US" sz="2200" dirty="0"/>
              <a:t>Only IP addresses in the A, B, and C classes are available for host assignment</a:t>
            </a:r>
          </a:p>
          <a:p>
            <a:r>
              <a:rPr lang="en-US" dirty="0"/>
              <a:t>Class A address information:</a:t>
            </a:r>
          </a:p>
          <a:p>
            <a:pPr lvl="1"/>
            <a:r>
              <a:rPr lang="en-US" sz="2200" dirty="0"/>
              <a:t>The value of the first octet is between 1 and 127</a:t>
            </a:r>
          </a:p>
          <a:p>
            <a:pPr lvl="1"/>
            <a:r>
              <a:rPr lang="en-US" sz="2200" dirty="0"/>
              <a:t>An IP </a:t>
            </a:r>
            <a:r>
              <a:rPr lang="en-US" sz="2200" b="1" dirty="0"/>
              <a:t>address registry</a:t>
            </a:r>
            <a:r>
              <a:rPr lang="en-US" sz="2200" dirty="0"/>
              <a:t> assigns the first octet, leaving the last three octets to be assigned to hosts</a:t>
            </a:r>
          </a:p>
          <a:p>
            <a:pPr lvl="1"/>
            <a:r>
              <a:rPr lang="en-US" sz="2200" dirty="0"/>
              <a:t>This allows 24 bits of address space or 16,777,214 hosts per network address</a:t>
            </a:r>
            <a:endParaRPr lang="en-US" dirty="0"/>
          </a:p>
        </p:txBody>
      </p:sp>
    </p:spTree>
    <p:extLst>
      <p:ext uri="{BB962C8B-B14F-4D97-AF65-F5344CB8AC3E}">
        <p14:creationId xmlns:p14="http://schemas.microsoft.com/office/powerpoint/2010/main" val="1473250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E590-FF70-3322-DD97-71BD73EF6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BFBE2-F676-6F54-DC56-A8B058EAE2CA}"/>
              </a:ext>
            </a:extLst>
          </p:cNvPr>
          <p:cNvSpPr>
            <a:spLocks noGrp="1"/>
          </p:cNvSpPr>
          <p:nvPr>
            <p:ph type="title"/>
          </p:nvPr>
        </p:nvSpPr>
        <p:spPr/>
        <p:txBody>
          <a:bodyPr/>
          <a:lstStyle/>
          <a:p>
            <a:r>
              <a:rPr lang="en-US" dirty="0"/>
              <a:t>IPv4 Address Classes (2 of 3)</a:t>
            </a:r>
          </a:p>
        </p:txBody>
      </p:sp>
      <p:sp>
        <p:nvSpPr>
          <p:cNvPr id="3" name="Content Placeholder 2">
            <a:extLst>
              <a:ext uri="{FF2B5EF4-FFF2-40B4-BE49-F238E27FC236}">
                <a16:creationId xmlns:a16="http://schemas.microsoft.com/office/drawing/2014/main" id="{17385BF1-FD40-4EDB-BEC9-AEF7A25DDEC9}"/>
              </a:ext>
            </a:extLst>
          </p:cNvPr>
          <p:cNvSpPr>
            <a:spLocks noGrp="1"/>
          </p:cNvSpPr>
          <p:nvPr>
            <p:ph idx="1"/>
          </p:nvPr>
        </p:nvSpPr>
        <p:spPr>
          <a:xfrm>
            <a:off x="476843" y="1697791"/>
            <a:ext cx="11241915" cy="4351338"/>
          </a:xfrm>
        </p:spPr>
        <p:txBody>
          <a:bodyPr/>
          <a:lstStyle/>
          <a:p>
            <a:r>
              <a:rPr lang="en-US" dirty="0"/>
              <a:t>Class B address information:</a:t>
            </a:r>
          </a:p>
          <a:p>
            <a:pPr lvl="1"/>
            <a:r>
              <a:rPr lang="en-US" sz="2200" dirty="0"/>
              <a:t>The value of the first octet is between 128 and 191</a:t>
            </a:r>
          </a:p>
          <a:p>
            <a:pPr lvl="1"/>
            <a:r>
              <a:rPr lang="en-US" sz="2200" dirty="0"/>
              <a:t>An IP registry assigns the first two octets, leaving the third and fourth octets to be assigned to hosts</a:t>
            </a:r>
          </a:p>
          <a:p>
            <a:pPr lvl="1"/>
            <a:r>
              <a:rPr lang="en-US" sz="2200" dirty="0"/>
              <a:t>Having two octets in the host ID allows 65,534 hosts per network address</a:t>
            </a:r>
          </a:p>
          <a:p>
            <a:r>
              <a:rPr lang="en-US" dirty="0"/>
              <a:t>Class C address information:</a:t>
            </a:r>
          </a:p>
          <a:p>
            <a:pPr lvl="1"/>
            <a:r>
              <a:rPr lang="en-US" sz="2200" dirty="0"/>
              <a:t>The value of the first octet is between 192 and 223</a:t>
            </a:r>
          </a:p>
          <a:p>
            <a:pPr lvl="1"/>
            <a:r>
              <a:rPr lang="en-US" sz="2200" dirty="0"/>
              <a:t>An IP address registry assigns the first three octets</a:t>
            </a:r>
          </a:p>
          <a:p>
            <a:pPr lvl="1"/>
            <a:r>
              <a:rPr lang="en-US" sz="2200" dirty="0"/>
              <a:t>These networks are limited to 254 hosts per network</a:t>
            </a:r>
          </a:p>
          <a:p>
            <a:endParaRPr lang="en-US" dirty="0"/>
          </a:p>
        </p:txBody>
      </p:sp>
    </p:spTree>
    <p:extLst>
      <p:ext uri="{BB962C8B-B14F-4D97-AF65-F5344CB8AC3E}">
        <p14:creationId xmlns:p14="http://schemas.microsoft.com/office/powerpoint/2010/main" val="2354030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3628-FEFD-6C47-700E-C923A8974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52EC-71CA-F710-1CE4-5FEC48789F54}"/>
              </a:ext>
            </a:extLst>
          </p:cNvPr>
          <p:cNvSpPr>
            <a:spLocks noGrp="1"/>
          </p:cNvSpPr>
          <p:nvPr>
            <p:ph type="title"/>
          </p:nvPr>
        </p:nvSpPr>
        <p:spPr/>
        <p:txBody>
          <a:bodyPr/>
          <a:lstStyle/>
          <a:p>
            <a:r>
              <a:rPr lang="en-US" dirty="0"/>
              <a:t>IPv4 Address Classes (3 of 3)</a:t>
            </a:r>
          </a:p>
        </p:txBody>
      </p:sp>
      <p:sp>
        <p:nvSpPr>
          <p:cNvPr id="3" name="Content Placeholder 2">
            <a:extLst>
              <a:ext uri="{FF2B5EF4-FFF2-40B4-BE49-F238E27FC236}">
                <a16:creationId xmlns:a16="http://schemas.microsoft.com/office/drawing/2014/main" id="{7E529E41-59DA-74BF-D0E1-73D947082C0C}"/>
              </a:ext>
            </a:extLst>
          </p:cNvPr>
          <p:cNvSpPr>
            <a:spLocks noGrp="1"/>
          </p:cNvSpPr>
          <p:nvPr>
            <p:ph idx="1"/>
          </p:nvPr>
        </p:nvSpPr>
        <p:spPr>
          <a:xfrm>
            <a:off x="476843" y="1697791"/>
            <a:ext cx="11241915" cy="4351338"/>
          </a:xfrm>
        </p:spPr>
        <p:txBody>
          <a:bodyPr/>
          <a:lstStyle/>
          <a:p>
            <a:r>
              <a:rPr lang="en-US" dirty="0"/>
              <a:t>Class D addresses (224-239) are reserved for </a:t>
            </a:r>
            <a:r>
              <a:rPr lang="en-US" b="1" dirty="0"/>
              <a:t>multicasting</a:t>
            </a:r>
          </a:p>
          <a:p>
            <a:r>
              <a:rPr lang="en-US" dirty="0"/>
              <a:t>Class E addresses (240-255) are reserved for experimental use and can’t be used for address assignment</a:t>
            </a:r>
          </a:p>
          <a:p>
            <a:r>
              <a:rPr lang="en-US" b="1" dirty="0"/>
              <a:t>Host address space </a:t>
            </a:r>
            <a:r>
              <a:rPr lang="en-US" dirty="0"/>
              <a:t>is the total number of addresses in an IP network number that can be assigned to hosts</a:t>
            </a:r>
          </a:p>
          <a:p>
            <a:r>
              <a:rPr lang="en-US" b="1" dirty="0"/>
              <a:t>Loopback address </a:t>
            </a:r>
            <a:r>
              <a:rPr lang="en-US" dirty="0"/>
              <a:t>refers to the local computer and is used to test the functioning of TCP/IP on the local computer</a:t>
            </a:r>
          </a:p>
          <a:p>
            <a:endParaRPr lang="en-US" dirty="0"/>
          </a:p>
        </p:txBody>
      </p:sp>
    </p:spTree>
    <p:extLst>
      <p:ext uri="{BB962C8B-B14F-4D97-AF65-F5344CB8AC3E}">
        <p14:creationId xmlns:p14="http://schemas.microsoft.com/office/powerpoint/2010/main" val="2471701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AA824-59D0-8852-7679-34FB8AB8053E}"/>
              </a:ext>
            </a:extLst>
          </p:cNvPr>
          <p:cNvSpPr>
            <a:spLocks noGrp="1"/>
          </p:cNvSpPr>
          <p:nvPr>
            <p:ph type="title"/>
          </p:nvPr>
        </p:nvSpPr>
        <p:spPr/>
        <p:txBody>
          <a:bodyPr/>
          <a:lstStyle/>
          <a:p>
            <a:r>
              <a:rPr lang="en-US" dirty="0"/>
              <a:t>Private IP Addresses</a:t>
            </a:r>
          </a:p>
        </p:txBody>
      </p:sp>
      <p:sp>
        <p:nvSpPr>
          <p:cNvPr id="3" name="Content Placeholder 2">
            <a:extLst>
              <a:ext uri="{FF2B5EF4-FFF2-40B4-BE49-F238E27FC236}">
                <a16:creationId xmlns:a16="http://schemas.microsoft.com/office/drawing/2014/main" id="{7D8C5251-A6B1-1498-5F0A-F47D4FEDF3E7}"/>
              </a:ext>
            </a:extLst>
          </p:cNvPr>
          <p:cNvSpPr>
            <a:spLocks noGrp="1"/>
          </p:cNvSpPr>
          <p:nvPr>
            <p:ph idx="1"/>
          </p:nvPr>
        </p:nvSpPr>
        <p:spPr/>
        <p:txBody>
          <a:bodyPr/>
          <a:lstStyle/>
          <a:p>
            <a:r>
              <a:rPr lang="en-US" dirty="0"/>
              <a:t>A series of addresses have been reserved for private networks</a:t>
            </a:r>
          </a:p>
          <a:p>
            <a:pPr lvl="1"/>
            <a:r>
              <a:rPr lang="en-US" sz="2200" dirty="0"/>
              <a:t>Reserved addresses:</a:t>
            </a:r>
          </a:p>
          <a:p>
            <a:pPr lvl="2"/>
            <a:r>
              <a:rPr lang="en-US" sz="2000" dirty="0"/>
              <a:t>Class A addresses beginning with 10</a:t>
            </a:r>
          </a:p>
          <a:p>
            <a:pPr lvl="2"/>
            <a:r>
              <a:rPr lang="en-US" sz="2000" dirty="0"/>
              <a:t>Class B addresses from 172.16 to 172.31</a:t>
            </a:r>
          </a:p>
          <a:p>
            <a:pPr lvl="2"/>
            <a:r>
              <a:rPr lang="en-US" sz="2000" dirty="0"/>
              <a:t>Class C addresses from 192.168.0 to 192.168.255</a:t>
            </a:r>
          </a:p>
          <a:p>
            <a:pPr lvl="1"/>
            <a:r>
              <a:rPr lang="en-US" sz="2200" dirty="0"/>
              <a:t>The addresses in those ranges can’t be routed across the Internet</a:t>
            </a:r>
          </a:p>
          <a:p>
            <a:pPr lvl="1"/>
            <a:r>
              <a:rPr lang="en-US" sz="2200" dirty="0"/>
              <a:t>If access to the Internet is necessary, a process called Network Address Translation (NAT) is used</a:t>
            </a:r>
          </a:p>
          <a:p>
            <a:pPr lvl="1"/>
            <a:r>
              <a:rPr lang="en-US" sz="2200" dirty="0"/>
              <a:t>NAT will be explained later in the chapter</a:t>
            </a:r>
          </a:p>
          <a:p>
            <a:endParaRPr lang="en-US" dirty="0"/>
          </a:p>
        </p:txBody>
      </p:sp>
    </p:spTree>
    <p:extLst>
      <p:ext uri="{BB962C8B-B14F-4D97-AF65-F5344CB8AC3E}">
        <p14:creationId xmlns:p14="http://schemas.microsoft.com/office/powerpoint/2010/main" val="686698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EC04-6D4C-D74F-9B94-25F44FDCCC13}"/>
              </a:ext>
            </a:extLst>
          </p:cNvPr>
          <p:cNvSpPr>
            <a:spLocks noGrp="1"/>
          </p:cNvSpPr>
          <p:nvPr>
            <p:ph type="title"/>
          </p:nvPr>
        </p:nvSpPr>
        <p:spPr/>
        <p:txBody>
          <a:bodyPr/>
          <a:lstStyle/>
          <a:p>
            <a:r>
              <a:rPr lang="en-US" dirty="0"/>
              <a:t>Classless Interdomain Routing</a:t>
            </a:r>
          </a:p>
        </p:txBody>
      </p:sp>
      <p:sp>
        <p:nvSpPr>
          <p:cNvPr id="3" name="Content Placeholder 2">
            <a:extLst>
              <a:ext uri="{FF2B5EF4-FFF2-40B4-BE49-F238E27FC236}">
                <a16:creationId xmlns:a16="http://schemas.microsoft.com/office/drawing/2014/main" id="{F6851D08-3765-24C7-2CF2-9B3200B2643A}"/>
              </a:ext>
            </a:extLst>
          </p:cNvPr>
          <p:cNvSpPr>
            <a:spLocks noGrp="1"/>
          </p:cNvSpPr>
          <p:nvPr>
            <p:ph idx="1"/>
          </p:nvPr>
        </p:nvSpPr>
        <p:spPr/>
        <p:txBody>
          <a:bodyPr/>
          <a:lstStyle/>
          <a:p>
            <a:r>
              <a:rPr lang="en-US" b="1" dirty="0"/>
              <a:t>Classless Interdomain Routing </a:t>
            </a:r>
            <a:r>
              <a:rPr lang="en-US" dirty="0"/>
              <a:t>(</a:t>
            </a:r>
            <a:r>
              <a:rPr lang="en-US" b="1" dirty="0"/>
              <a:t>CIDR</a:t>
            </a:r>
            <a:r>
              <a:rPr lang="en-US" dirty="0"/>
              <a:t>) is a type of address configuration where subnet masks could be configured regardless of the address class</a:t>
            </a:r>
          </a:p>
          <a:p>
            <a:r>
              <a:rPr lang="en-US" dirty="0"/>
              <a:t>The use of IP addresses with their default subnet masks is referred to as </a:t>
            </a:r>
            <a:r>
              <a:rPr lang="en-US" b="1" dirty="0"/>
              <a:t>classful addressing</a:t>
            </a:r>
          </a:p>
          <a:p>
            <a:r>
              <a:rPr lang="en-US" dirty="0"/>
              <a:t>With CIDR, you could assign the IP address of 172.31.210.10 with a subnet mask of 255.255.255.0</a:t>
            </a:r>
          </a:p>
          <a:p>
            <a:r>
              <a:rPr lang="en-US" dirty="0"/>
              <a:t>In this case 172.31.210.0 would be the network ID and .10 would be the host ID</a:t>
            </a:r>
          </a:p>
          <a:p>
            <a:endParaRPr lang="en-US" dirty="0"/>
          </a:p>
          <a:p>
            <a:endParaRPr lang="en-US" dirty="0"/>
          </a:p>
        </p:txBody>
      </p:sp>
    </p:spTree>
    <p:extLst>
      <p:ext uri="{BB962C8B-B14F-4D97-AF65-F5344CB8AC3E}">
        <p14:creationId xmlns:p14="http://schemas.microsoft.com/office/powerpoint/2010/main" val="3158727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49715-A1E2-0C20-8957-D69EC1B2EE95}"/>
              </a:ext>
            </a:extLst>
          </p:cNvPr>
          <p:cNvSpPr>
            <a:spLocks noGrp="1"/>
          </p:cNvSpPr>
          <p:nvPr>
            <p:ph type="title"/>
          </p:nvPr>
        </p:nvSpPr>
        <p:spPr/>
        <p:txBody>
          <a:bodyPr/>
          <a:lstStyle/>
          <a:p>
            <a:r>
              <a:rPr lang="en-US" dirty="0"/>
              <a:t>CIDR Notation</a:t>
            </a:r>
          </a:p>
        </p:txBody>
      </p:sp>
      <p:sp>
        <p:nvSpPr>
          <p:cNvPr id="3" name="Content Placeholder 2">
            <a:extLst>
              <a:ext uri="{FF2B5EF4-FFF2-40B4-BE49-F238E27FC236}">
                <a16:creationId xmlns:a16="http://schemas.microsoft.com/office/drawing/2014/main" id="{97AEE8D9-FC68-14EE-FFDD-3EB90C7127BE}"/>
              </a:ext>
            </a:extLst>
          </p:cNvPr>
          <p:cNvSpPr>
            <a:spLocks noGrp="1"/>
          </p:cNvSpPr>
          <p:nvPr>
            <p:ph idx="1"/>
          </p:nvPr>
        </p:nvSpPr>
        <p:spPr/>
        <p:txBody>
          <a:bodyPr/>
          <a:lstStyle/>
          <a:p>
            <a:r>
              <a:rPr lang="en-US" b="1" dirty="0"/>
              <a:t>CIDR notation </a:t>
            </a:r>
            <a:r>
              <a:rPr lang="en-US" dirty="0"/>
              <a:t>uses the format A.B.C.D/n where n is the number of 1 bits in the subnet mask</a:t>
            </a:r>
          </a:p>
          <a:p>
            <a:pPr lvl="1"/>
            <a:r>
              <a:rPr lang="en-US" dirty="0"/>
              <a:t>This number is also referred to as the </a:t>
            </a:r>
            <a:r>
              <a:rPr lang="en-US" b="1" dirty="0"/>
              <a:t>IP prefix</a:t>
            </a:r>
          </a:p>
          <a:p>
            <a:r>
              <a:rPr lang="en-US" dirty="0"/>
              <a:t>Example:</a:t>
            </a:r>
          </a:p>
          <a:p>
            <a:pPr lvl="1"/>
            <a:r>
              <a:rPr lang="en-US" dirty="0"/>
              <a:t>172.31.210.10 with a 255.255.255.0 subnet mask is expressed as 172.31.210.10/24 in CIDR notation</a:t>
            </a:r>
          </a:p>
          <a:p>
            <a:pPr lvl="1"/>
            <a:r>
              <a:rPr lang="en-US" dirty="0"/>
              <a:t>The network ID is 24 bits, leaving 8 bits for the host ID</a:t>
            </a:r>
          </a:p>
          <a:p>
            <a:endParaRPr lang="en-US" dirty="0"/>
          </a:p>
        </p:txBody>
      </p:sp>
    </p:spTree>
    <p:extLst>
      <p:ext uri="{BB962C8B-B14F-4D97-AF65-F5344CB8AC3E}">
        <p14:creationId xmlns:p14="http://schemas.microsoft.com/office/powerpoint/2010/main" val="2928407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90364-85CE-3E57-3479-7E444715CA04}"/>
              </a:ext>
            </a:extLst>
          </p:cNvPr>
          <p:cNvSpPr>
            <a:spLocks noGrp="1"/>
          </p:cNvSpPr>
          <p:nvPr>
            <p:ph type="title"/>
          </p:nvPr>
        </p:nvSpPr>
        <p:spPr/>
        <p:txBody>
          <a:bodyPr/>
          <a:lstStyle/>
          <a:p>
            <a:r>
              <a:rPr lang="en-US" dirty="0"/>
              <a:t>Broadcast Domains</a:t>
            </a:r>
          </a:p>
        </p:txBody>
      </p:sp>
      <p:sp>
        <p:nvSpPr>
          <p:cNvPr id="3" name="Content Placeholder 2">
            <a:extLst>
              <a:ext uri="{FF2B5EF4-FFF2-40B4-BE49-F238E27FC236}">
                <a16:creationId xmlns:a16="http://schemas.microsoft.com/office/drawing/2014/main" id="{16C7E912-331B-AC5E-3294-5ACD5D6BF90D}"/>
              </a:ext>
            </a:extLst>
          </p:cNvPr>
          <p:cNvSpPr>
            <a:spLocks noGrp="1"/>
          </p:cNvSpPr>
          <p:nvPr>
            <p:ph idx="1"/>
          </p:nvPr>
        </p:nvSpPr>
        <p:spPr/>
        <p:txBody>
          <a:bodyPr/>
          <a:lstStyle/>
          <a:p>
            <a:r>
              <a:rPr lang="en-US" dirty="0"/>
              <a:t>A broadcast domain defines which devices must receive a packet that’s broadcast by any other device</a:t>
            </a:r>
          </a:p>
          <a:p>
            <a:r>
              <a:rPr lang="en-US" dirty="0"/>
              <a:t>TCP/IP communication relies heavily on broadcast packets </a:t>
            </a:r>
          </a:p>
          <a:p>
            <a:r>
              <a:rPr lang="en-US" dirty="0"/>
              <a:t>DHCP and ARP use broadcasts to perform their tasks</a:t>
            </a:r>
          </a:p>
          <a:p>
            <a:r>
              <a:rPr lang="en-US" dirty="0"/>
              <a:t>Every time a computer receives a broadcast packet, the NIC generates an interrupt, causing the CPU to stop what it’s doing and read the packet</a:t>
            </a:r>
          </a:p>
          <a:p>
            <a:r>
              <a:rPr lang="en-US" dirty="0"/>
              <a:t>If the broadcast is not relevant to the computer, the packet is discarded</a:t>
            </a:r>
          </a:p>
          <a:p>
            <a:endParaRPr lang="en-US" dirty="0"/>
          </a:p>
        </p:txBody>
      </p:sp>
    </p:spTree>
    <p:extLst>
      <p:ext uri="{BB962C8B-B14F-4D97-AF65-F5344CB8AC3E}">
        <p14:creationId xmlns:p14="http://schemas.microsoft.com/office/powerpoint/2010/main" val="377920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C9552-689C-CFE5-F4BA-95BF591E2E37}"/>
              </a:ext>
            </a:extLst>
          </p:cNvPr>
          <p:cNvSpPr>
            <a:spLocks noGrp="1"/>
          </p:cNvSpPr>
          <p:nvPr>
            <p:ph type="title"/>
          </p:nvPr>
        </p:nvSpPr>
        <p:spPr/>
        <p:txBody>
          <a:bodyPr/>
          <a:lstStyle/>
          <a:p>
            <a:r>
              <a:rPr lang="en-US" dirty="0"/>
              <a:t>IPv4 Subnetting</a:t>
            </a:r>
          </a:p>
        </p:txBody>
      </p:sp>
      <p:sp>
        <p:nvSpPr>
          <p:cNvPr id="3" name="Content Placeholder 2">
            <a:extLst>
              <a:ext uri="{FF2B5EF4-FFF2-40B4-BE49-F238E27FC236}">
                <a16:creationId xmlns:a16="http://schemas.microsoft.com/office/drawing/2014/main" id="{AE88141E-E37B-A888-8393-00AD6E8FEB9A}"/>
              </a:ext>
            </a:extLst>
          </p:cNvPr>
          <p:cNvSpPr>
            <a:spLocks noGrp="1"/>
          </p:cNvSpPr>
          <p:nvPr>
            <p:ph idx="1"/>
          </p:nvPr>
        </p:nvSpPr>
        <p:spPr/>
        <p:txBody>
          <a:bodyPr/>
          <a:lstStyle/>
          <a:p>
            <a:r>
              <a:rPr lang="en-US" dirty="0"/>
              <a:t>A </a:t>
            </a:r>
            <a:r>
              <a:rPr lang="en-US" b="1" dirty="0"/>
              <a:t>subnet</a:t>
            </a:r>
            <a:r>
              <a:rPr lang="en-US" dirty="0"/>
              <a:t> is a subdivision of an IP network address space</a:t>
            </a:r>
          </a:p>
          <a:p>
            <a:r>
              <a:rPr lang="en-US" b="1" dirty="0"/>
              <a:t>Subnetting</a:t>
            </a:r>
            <a:r>
              <a:rPr lang="en-US" dirty="0"/>
              <a:t> is a process that reallocates bits from an IP address’s host portion to the network portion, creating multiple smaller address spaces</a:t>
            </a:r>
          </a:p>
          <a:p>
            <a:r>
              <a:rPr lang="en-US" dirty="0"/>
              <a:t>Reasons to subnet:</a:t>
            </a:r>
          </a:p>
          <a:p>
            <a:pPr lvl="1"/>
            <a:r>
              <a:rPr lang="en-US" sz="2200" dirty="0"/>
              <a:t>To divide a very large network into many smaller subnetworks</a:t>
            </a:r>
          </a:p>
          <a:p>
            <a:pPr lvl="1"/>
            <a:r>
              <a:rPr lang="en-US" sz="2200" dirty="0"/>
              <a:t>To conserve IP addresses</a:t>
            </a:r>
          </a:p>
          <a:p>
            <a:pPr lvl="1"/>
            <a:r>
              <a:rPr lang="en-US" sz="2200" dirty="0"/>
              <a:t>To divide a network into logical groups</a:t>
            </a:r>
          </a:p>
          <a:p>
            <a:endParaRPr lang="en-US" dirty="0"/>
          </a:p>
        </p:txBody>
      </p:sp>
    </p:spTree>
    <p:extLst>
      <p:ext uri="{BB962C8B-B14F-4D97-AF65-F5344CB8AC3E}">
        <p14:creationId xmlns:p14="http://schemas.microsoft.com/office/powerpoint/2010/main" val="250141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E6C0-240B-DA76-0B55-FB842CB25F88}"/>
              </a:ext>
            </a:extLst>
          </p:cNvPr>
          <p:cNvSpPr>
            <a:spLocks noGrp="1"/>
          </p:cNvSpPr>
          <p:nvPr>
            <p:ph type="title"/>
          </p:nvPr>
        </p:nvSpPr>
        <p:spPr/>
        <p:txBody>
          <a:bodyPr/>
          <a:lstStyle/>
          <a:p>
            <a:r>
              <a:rPr lang="en-US" dirty="0"/>
              <a:t>Calculating a Subnet Mask (1 of 4)</a:t>
            </a:r>
          </a:p>
        </p:txBody>
      </p:sp>
      <p:sp>
        <p:nvSpPr>
          <p:cNvPr id="3" name="Content Placeholder 2">
            <a:extLst>
              <a:ext uri="{FF2B5EF4-FFF2-40B4-BE49-F238E27FC236}">
                <a16:creationId xmlns:a16="http://schemas.microsoft.com/office/drawing/2014/main" id="{9303BC12-026B-E8A5-21EB-37F9AB13EC9D}"/>
              </a:ext>
            </a:extLst>
          </p:cNvPr>
          <p:cNvSpPr>
            <a:spLocks noGrp="1"/>
          </p:cNvSpPr>
          <p:nvPr>
            <p:ph idx="1"/>
          </p:nvPr>
        </p:nvSpPr>
        <p:spPr/>
        <p:txBody>
          <a:bodyPr/>
          <a:lstStyle/>
          <a:p>
            <a:r>
              <a:rPr lang="en-US" dirty="0"/>
              <a:t>To divide a large network into smaller subnets, follow this process:</a:t>
            </a:r>
          </a:p>
          <a:p>
            <a:pPr lvl="1"/>
            <a:r>
              <a:rPr lang="en-US" sz="2200" dirty="0"/>
              <a:t>Decide how many subnets you need</a:t>
            </a:r>
          </a:p>
          <a:p>
            <a:pPr lvl="1"/>
            <a:r>
              <a:rPr lang="en-US" sz="2200" dirty="0"/>
              <a:t>Each router interface connection indicates a required subnet</a:t>
            </a:r>
          </a:p>
          <a:p>
            <a:pPr lvl="1"/>
            <a:r>
              <a:rPr lang="en-US" sz="2200" dirty="0"/>
              <a:t>Decide how many bits you need to meet or exceed the number of required subnets</a:t>
            </a:r>
          </a:p>
          <a:p>
            <a:pPr lvl="1"/>
            <a:r>
              <a:rPr lang="en-US" sz="2200" dirty="0"/>
              <a:t>Use the formula 2</a:t>
            </a:r>
            <a:r>
              <a:rPr lang="en-US" sz="2200" i="1" baseline="30000" dirty="0"/>
              <a:t>n</a:t>
            </a:r>
            <a:r>
              <a:rPr lang="en-US" sz="2200" dirty="0"/>
              <a:t>, with </a:t>
            </a:r>
            <a:r>
              <a:rPr lang="en-US" sz="2200" i="1" dirty="0"/>
              <a:t>n</a:t>
            </a:r>
            <a:r>
              <a:rPr lang="en-US" sz="2200" dirty="0"/>
              <a:t> representing the number of bits you must reallocate from the host ID to the network ID</a:t>
            </a:r>
          </a:p>
          <a:p>
            <a:pPr lvl="1"/>
            <a:r>
              <a:rPr lang="en-US" sz="2200" dirty="0"/>
              <a:t>The number of subnets you create is always a power of 2, so if you need 20 subnets, you must reallocate 5 bits (2</a:t>
            </a:r>
            <a:r>
              <a:rPr lang="en-US" sz="2200" baseline="30000" dirty="0"/>
              <a:t>5</a:t>
            </a:r>
            <a:r>
              <a:rPr lang="en-US" sz="2200" dirty="0"/>
              <a:t> = 32), reallocating 4 bits gives you only 16 subnets</a:t>
            </a:r>
          </a:p>
          <a:p>
            <a:endParaRPr lang="en-US" dirty="0"/>
          </a:p>
        </p:txBody>
      </p:sp>
    </p:spTree>
    <p:extLst>
      <p:ext uri="{BB962C8B-B14F-4D97-AF65-F5344CB8AC3E}">
        <p14:creationId xmlns:p14="http://schemas.microsoft.com/office/powerpoint/2010/main" val="938409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0510F-9495-B2E7-802E-A0620FF30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2A558-B485-6B36-C818-5099D7207D6F}"/>
              </a:ext>
            </a:extLst>
          </p:cNvPr>
          <p:cNvSpPr>
            <a:spLocks noGrp="1"/>
          </p:cNvSpPr>
          <p:nvPr>
            <p:ph type="title"/>
          </p:nvPr>
        </p:nvSpPr>
        <p:spPr/>
        <p:txBody>
          <a:bodyPr/>
          <a:lstStyle/>
          <a:p>
            <a:r>
              <a:rPr lang="en-US" dirty="0"/>
              <a:t>Calculating a Subnet Mask (2 of 4)</a:t>
            </a:r>
          </a:p>
        </p:txBody>
      </p:sp>
      <p:sp>
        <p:nvSpPr>
          <p:cNvPr id="3" name="Content Placeholder 2">
            <a:extLst>
              <a:ext uri="{FF2B5EF4-FFF2-40B4-BE49-F238E27FC236}">
                <a16:creationId xmlns:a16="http://schemas.microsoft.com/office/drawing/2014/main" id="{74D37CD0-72FE-95FB-752F-C5B1BEC23033}"/>
              </a:ext>
            </a:extLst>
          </p:cNvPr>
          <p:cNvSpPr>
            <a:spLocks noGrp="1"/>
          </p:cNvSpPr>
          <p:nvPr>
            <p:ph idx="1"/>
          </p:nvPr>
        </p:nvSpPr>
        <p:spPr/>
        <p:txBody>
          <a:bodyPr/>
          <a:lstStyle/>
          <a:p>
            <a:r>
              <a:rPr lang="en-US" dirty="0"/>
              <a:t>To divide a large network into smaller subnets, follow this process (continued):</a:t>
            </a:r>
          </a:p>
          <a:p>
            <a:pPr lvl="1"/>
            <a:r>
              <a:rPr lang="en-US" sz="2200" dirty="0"/>
              <a:t>Reallocate bits from the host ID, starting from the most significant host bit (that is, from the left side of the host ID)</a:t>
            </a:r>
          </a:p>
          <a:p>
            <a:pPr lvl="1"/>
            <a:r>
              <a:rPr lang="en-US" sz="2200" dirty="0"/>
              <a:t>You must also ensure that you have enough host bits available to assign to computers on each subnet</a:t>
            </a:r>
          </a:p>
          <a:p>
            <a:pPr lvl="1"/>
            <a:r>
              <a:rPr lang="en-US" sz="2200" dirty="0"/>
              <a:t>To determine the number of host addresses available, use the formula    2</a:t>
            </a:r>
            <a:r>
              <a:rPr lang="en-US" sz="2200" i="1" baseline="30000" dirty="0"/>
              <a:t>n</a:t>
            </a:r>
            <a:r>
              <a:rPr lang="en-US" sz="2200" dirty="0"/>
              <a:t> - 2, with </a:t>
            </a:r>
            <a:r>
              <a:rPr lang="en-US" sz="2200" i="1" dirty="0"/>
              <a:t>n</a:t>
            </a:r>
            <a:r>
              <a:rPr lang="en-US" sz="2200" dirty="0"/>
              <a:t> representing the number of host (0) bits in the subnet mask.</a:t>
            </a:r>
          </a:p>
          <a:p>
            <a:endParaRPr lang="en-US" dirty="0"/>
          </a:p>
        </p:txBody>
      </p:sp>
    </p:spTree>
    <p:extLst>
      <p:ext uri="{BB962C8B-B14F-4D97-AF65-F5344CB8AC3E}">
        <p14:creationId xmlns:p14="http://schemas.microsoft.com/office/powerpoint/2010/main" val="3055810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Calculating a Subnet Mask (3 of 4)</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1569660"/>
          </a:xfrm>
          <a:prstGeom prst="rect">
            <a:avLst/>
          </a:prstGeom>
          <a:noFill/>
        </p:spPr>
        <p:txBody>
          <a:bodyPr wrap="square" rtlCol="0">
            <a:spAutoFit/>
          </a:bodyPr>
          <a:lstStyle/>
          <a:p>
            <a:r>
              <a:rPr lang="en-US" sz="2400" b="1" dirty="0">
                <a:latin typeface="Work Sans" pitchFamily="2" charset="0"/>
              </a:rPr>
              <a:t>Figure 6-2  </a:t>
            </a:r>
            <a:r>
              <a:rPr lang="en-US" sz="2400" dirty="0">
                <a:latin typeface="Work Sans" pitchFamily="2" charset="0"/>
              </a:rPr>
              <a:t>A sample network for calculating subnet mask</a:t>
            </a:r>
          </a:p>
          <a:p>
            <a:r>
              <a:rPr lang="en-US" sz="2400" dirty="0">
                <a:latin typeface="Work Sans" pitchFamily="2" charset="0"/>
              </a:rPr>
              <a:t>requirements</a:t>
            </a:r>
          </a:p>
        </p:txBody>
      </p:sp>
      <p:pic>
        <p:nvPicPr>
          <p:cNvPr id="4" name="Picture 3" descr="An enterprise network is shown for which subnet mask requirements need to be calculated. Subnet A is in Boston. It has a switch connected to a Fax server, Windows Server 2016, and 40 Windows 10 hosts. The switch is connected to a router. Subnet B is in New York. It has two interconnected switches. The first switch is connected to 50 Windows 10 hosts. The second switch is connected to a D N S server and a Database server. Switch 1 is connected to a router. Subnet C has a switch that is connected to an Application server, Linux server, and 40 Linux hosts. The switch is connected to the router that is also connected to the switch in New York. Subnet D is formed by the two routers in Boston and New York connected by a WAN link. The network number given is 192 dot 168 dot 100 dot 0.&#10;">
            <a:extLst>
              <a:ext uri="{FF2B5EF4-FFF2-40B4-BE49-F238E27FC236}">
                <a16:creationId xmlns:a16="http://schemas.microsoft.com/office/drawing/2014/main" id="{C0DBE2C6-6038-2D92-8B06-E6D66D526D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56881" y="2069533"/>
            <a:ext cx="4659468" cy="3497230"/>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1B4E-249A-EA85-16A5-C261F3359B6B}"/>
              </a:ext>
            </a:extLst>
          </p:cNvPr>
          <p:cNvSpPr>
            <a:spLocks noGrp="1"/>
          </p:cNvSpPr>
          <p:nvPr>
            <p:ph type="title"/>
          </p:nvPr>
        </p:nvSpPr>
        <p:spPr/>
        <p:txBody>
          <a:bodyPr/>
          <a:lstStyle/>
          <a:p>
            <a:r>
              <a:rPr lang="en-US" dirty="0"/>
              <a:t>Calculating a Subnet Mask (4 of 4)</a:t>
            </a:r>
          </a:p>
        </p:txBody>
      </p:sp>
      <p:sp>
        <p:nvSpPr>
          <p:cNvPr id="3" name="Content Placeholder 2">
            <a:extLst>
              <a:ext uri="{FF2B5EF4-FFF2-40B4-BE49-F238E27FC236}">
                <a16:creationId xmlns:a16="http://schemas.microsoft.com/office/drawing/2014/main" id="{78BF966F-A50C-D4C3-F71E-F41188CDE330}"/>
              </a:ext>
            </a:extLst>
          </p:cNvPr>
          <p:cNvSpPr>
            <a:spLocks noGrp="1"/>
          </p:cNvSpPr>
          <p:nvPr>
            <p:ph idx="1"/>
          </p:nvPr>
        </p:nvSpPr>
        <p:spPr/>
        <p:txBody>
          <a:bodyPr/>
          <a:lstStyle/>
          <a:p>
            <a:r>
              <a:rPr lang="en-US" sz="2200" dirty="0"/>
              <a:t>To find out what prefix to assign an IP network based on the number of host addresses required for the network:</a:t>
            </a:r>
          </a:p>
          <a:p>
            <a:pPr lvl="1"/>
            <a:r>
              <a:rPr lang="en-US" sz="2200" dirty="0"/>
              <a:t>Determine how many host bits are needed to support the number of hosts specified</a:t>
            </a:r>
          </a:p>
          <a:p>
            <a:pPr lvl="1"/>
            <a:r>
              <a:rPr lang="en-US" sz="2200" dirty="0"/>
              <a:t>Subtract this number from the number of network bits</a:t>
            </a:r>
          </a:p>
          <a:p>
            <a:pPr lvl="1"/>
            <a:r>
              <a:rPr lang="en-US" sz="2200" dirty="0"/>
              <a:t>For example, for a network ID 172.16.16.0 that will support 60 hosts:</a:t>
            </a:r>
          </a:p>
          <a:p>
            <a:pPr lvl="1"/>
            <a:r>
              <a:rPr lang="en-US" sz="2200" dirty="0"/>
              <a:t>You need 6 bits for the host ID because 2</a:t>
            </a:r>
            <a:r>
              <a:rPr lang="en-US" sz="2200" baseline="30000" dirty="0"/>
              <a:t>6</a:t>
            </a:r>
            <a:r>
              <a:rPr lang="en-US" sz="2200" dirty="0"/>
              <a:t> = 64 </a:t>
            </a:r>
          </a:p>
          <a:p>
            <a:pPr lvl="1"/>
            <a:r>
              <a:rPr lang="en-US" sz="2200" dirty="0"/>
              <a:t>The prefix is 32 – 6 = 26</a:t>
            </a:r>
          </a:p>
          <a:p>
            <a:pPr lvl="1"/>
            <a:r>
              <a:rPr lang="en-US" sz="2200" dirty="0"/>
              <a:t>CIDR notation would be 172.16.16.0/26</a:t>
            </a:r>
          </a:p>
          <a:p>
            <a:endParaRPr lang="en-US" dirty="0"/>
          </a:p>
        </p:txBody>
      </p:sp>
    </p:spTree>
    <p:extLst>
      <p:ext uri="{BB962C8B-B14F-4D97-AF65-F5344CB8AC3E}">
        <p14:creationId xmlns:p14="http://schemas.microsoft.com/office/powerpoint/2010/main" val="3388638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82563-52EF-9886-E0F1-D73E96BF6125}"/>
              </a:ext>
            </a:extLst>
          </p:cNvPr>
          <p:cNvSpPr>
            <a:spLocks noGrp="1"/>
          </p:cNvSpPr>
          <p:nvPr>
            <p:ph type="title"/>
          </p:nvPr>
        </p:nvSpPr>
        <p:spPr/>
        <p:txBody>
          <a:bodyPr/>
          <a:lstStyle/>
          <a:p>
            <a:r>
              <a:rPr lang="en-US" dirty="0"/>
              <a:t>Supernetting (1 of 2)</a:t>
            </a:r>
          </a:p>
        </p:txBody>
      </p:sp>
      <p:sp>
        <p:nvSpPr>
          <p:cNvPr id="3" name="Content Placeholder 2">
            <a:extLst>
              <a:ext uri="{FF2B5EF4-FFF2-40B4-BE49-F238E27FC236}">
                <a16:creationId xmlns:a16="http://schemas.microsoft.com/office/drawing/2014/main" id="{2741C912-7754-7B94-6A55-19A4E75FDA07}"/>
              </a:ext>
            </a:extLst>
          </p:cNvPr>
          <p:cNvSpPr>
            <a:spLocks noGrp="1"/>
          </p:cNvSpPr>
          <p:nvPr>
            <p:ph idx="1"/>
          </p:nvPr>
        </p:nvSpPr>
        <p:spPr/>
        <p:txBody>
          <a:bodyPr/>
          <a:lstStyle/>
          <a:p>
            <a:r>
              <a:rPr lang="en-US" b="1" dirty="0"/>
              <a:t>Supernetting </a:t>
            </a:r>
            <a:r>
              <a:rPr lang="en-US" dirty="0"/>
              <a:t>is sometimes necessary to solve certain network configuration problems and to make routing tables more streamlined</a:t>
            </a:r>
          </a:p>
          <a:p>
            <a:pPr lvl="1"/>
            <a:r>
              <a:rPr lang="en-US" sz="2200" dirty="0"/>
              <a:t>Supernetting reallocates bits from the network portion of an IP address to the host portion</a:t>
            </a:r>
          </a:p>
          <a:p>
            <a:pPr lvl="1"/>
            <a:r>
              <a:rPr lang="en-US" sz="2200" dirty="0"/>
              <a:t>Making two or more smaller subnets a larger supernet</a:t>
            </a:r>
          </a:p>
          <a:p>
            <a:pPr lvl="1"/>
            <a:r>
              <a:rPr lang="en-US" sz="2200" dirty="0"/>
              <a:t>Route aggregation or summarization can combine multiple routing table entries into a single entry</a:t>
            </a:r>
          </a:p>
          <a:p>
            <a:r>
              <a:rPr lang="en-US" dirty="0"/>
              <a:t>This can drastically decrease the table’s size on Internet routers and increase routers’ speed and efficiency</a:t>
            </a:r>
          </a:p>
        </p:txBody>
      </p:sp>
    </p:spTree>
    <p:extLst>
      <p:ext uri="{BB962C8B-B14F-4D97-AF65-F5344CB8AC3E}">
        <p14:creationId xmlns:p14="http://schemas.microsoft.com/office/powerpoint/2010/main" val="2046607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B66AE-F9A5-DA6D-BCE8-C37961F98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E92CB-72ED-3692-7911-192F4B467F4F}"/>
              </a:ext>
            </a:extLst>
          </p:cNvPr>
          <p:cNvSpPr>
            <a:spLocks noGrp="1"/>
          </p:cNvSpPr>
          <p:nvPr>
            <p:ph type="title"/>
          </p:nvPr>
        </p:nvSpPr>
        <p:spPr/>
        <p:txBody>
          <a:bodyPr/>
          <a:lstStyle/>
          <a:p>
            <a:r>
              <a:rPr lang="en-US" dirty="0"/>
              <a:t>Supernetting (2 of 2)</a:t>
            </a:r>
          </a:p>
        </p:txBody>
      </p:sp>
      <p:sp>
        <p:nvSpPr>
          <p:cNvPr id="5" name="TextBox 4">
            <a:extLst>
              <a:ext uri="{FF2B5EF4-FFF2-40B4-BE49-F238E27FC236}">
                <a16:creationId xmlns:a16="http://schemas.microsoft.com/office/drawing/2014/main" id="{3666E224-7621-87E0-9DA0-F1BA9840B27D}"/>
              </a:ext>
            </a:extLst>
          </p:cNvPr>
          <p:cNvSpPr txBox="1"/>
          <p:nvPr/>
        </p:nvSpPr>
        <p:spPr>
          <a:xfrm>
            <a:off x="7315200" y="2828835"/>
            <a:ext cx="4294598" cy="1200329"/>
          </a:xfrm>
          <a:prstGeom prst="rect">
            <a:avLst/>
          </a:prstGeom>
          <a:noFill/>
        </p:spPr>
        <p:txBody>
          <a:bodyPr wrap="square" rtlCol="0">
            <a:spAutoFit/>
          </a:bodyPr>
          <a:lstStyle/>
          <a:p>
            <a:r>
              <a:rPr lang="en-US" sz="2400" b="1" dirty="0">
                <a:latin typeface="Work Sans" pitchFamily="2" charset="0"/>
              </a:rPr>
              <a:t>Figure 6-3  </a:t>
            </a:r>
            <a:r>
              <a:rPr lang="en-US" sz="2400" dirty="0">
                <a:latin typeface="Work Sans" pitchFamily="2" charset="0"/>
              </a:rPr>
              <a:t>RouterA sends a summary of its routing table to RouterB</a:t>
            </a:r>
          </a:p>
        </p:txBody>
      </p:sp>
      <p:pic>
        <p:nvPicPr>
          <p:cNvPr id="4" name="Picture 3" descr="A network with routers is shown with information on how routers share routing tables. Router A has the following routing table. Row 1: Network; 192 dot 168 dot 0 dot 0 forward slash 24; Interface: E t h A. Row 2: Network; 192 dot 168 dot 1 dot 0 forward slash 24; Interface: E t h B. Row 3: Network; 192 dot 168 dot 2 dot 0 forward slash 24; Interface: E t h C. Row 4: Network; 192 dot 168 dot 3 dot 0 forward slash 24; Interface: E t h D. Instead of sharing the entire routing table with router B, router A shares the following router update to router B. 192 dot 168 dot 0 dot 0. 255 dot 255 dot 252 dot 0. This indicates to router B that all networks from 192 dot 168 dot 0 dot 0 through 192 dot 168 dot 3 dot 0 can be reached through Router A.&#10;">
            <a:extLst>
              <a:ext uri="{FF2B5EF4-FFF2-40B4-BE49-F238E27FC236}">
                <a16:creationId xmlns:a16="http://schemas.microsoft.com/office/drawing/2014/main" id="{C2BF8D75-7ACC-C6FE-4CCB-CDB233C1989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22407" y="1138725"/>
            <a:ext cx="5970409" cy="4492054"/>
          </a:xfrm>
          <a:prstGeom prst="rect">
            <a:avLst/>
          </a:prstGeom>
        </p:spPr>
      </p:pic>
    </p:spTree>
    <p:extLst>
      <p:ext uri="{BB962C8B-B14F-4D97-AF65-F5344CB8AC3E}">
        <p14:creationId xmlns:p14="http://schemas.microsoft.com/office/powerpoint/2010/main" val="4083196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6-1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What type of device does not forward broadcast and creates broadcast domains?</a:t>
            </a:r>
          </a:p>
          <a:p>
            <a:pPr marL="0" indent="0">
              <a:buNone/>
            </a:pPr>
            <a:r>
              <a:rPr lang="en-US" dirty="0"/>
              <a:t>a. Router</a:t>
            </a:r>
          </a:p>
          <a:p>
            <a:pPr marL="0" indent="0">
              <a:buNone/>
            </a:pPr>
            <a:r>
              <a:rPr lang="en-US" dirty="0"/>
              <a:t>b. Hub</a:t>
            </a:r>
          </a:p>
          <a:p>
            <a:pPr marL="0" indent="0">
              <a:buNone/>
            </a:pPr>
            <a:r>
              <a:rPr lang="en-US" dirty="0"/>
              <a:t>c. VPN</a:t>
            </a:r>
          </a:p>
          <a:p>
            <a:pPr marL="0" indent="0">
              <a:buNone/>
            </a:pPr>
            <a:r>
              <a:rPr lang="en-US" dirty="0"/>
              <a:t>d. Switch</a:t>
            </a:r>
          </a:p>
        </p:txBody>
      </p:sp>
    </p:spTree>
    <p:extLst>
      <p:ext uri="{BB962C8B-B14F-4D97-AF65-F5344CB8AC3E}">
        <p14:creationId xmlns:p14="http://schemas.microsoft.com/office/powerpoint/2010/main" val="3683800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6-1: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What type of device does not forward broadcast and creates broadcast domains?</a:t>
            </a:r>
          </a:p>
          <a:p>
            <a:pPr marL="0" indent="0">
              <a:buNone/>
            </a:pPr>
            <a:r>
              <a:rPr lang="en-US" b="1" dirty="0"/>
              <a:t>Answer: a</a:t>
            </a:r>
            <a:r>
              <a:rPr lang="en-US" dirty="0"/>
              <a:t>. Router</a:t>
            </a:r>
          </a:p>
          <a:p>
            <a:pPr marL="0" indent="0">
              <a:buNone/>
            </a:pPr>
            <a:r>
              <a:rPr lang="en-US" b="1" dirty="0"/>
              <a:t>Explanation:</a:t>
            </a:r>
            <a:r>
              <a:rPr lang="en-US" dirty="0"/>
              <a:t> A broadcast domain defines which devices must receive a packet that’s broadcast by any other device, and each port on a router constitutes a broadcast domain because routers don’t forward broadcast packets. Hubs and switches forward broadcasts and a VPN creates a secure connection between devices across an unsecure network.</a:t>
            </a:r>
          </a:p>
        </p:txBody>
      </p:sp>
    </p:spTree>
    <p:extLst>
      <p:ext uri="{BB962C8B-B14F-4D97-AF65-F5344CB8AC3E}">
        <p14:creationId xmlns:p14="http://schemas.microsoft.com/office/powerpoint/2010/main" val="3889104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F71AE-AD21-4513-810B-A6DB28F654AE}"/>
              </a:ext>
            </a:extLst>
          </p:cNvPr>
          <p:cNvSpPr>
            <a:spLocks noGrp="1"/>
          </p:cNvSpPr>
          <p:nvPr>
            <p:ph type="title"/>
          </p:nvPr>
        </p:nvSpPr>
        <p:spPr/>
        <p:txBody>
          <a:bodyPr/>
          <a:lstStyle/>
          <a:p>
            <a:r>
              <a:rPr lang="en-US" dirty="0"/>
              <a:t>Configuring IPv4 Addresses (1 of 2)</a:t>
            </a:r>
          </a:p>
        </p:txBody>
      </p:sp>
      <p:sp>
        <p:nvSpPr>
          <p:cNvPr id="3" name="Content Placeholder 2">
            <a:extLst>
              <a:ext uri="{FF2B5EF4-FFF2-40B4-BE49-F238E27FC236}">
                <a16:creationId xmlns:a16="http://schemas.microsoft.com/office/drawing/2014/main" id="{F0DFF67A-B36C-C4B3-90CD-72AC56151904}"/>
              </a:ext>
            </a:extLst>
          </p:cNvPr>
          <p:cNvSpPr>
            <a:spLocks noGrp="1"/>
          </p:cNvSpPr>
          <p:nvPr>
            <p:ph idx="1"/>
          </p:nvPr>
        </p:nvSpPr>
        <p:spPr/>
        <p:txBody>
          <a:bodyPr/>
          <a:lstStyle/>
          <a:p>
            <a:r>
              <a:rPr lang="en-US" dirty="0"/>
              <a:t>Rules for IP address assignment:</a:t>
            </a:r>
          </a:p>
          <a:p>
            <a:pPr lvl="1"/>
            <a:r>
              <a:rPr lang="en-US" sz="2200" dirty="0"/>
              <a:t>A host can be assigned only a Class A, Class B, or Class C address</a:t>
            </a:r>
          </a:p>
          <a:p>
            <a:pPr lvl="1"/>
            <a:r>
              <a:rPr lang="en-US" sz="2200" dirty="0"/>
              <a:t>Every IP address configuration must have a subnet mask</a:t>
            </a:r>
          </a:p>
          <a:p>
            <a:pPr lvl="1"/>
            <a:r>
              <a:rPr lang="en-US" sz="2200" dirty="0"/>
              <a:t>All hosts on the same physical network must share the same network ID in their IP addresses</a:t>
            </a:r>
          </a:p>
          <a:p>
            <a:pPr lvl="1"/>
            <a:r>
              <a:rPr lang="en-US" sz="2200" dirty="0"/>
              <a:t>All host IDs on the same network must be unique</a:t>
            </a:r>
          </a:p>
        </p:txBody>
      </p:sp>
    </p:spTree>
    <p:extLst>
      <p:ext uri="{BB962C8B-B14F-4D97-AF65-F5344CB8AC3E}">
        <p14:creationId xmlns:p14="http://schemas.microsoft.com/office/powerpoint/2010/main" val="2177201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07FFA-D36E-99F7-39F2-670AD62CF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0A95A-3EDA-A9E7-3DCB-C0E52F64BEEF}"/>
              </a:ext>
            </a:extLst>
          </p:cNvPr>
          <p:cNvSpPr>
            <a:spLocks noGrp="1"/>
          </p:cNvSpPr>
          <p:nvPr>
            <p:ph type="title"/>
          </p:nvPr>
        </p:nvSpPr>
        <p:spPr/>
        <p:txBody>
          <a:bodyPr/>
          <a:lstStyle/>
          <a:p>
            <a:r>
              <a:rPr lang="en-US" dirty="0"/>
              <a:t>Configuring IPv4 Addresses (2 of 2)</a:t>
            </a:r>
          </a:p>
        </p:txBody>
      </p:sp>
      <p:sp>
        <p:nvSpPr>
          <p:cNvPr id="3" name="Content Placeholder 2">
            <a:extLst>
              <a:ext uri="{FF2B5EF4-FFF2-40B4-BE49-F238E27FC236}">
                <a16:creationId xmlns:a16="http://schemas.microsoft.com/office/drawing/2014/main" id="{787C073E-A533-28AF-8AED-79ED3B066D0D}"/>
              </a:ext>
            </a:extLst>
          </p:cNvPr>
          <p:cNvSpPr>
            <a:spLocks noGrp="1"/>
          </p:cNvSpPr>
          <p:nvPr>
            <p:ph idx="1"/>
          </p:nvPr>
        </p:nvSpPr>
        <p:spPr/>
        <p:txBody>
          <a:bodyPr/>
          <a:lstStyle/>
          <a:p>
            <a:r>
              <a:rPr lang="en-US" dirty="0"/>
              <a:t>Rules for IP address assignment (continued):</a:t>
            </a:r>
          </a:p>
          <a:p>
            <a:pPr lvl="1"/>
            <a:r>
              <a:rPr lang="en-US" sz="2200" dirty="0"/>
              <a:t>You can’t assign an IP address in which all the host ID bits are binary 0</a:t>
            </a:r>
          </a:p>
          <a:p>
            <a:pPr lvl="1"/>
            <a:r>
              <a:rPr lang="en-US" sz="2200" dirty="0"/>
              <a:t>You can’t assign an IP address in which all the host ID bits are binary 1</a:t>
            </a:r>
          </a:p>
          <a:p>
            <a:pPr lvl="1"/>
            <a:r>
              <a:rPr lang="en-US" sz="2200" dirty="0"/>
              <a:t>Computers assigned different network IDs can communicate only if a router is present to forward packets</a:t>
            </a:r>
          </a:p>
          <a:p>
            <a:pPr lvl="1"/>
            <a:r>
              <a:rPr lang="en-US" sz="2200" dirty="0"/>
              <a:t>The default gateway address assigned to a computer must have the same network ID as that computer</a:t>
            </a:r>
          </a:p>
          <a:p>
            <a:endParaRPr lang="en-US" dirty="0"/>
          </a:p>
        </p:txBody>
      </p:sp>
    </p:spTree>
    <p:extLst>
      <p:ext uri="{BB962C8B-B14F-4D97-AF65-F5344CB8AC3E}">
        <p14:creationId xmlns:p14="http://schemas.microsoft.com/office/powerpoint/2010/main" val="1674146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10D1-A121-902A-2634-90D240B9512B}"/>
              </a:ext>
            </a:extLst>
          </p:cNvPr>
          <p:cNvSpPr>
            <a:spLocks noGrp="1"/>
          </p:cNvSpPr>
          <p:nvPr>
            <p:ph type="title"/>
          </p:nvPr>
        </p:nvSpPr>
        <p:spPr>
          <a:xfrm>
            <a:off x="2594918" y="473246"/>
            <a:ext cx="9008077" cy="787144"/>
          </a:xfrm>
        </p:spPr>
        <p:txBody>
          <a:bodyPr/>
          <a:lstStyle/>
          <a:p>
            <a:r>
              <a:rPr lang="en-US" dirty="0"/>
              <a:t>Configuring Multiple IP Addresses</a:t>
            </a:r>
          </a:p>
        </p:txBody>
      </p:sp>
      <p:sp>
        <p:nvSpPr>
          <p:cNvPr id="3" name="Content Placeholder 2">
            <a:extLst>
              <a:ext uri="{FF2B5EF4-FFF2-40B4-BE49-F238E27FC236}">
                <a16:creationId xmlns:a16="http://schemas.microsoft.com/office/drawing/2014/main" id="{9DBB1DBE-F4BB-254C-A519-226C591B0F5E}"/>
              </a:ext>
            </a:extLst>
          </p:cNvPr>
          <p:cNvSpPr>
            <a:spLocks noGrp="1"/>
          </p:cNvSpPr>
          <p:nvPr>
            <p:ph idx="1"/>
          </p:nvPr>
        </p:nvSpPr>
        <p:spPr/>
        <p:txBody>
          <a:bodyPr/>
          <a:lstStyle/>
          <a:p>
            <a:r>
              <a:rPr lang="en-US" dirty="0"/>
              <a:t>Windows OSs allow assigning multiple IP addresses to a single network connection, via Advanced TCP/IP Settings dialog box</a:t>
            </a:r>
          </a:p>
          <a:p>
            <a:r>
              <a:rPr lang="en-US" dirty="0"/>
              <a:t>Multiple IP addresses can be useful in these situations:</a:t>
            </a:r>
          </a:p>
          <a:p>
            <a:pPr lvl="1"/>
            <a:r>
              <a:rPr lang="en-US" sz="2200" dirty="0"/>
              <a:t>The computer is hosting a service that must be accessed by using different addresses</a:t>
            </a:r>
          </a:p>
          <a:p>
            <a:pPr lvl="1"/>
            <a:r>
              <a:rPr lang="en-US" sz="2200" dirty="0"/>
              <a:t>The computer is connected to a physical network that hosts multiple IP networks</a:t>
            </a:r>
          </a:p>
          <a:p>
            <a:endParaRPr lang="en-US" dirty="0"/>
          </a:p>
        </p:txBody>
      </p:sp>
      <p:sp>
        <p:nvSpPr>
          <p:cNvPr id="4" name="Title 1">
            <a:extLst>
              <a:ext uri="{FF2B5EF4-FFF2-40B4-BE49-F238E27FC236}">
                <a16:creationId xmlns:a16="http://schemas.microsoft.com/office/drawing/2014/main" id="{2BEDA509-FBEB-AEE2-8DF7-0BE5E7FF0DC7}"/>
              </a:ext>
            </a:extLst>
          </p:cNvPr>
          <p:cNvSpPr txBox="1">
            <a:spLocks/>
          </p:cNvSpPr>
          <p:nvPr/>
        </p:nvSpPr>
        <p:spPr>
          <a:xfrm>
            <a:off x="78258" y="96147"/>
            <a:ext cx="1972963" cy="634744"/>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fontAlgn="auto">
              <a:spcAft>
                <a:spcPts val="0"/>
              </a:spcAft>
            </a:pPr>
            <a:r>
              <a:rPr lang="en-US" dirty="0">
                <a:solidFill>
                  <a:schemeClr val="bg1">
                    <a:lumMod val="85000"/>
                  </a:schemeClr>
                </a:solidFill>
              </a:rPr>
              <a:t>Part 2</a:t>
            </a:r>
          </a:p>
        </p:txBody>
      </p:sp>
    </p:spTree>
    <p:extLst>
      <p:ext uri="{BB962C8B-B14F-4D97-AF65-F5344CB8AC3E}">
        <p14:creationId xmlns:p14="http://schemas.microsoft.com/office/powerpoint/2010/main" val="3909749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DAE94-078D-E33E-ADF8-9F0BBD59C92F}"/>
              </a:ext>
            </a:extLst>
          </p:cNvPr>
          <p:cNvSpPr>
            <a:spLocks noGrp="1"/>
          </p:cNvSpPr>
          <p:nvPr>
            <p:ph type="title"/>
          </p:nvPr>
        </p:nvSpPr>
        <p:spPr/>
        <p:txBody>
          <a:bodyPr/>
          <a:lstStyle/>
          <a:p>
            <a:r>
              <a:rPr lang="en-US" dirty="0"/>
              <a:t>Configuring the Default Gateway (1 of 4)</a:t>
            </a:r>
          </a:p>
        </p:txBody>
      </p:sp>
      <p:sp>
        <p:nvSpPr>
          <p:cNvPr id="3" name="Content Placeholder 2">
            <a:extLst>
              <a:ext uri="{FF2B5EF4-FFF2-40B4-BE49-F238E27FC236}">
                <a16:creationId xmlns:a16="http://schemas.microsoft.com/office/drawing/2014/main" id="{4CCAF43E-80E5-1131-ACB6-926B7C6EE900}"/>
              </a:ext>
            </a:extLst>
          </p:cNvPr>
          <p:cNvSpPr>
            <a:spLocks noGrp="1"/>
          </p:cNvSpPr>
          <p:nvPr>
            <p:ph idx="1"/>
          </p:nvPr>
        </p:nvSpPr>
        <p:spPr/>
        <p:txBody>
          <a:bodyPr/>
          <a:lstStyle/>
          <a:p>
            <a:r>
              <a:rPr lang="en-US" dirty="0"/>
              <a:t>A default gateway tells the computer where packets destined for another network can be sent</a:t>
            </a:r>
          </a:p>
          <a:p>
            <a:pPr lvl="1"/>
            <a:r>
              <a:rPr lang="en-US" sz="2200" dirty="0"/>
              <a:t>The default gateway’s address must have the same network ID as the host</a:t>
            </a:r>
          </a:p>
          <a:p>
            <a:r>
              <a:rPr lang="en-US" dirty="0"/>
              <a:t>Multiple gateways can be configured</a:t>
            </a:r>
          </a:p>
          <a:p>
            <a:pPr lvl="1"/>
            <a:r>
              <a:rPr lang="en-US" sz="2200" dirty="0"/>
              <a:t>Windows attempts to select the gateway with the best metric automatically</a:t>
            </a:r>
          </a:p>
          <a:p>
            <a:pPr lvl="1"/>
            <a:r>
              <a:rPr lang="en-US" sz="2200" dirty="0"/>
              <a:t>A </a:t>
            </a:r>
            <a:r>
              <a:rPr lang="en-US" sz="2200" b="1" dirty="0"/>
              <a:t>metric</a:t>
            </a:r>
            <a:r>
              <a:rPr lang="en-US" sz="2200" dirty="0"/>
              <a:t> is a value assigned to the gateway based on the speed of the interface used to access the gateway</a:t>
            </a:r>
          </a:p>
          <a:p>
            <a:endParaRPr lang="en-US" dirty="0"/>
          </a:p>
        </p:txBody>
      </p:sp>
    </p:spTree>
    <p:extLst>
      <p:ext uri="{BB962C8B-B14F-4D97-AF65-F5344CB8AC3E}">
        <p14:creationId xmlns:p14="http://schemas.microsoft.com/office/powerpoint/2010/main" val="1208344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Configuring the Default Gateway (2 of 4)</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28835"/>
            <a:ext cx="4294598" cy="1569660"/>
          </a:xfrm>
          <a:prstGeom prst="rect">
            <a:avLst/>
          </a:prstGeom>
          <a:noFill/>
        </p:spPr>
        <p:txBody>
          <a:bodyPr wrap="square" rtlCol="0">
            <a:spAutoFit/>
          </a:bodyPr>
          <a:lstStyle/>
          <a:p>
            <a:r>
              <a:rPr lang="en-US" sz="2400" b="1" dirty="0">
                <a:latin typeface="Work Sans" pitchFamily="2" charset="0"/>
              </a:rPr>
              <a:t>Figure 6-5  </a:t>
            </a:r>
            <a:r>
              <a:rPr lang="en-US" sz="2400" dirty="0">
                <a:latin typeface="Work Sans" pitchFamily="2" charset="0"/>
              </a:rPr>
              <a:t>Determining the destination computer’s network address with the subnet mask</a:t>
            </a:r>
          </a:p>
        </p:txBody>
      </p:sp>
      <p:pic>
        <p:nvPicPr>
          <p:cNvPr id="4" name="Picture 3" descr="Using the subnet mask to determine the destination computer's network address. Computer 1 is connected to a switch. The switch is connected to router 1. Computer 2 is connected to another switch. This switch is also connected to router 1. Computer 1 has the following network configuration. I P: 172 dot 19 dot 44 dot 211. Mask: 255 dot 255 dot 255 dot 0. Gateway: 172 dot 19 dot 44 dot 250. Computer 2 has the following network configuration. I P: 172 dot 19 dot 46 dot 188. Mask: 255 dot 255 dot 255 dot 0. Gateway: 172 dot 19 dot 46 dot 250. Router 1 is connected to computer one's switch with the I P 172 dot 19 dot 44 dot 250 and mask of 255 dot 255 dot 255 dot 0. Router 2 is connected to computer two's switch with the I P 172 dot 19 dot 46 dot 250 and mask of 255 dot 255 dot 255 dot 0. When computer 1 needs to send information to computer 2, computer 1 first determines it's network address by carrying out an AND operation on its I P address and mask. The network address works out to 172 dot 19 dot 44 dot 0. It then carries out an AND operation on computer two's I P address and computer one's subnet mask. The destination network address works out to 172 dot 19 dot 46 dot 0 indicating that computer 2 is on another network. Computer 1 sends the packet to its default gateway which then forwards it to computer two's network.&#10;">
            <a:extLst>
              <a:ext uri="{FF2B5EF4-FFF2-40B4-BE49-F238E27FC236}">
                <a16:creationId xmlns:a16="http://schemas.microsoft.com/office/drawing/2014/main" id="{9701AB4E-C5E2-E164-2C49-99D5079B204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90568" y="2093694"/>
            <a:ext cx="5539638" cy="3039941"/>
          </a:xfrm>
          <a:prstGeom prst="rect">
            <a:avLst/>
          </a:prstGeom>
        </p:spPr>
      </p:pic>
    </p:spTree>
    <p:extLst>
      <p:ext uri="{BB962C8B-B14F-4D97-AF65-F5344CB8AC3E}">
        <p14:creationId xmlns:p14="http://schemas.microsoft.com/office/powerpoint/2010/main" val="1267325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982E-5C38-A2CA-A4B4-85622FB67649}"/>
              </a:ext>
            </a:extLst>
          </p:cNvPr>
          <p:cNvSpPr>
            <a:spLocks noGrp="1"/>
          </p:cNvSpPr>
          <p:nvPr>
            <p:ph type="title"/>
          </p:nvPr>
        </p:nvSpPr>
        <p:spPr/>
        <p:txBody>
          <a:bodyPr/>
          <a:lstStyle/>
          <a:p>
            <a:r>
              <a:rPr lang="en-US" dirty="0"/>
              <a:t>Configuring the Default Gateway (3 of 4)</a:t>
            </a:r>
          </a:p>
        </p:txBody>
      </p:sp>
      <p:sp>
        <p:nvSpPr>
          <p:cNvPr id="3" name="Content Placeholder 2">
            <a:extLst>
              <a:ext uri="{FF2B5EF4-FFF2-40B4-BE49-F238E27FC236}">
                <a16:creationId xmlns:a16="http://schemas.microsoft.com/office/drawing/2014/main" id="{89BBA8BC-8304-BA02-738D-CCC94EBDAB92}"/>
              </a:ext>
            </a:extLst>
          </p:cNvPr>
          <p:cNvSpPr>
            <a:spLocks noGrp="1"/>
          </p:cNvSpPr>
          <p:nvPr>
            <p:ph idx="1"/>
          </p:nvPr>
        </p:nvSpPr>
        <p:spPr/>
        <p:txBody>
          <a:bodyPr/>
          <a:lstStyle/>
          <a:p>
            <a:r>
              <a:rPr lang="en-US" dirty="0"/>
              <a:t>A </a:t>
            </a:r>
            <a:r>
              <a:rPr lang="en-US" b="1" dirty="0"/>
              <a:t>multihomed server </a:t>
            </a:r>
            <a:r>
              <a:rPr lang="en-US" dirty="0"/>
              <a:t>has two or more NICs, each attached to a different IP network</a:t>
            </a:r>
          </a:p>
          <a:p>
            <a:pPr lvl="1"/>
            <a:r>
              <a:rPr lang="en-US" sz="2200" dirty="0"/>
              <a:t>Each NIC requires its own IP address for the network to which it’s connected</a:t>
            </a:r>
          </a:p>
          <a:p>
            <a:r>
              <a:rPr lang="en-US" dirty="0"/>
              <a:t>Reasons for this type of configuration include the following:</a:t>
            </a:r>
          </a:p>
          <a:p>
            <a:pPr lvl="1"/>
            <a:r>
              <a:rPr lang="en-US" sz="2200" dirty="0"/>
              <a:t>A server is accessed by internal clients and external clients</a:t>
            </a:r>
          </a:p>
          <a:p>
            <a:pPr lvl="1"/>
            <a:r>
              <a:rPr lang="en-US" sz="2200" dirty="0"/>
              <a:t>A server provides resources for computers on multiple subnets of the network</a:t>
            </a:r>
          </a:p>
          <a:p>
            <a:pPr lvl="1"/>
            <a:r>
              <a:rPr lang="en-US" sz="2200" dirty="0"/>
              <a:t>A server is configured as a router or VPN server</a:t>
            </a:r>
          </a:p>
          <a:p>
            <a:endParaRPr lang="en-US" dirty="0"/>
          </a:p>
        </p:txBody>
      </p:sp>
    </p:spTree>
    <p:extLst>
      <p:ext uri="{BB962C8B-B14F-4D97-AF65-F5344CB8AC3E}">
        <p14:creationId xmlns:p14="http://schemas.microsoft.com/office/powerpoint/2010/main" val="2627277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0399-D89F-05EA-4D2A-54DB071B0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2AF85-5247-B6CA-7F3D-935E807DCD81}"/>
              </a:ext>
            </a:extLst>
          </p:cNvPr>
          <p:cNvSpPr>
            <a:spLocks noGrp="1"/>
          </p:cNvSpPr>
          <p:nvPr>
            <p:ph type="title"/>
          </p:nvPr>
        </p:nvSpPr>
        <p:spPr/>
        <p:txBody>
          <a:bodyPr/>
          <a:lstStyle/>
          <a:p>
            <a:r>
              <a:rPr lang="en-US" dirty="0"/>
              <a:t>Configuring the Default Gateway (4 of 4)</a:t>
            </a:r>
          </a:p>
        </p:txBody>
      </p:sp>
      <p:sp>
        <p:nvSpPr>
          <p:cNvPr id="3" name="Content Placeholder 2">
            <a:extLst>
              <a:ext uri="{FF2B5EF4-FFF2-40B4-BE49-F238E27FC236}">
                <a16:creationId xmlns:a16="http://schemas.microsoft.com/office/drawing/2014/main" id="{D6BC9A00-7E45-9A16-5941-03D9C4129D1F}"/>
              </a:ext>
            </a:extLst>
          </p:cNvPr>
          <p:cNvSpPr>
            <a:spLocks noGrp="1"/>
          </p:cNvSpPr>
          <p:nvPr>
            <p:ph idx="1"/>
          </p:nvPr>
        </p:nvSpPr>
        <p:spPr/>
        <p:txBody>
          <a:bodyPr/>
          <a:lstStyle/>
          <a:p>
            <a:r>
              <a:rPr lang="en-US" dirty="0"/>
              <a:t>Windows computers maintain a routing table that dictates where a packet should be sent, based on the packet’s destination address</a:t>
            </a:r>
          </a:p>
          <a:p>
            <a:r>
              <a:rPr lang="en-US" dirty="0"/>
              <a:t>Typing </a:t>
            </a:r>
            <a:r>
              <a:rPr lang="en-US" dirty="0">
                <a:latin typeface="Courier New" panose="02070309020205020404" pitchFamily="49" charset="0"/>
                <a:cs typeface="Courier New" panose="02070309020205020404" pitchFamily="49" charset="0"/>
              </a:rPr>
              <a:t>route print</a:t>
            </a:r>
            <a:r>
              <a:rPr lang="en-US" dirty="0"/>
              <a:t> displays the routing table</a:t>
            </a:r>
          </a:p>
          <a:p>
            <a:r>
              <a:rPr lang="en-US" dirty="0"/>
              <a:t>Results are displayed in five columns:</a:t>
            </a:r>
          </a:p>
          <a:p>
            <a:r>
              <a:rPr lang="en-US" dirty="0"/>
              <a:t>Network Destination, Netmask, Gateway, Interface, and Metric</a:t>
            </a:r>
          </a:p>
          <a:p>
            <a:r>
              <a:rPr lang="en-US" dirty="0"/>
              <a:t>The </a:t>
            </a:r>
            <a:r>
              <a:rPr lang="en-US" dirty="0">
                <a:latin typeface="Courier New" panose="02070309020205020404" pitchFamily="49" charset="0"/>
                <a:cs typeface="Courier New" panose="02070309020205020404" pitchFamily="49" charset="0"/>
              </a:rPr>
              <a:t>route</a:t>
            </a:r>
            <a:r>
              <a:rPr lang="en-US" dirty="0"/>
              <a:t> command can be used to change the routing table, and to fix issues caused by using a multihomed server</a:t>
            </a:r>
          </a:p>
          <a:p>
            <a:endParaRPr lang="en-US" dirty="0"/>
          </a:p>
        </p:txBody>
      </p:sp>
    </p:spTree>
    <p:extLst>
      <p:ext uri="{BB962C8B-B14F-4D97-AF65-F5344CB8AC3E}">
        <p14:creationId xmlns:p14="http://schemas.microsoft.com/office/powerpoint/2010/main" val="3695037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B602-4EB2-EF34-E6C9-44B513ED8701}"/>
              </a:ext>
            </a:extLst>
          </p:cNvPr>
          <p:cNvSpPr>
            <a:spLocks noGrp="1"/>
          </p:cNvSpPr>
          <p:nvPr>
            <p:ph type="title"/>
          </p:nvPr>
        </p:nvSpPr>
        <p:spPr/>
        <p:txBody>
          <a:bodyPr/>
          <a:lstStyle/>
          <a:p>
            <a:r>
              <a:rPr lang="en-US" dirty="0"/>
              <a:t>IP Configuration Command-Line Tools (1 of 3)</a:t>
            </a:r>
          </a:p>
        </p:txBody>
      </p:sp>
      <p:sp>
        <p:nvSpPr>
          <p:cNvPr id="3" name="Content Placeholder 2">
            <a:extLst>
              <a:ext uri="{FF2B5EF4-FFF2-40B4-BE49-F238E27FC236}">
                <a16:creationId xmlns:a16="http://schemas.microsoft.com/office/drawing/2014/main" id="{AD7AC8A4-E645-6053-0585-18F84F464C75}"/>
              </a:ext>
            </a:extLst>
          </p:cNvPr>
          <p:cNvSpPr>
            <a:spLocks noGrp="1"/>
          </p:cNvSpPr>
          <p:nvPr>
            <p:ph idx="1"/>
          </p:nvPr>
        </p:nvSpPr>
        <p:spPr/>
        <p:txBody>
          <a:bodyPr/>
          <a:lstStyle/>
          <a:p>
            <a:r>
              <a:rPr lang="en-US" dirty="0"/>
              <a:t>The </a:t>
            </a:r>
            <a:r>
              <a:rPr lang="en-US" b="1" dirty="0">
                <a:latin typeface="Courier New" panose="02070309020205020404" pitchFamily="49" charset="0"/>
                <a:cs typeface="Courier New" panose="02070309020205020404" pitchFamily="49" charset="0"/>
              </a:rPr>
              <a:t>netsh </a:t>
            </a:r>
            <a:r>
              <a:rPr lang="en-US" dirty="0"/>
              <a:t>command can used for many tasks such as firewall and IP address configuration</a:t>
            </a:r>
          </a:p>
          <a:p>
            <a:pPr lvl="1"/>
            <a:r>
              <a:rPr lang="en-US" dirty="0"/>
              <a:t>To configure the IP address of an interface named Ethernet use this command:</a:t>
            </a:r>
          </a:p>
          <a:p>
            <a:pPr lvl="1"/>
            <a:r>
              <a:rPr lang="en-US" dirty="0">
                <a:latin typeface="Courier New" panose="02070309020205020404" pitchFamily="49" charset="0"/>
                <a:cs typeface="Courier New" panose="02070309020205020404" pitchFamily="49" charset="0"/>
              </a:rPr>
              <a:t>netsh interface ipv4 set address “Ethernet” static 10.1.1.1 255.255.0.0</a:t>
            </a:r>
          </a:p>
          <a:p>
            <a:r>
              <a:rPr lang="en-US" b="1" dirty="0">
                <a:latin typeface="Courier New" panose="02070309020205020404" pitchFamily="49" charset="0"/>
                <a:cs typeface="Courier New" panose="02070309020205020404" pitchFamily="49" charset="0"/>
              </a:rPr>
              <a:t>ipconfig</a:t>
            </a:r>
            <a:r>
              <a:rPr lang="en-US" dirty="0"/>
              <a:t> is typically used to display a computers IP address settings</a:t>
            </a:r>
          </a:p>
          <a:p>
            <a:pPr lvl="1"/>
            <a:r>
              <a:rPr lang="en-US" dirty="0"/>
              <a:t>Can also be used to manage IP address settings</a:t>
            </a:r>
          </a:p>
        </p:txBody>
      </p:sp>
    </p:spTree>
    <p:extLst>
      <p:ext uri="{BB962C8B-B14F-4D97-AF65-F5344CB8AC3E}">
        <p14:creationId xmlns:p14="http://schemas.microsoft.com/office/powerpoint/2010/main" val="187198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DE261-1CF1-3525-F33B-46C275DF6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C8665-2A61-31BC-1A59-61A09923DA19}"/>
              </a:ext>
            </a:extLst>
          </p:cNvPr>
          <p:cNvSpPr>
            <a:spLocks noGrp="1"/>
          </p:cNvSpPr>
          <p:nvPr>
            <p:ph type="title"/>
          </p:nvPr>
        </p:nvSpPr>
        <p:spPr/>
        <p:txBody>
          <a:bodyPr/>
          <a:lstStyle/>
          <a:p>
            <a:r>
              <a:rPr lang="en-US" dirty="0"/>
              <a:t>IP Configuration Command-Line Tools (2 of 3)</a:t>
            </a:r>
          </a:p>
        </p:txBody>
      </p:sp>
      <p:sp>
        <p:nvSpPr>
          <p:cNvPr id="3" name="Content Placeholder 2">
            <a:extLst>
              <a:ext uri="{FF2B5EF4-FFF2-40B4-BE49-F238E27FC236}">
                <a16:creationId xmlns:a16="http://schemas.microsoft.com/office/drawing/2014/main" id="{3B302CD8-F61F-A8FB-D68B-AB562B3C98D0}"/>
              </a:ext>
            </a:extLst>
          </p:cNvPr>
          <p:cNvSpPr>
            <a:spLocks noGrp="1"/>
          </p:cNvSpPr>
          <p:nvPr>
            <p:ph idx="1"/>
          </p:nvPr>
        </p:nvSpPr>
        <p:spPr/>
        <p:txBody>
          <a:bodyPr/>
          <a:lstStyle/>
          <a:p>
            <a:r>
              <a:rPr lang="en-US" b="1" dirty="0">
                <a:latin typeface="Courier New" panose="02070309020205020404" pitchFamily="49" charset="0"/>
                <a:cs typeface="Courier New" panose="02070309020205020404" pitchFamily="49" charset="0"/>
              </a:rPr>
              <a:t>ping </a:t>
            </a:r>
            <a:r>
              <a:rPr lang="en-US" dirty="0"/>
              <a:t>is used to test the connectivity between two computers, by sending an ICMP Echo Request packet</a:t>
            </a:r>
          </a:p>
          <a:p>
            <a:pPr lvl="1"/>
            <a:r>
              <a:rPr lang="en-US" sz="2200" dirty="0"/>
              <a:t>If the destination receives the ICMP Echo Request and can respond, it will reply with an ICMP Echo Reply packet</a:t>
            </a:r>
          </a:p>
          <a:p>
            <a:pPr lvl="1"/>
            <a:r>
              <a:rPr lang="en-US" sz="2200" dirty="0"/>
              <a:t>Example: </a:t>
            </a:r>
            <a:r>
              <a:rPr lang="en-US" sz="2200" dirty="0">
                <a:latin typeface="Courier New" panose="02070309020205020404" pitchFamily="49" charset="0"/>
                <a:cs typeface="Courier New" panose="02070309020205020404" pitchFamily="49" charset="0"/>
              </a:rPr>
              <a:t>Reply from 192.168.100.201 bytes=32 time=&lt;1ms TTL=128</a:t>
            </a:r>
          </a:p>
          <a:p>
            <a:r>
              <a:rPr lang="en-US" dirty="0"/>
              <a:t>The </a:t>
            </a:r>
            <a:r>
              <a:rPr lang="en-US" b="1" dirty="0">
                <a:latin typeface="Courier New" panose="02070309020205020404" pitchFamily="49" charset="0"/>
                <a:cs typeface="Courier New" panose="02070309020205020404" pitchFamily="49" charset="0"/>
              </a:rPr>
              <a:t>arp</a:t>
            </a:r>
            <a:r>
              <a:rPr lang="en-US" dirty="0"/>
              <a:t> command displays or makes changes to the Address Resolution Protocol (ARP) cache</a:t>
            </a:r>
          </a:p>
          <a:p>
            <a:pPr lvl="1"/>
            <a:r>
              <a:rPr lang="en-US" sz="2200" dirty="0">
                <a:latin typeface="Courier New" panose="02070309020205020404" pitchFamily="49" charset="0"/>
                <a:cs typeface="Courier New" panose="02070309020205020404" pitchFamily="49" charset="0"/>
              </a:rPr>
              <a:t>-a </a:t>
            </a:r>
            <a:r>
              <a:rPr lang="en-US" sz="2200" dirty="0">
                <a:cs typeface="Courier New" panose="02070309020205020404" pitchFamily="49" charset="0"/>
              </a:rPr>
              <a:t>or</a:t>
            </a:r>
            <a:r>
              <a:rPr lang="en-US" sz="2200" dirty="0">
                <a:latin typeface="Courier New" panose="02070309020205020404" pitchFamily="49" charset="0"/>
                <a:cs typeface="Courier New" panose="02070309020205020404" pitchFamily="49" charset="0"/>
              </a:rPr>
              <a:t> -g</a:t>
            </a:r>
            <a:r>
              <a:rPr lang="en-US" sz="2200" dirty="0"/>
              <a:t>:  displays current ARP entries</a:t>
            </a:r>
          </a:p>
          <a:p>
            <a:pPr lvl="1"/>
            <a:r>
              <a:rPr lang="en-US" sz="2200" dirty="0"/>
              <a:t>-d:  deletes ARP entries</a:t>
            </a:r>
          </a:p>
          <a:p>
            <a:pPr lvl="1"/>
            <a:endParaRPr lang="en-US" sz="2200" dirty="0"/>
          </a:p>
          <a:p>
            <a:endParaRPr lang="en-US" dirty="0"/>
          </a:p>
        </p:txBody>
      </p:sp>
    </p:spTree>
    <p:extLst>
      <p:ext uri="{BB962C8B-B14F-4D97-AF65-F5344CB8AC3E}">
        <p14:creationId xmlns:p14="http://schemas.microsoft.com/office/powerpoint/2010/main" val="890416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25F0B-73B1-99D9-BEB0-23B392415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0EABC-8091-FF66-2628-5F73B751278B}"/>
              </a:ext>
            </a:extLst>
          </p:cNvPr>
          <p:cNvSpPr>
            <a:spLocks noGrp="1"/>
          </p:cNvSpPr>
          <p:nvPr>
            <p:ph type="title"/>
          </p:nvPr>
        </p:nvSpPr>
        <p:spPr/>
        <p:txBody>
          <a:bodyPr/>
          <a:lstStyle/>
          <a:p>
            <a:r>
              <a:rPr lang="en-US" dirty="0"/>
              <a:t>IP Configuration Command-Line Tools (3 of 3)</a:t>
            </a:r>
          </a:p>
        </p:txBody>
      </p:sp>
      <p:sp>
        <p:nvSpPr>
          <p:cNvPr id="3" name="Content Placeholder 2">
            <a:extLst>
              <a:ext uri="{FF2B5EF4-FFF2-40B4-BE49-F238E27FC236}">
                <a16:creationId xmlns:a16="http://schemas.microsoft.com/office/drawing/2014/main" id="{DBA2F8A9-101E-339A-CCD1-036C536909FE}"/>
              </a:ext>
            </a:extLst>
          </p:cNvPr>
          <p:cNvSpPr>
            <a:spLocks noGrp="1"/>
          </p:cNvSpPr>
          <p:nvPr>
            <p:ph idx="1"/>
          </p:nvPr>
        </p:nvSpPr>
        <p:spPr/>
        <p:txBody>
          <a:bodyPr/>
          <a:lstStyle/>
          <a:p>
            <a:r>
              <a:rPr lang="en-US" sz="2200" b="1" dirty="0">
                <a:latin typeface="Courier New" panose="02070309020205020404" pitchFamily="49" charset="0"/>
                <a:cs typeface="Courier New" panose="02070309020205020404" pitchFamily="49" charset="0"/>
              </a:rPr>
              <a:t>tracert </a:t>
            </a:r>
            <a:r>
              <a:rPr lang="en-US" sz="2200" dirty="0"/>
              <a:t>displays the route packets take between two computers</a:t>
            </a:r>
          </a:p>
          <a:p>
            <a:pPr lvl="1"/>
            <a:r>
              <a:rPr lang="en-US" sz="2200" dirty="0">
                <a:latin typeface="Courier New" panose="02070309020205020404" pitchFamily="49" charset="0"/>
                <a:cs typeface="Courier New" panose="02070309020205020404" pitchFamily="49" charset="0"/>
              </a:rPr>
              <a:t>tracert</a:t>
            </a:r>
            <a:r>
              <a:rPr lang="en-US" sz="2200" dirty="0"/>
              <a:t> works by sending out packets with a TTL value starting at 1 and increases the value until the destination is reached</a:t>
            </a:r>
          </a:p>
          <a:p>
            <a:pPr lvl="1"/>
            <a:r>
              <a:rPr lang="en-US" sz="2200" dirty="0"/>
              <a:t>This command is useful for troubleshooting the routing topology of a complex network and finding bottlenecks</a:t>
            </a:r>
          </a:p>
          <a:p>
            <a:r>
              <a:rPr lang="en-US" sz="2200" b="1" dirty="0">
                <a:latin typeface="Courier New" panose="02070309020205020404" pitchFamily="49" charset="0"/>
                <a:cs typeface="Courier New" panose="02070309020205020404" pitchFamily="49" charset="0"/>
              </a:rPr>
              <a:t>nslookup</a:t>
            </a:r>
            <a:r>
              <a:rPr lang="en-US" sz="2200" dirty="0"/>
              <a:t> is used to test and troubleshoot DNS operation</a:t>
            </a:r>
          </a:p>
          <a:p>
            <a:pPr lvl="1"/>
            <a:r>
              <a:rPr lang="en-US" sz="2200" dirty="0">
                <a:latin typeface="Courier New" panose="02070309020205020404" pitchFamily="49" charset="0"/>
                <a:cs typeface="Courier New" panose="02070309020205020404" pitchFamily="49" charset="0"/>
              </a:rPr>
              <a:t>nslookup </a:t>
            </a:r>
            <a:r>
              <a:rPr lang="en-US" sz="2200" dirty="0"/>
              <a:t>can be used in command mode or interactive mode</a:t>
            </a:r>
          </a:p>
          <a:p>
            <a:pPr lvl="1"/>
            <a:r>
              <a:rPr lang="en-US" sz="2200" dirty="0"/>
              <a:t>In command mode, type </a:t>
            </a:r>
            <a:r>
              <a:rPr lang="en-US" sz="2200" dirty="0">
                <a:latin typeface="Courier New" panose="02070309020205020404" pitchFamily="49" charset="0"/>
                <a:cs typeface="Courier New" panose="02070309020205020404" pitchFamily="49" charset="0"/>
              </a:rPr>
              <a:t>nslookup </a:t>
            </a:r>
            <a:r>
              <a:rPr lang="en-US" sz="2200" i="1" dirty="0">
                <a:latin typeface="Courier New" panose="02070309020205020404" pitchFamily="49" charset="0"/>
                <a:cs typeface="Courier New" panose="02070309020205020404" pitchFamily="49" charset="0"/>
              </a:rPr>
              <a:t>host</a:t>
            </a:r>
            <a:r>
              <a:rPr lang="en-US" sz="2200" dirty="0">
                <a:latin typeface="Courier New" panose="02070309020205020404" pitchFamily="49" charset="0"/>
                <a:cs typeface="Courier New" panose="02070309020205020404" pitchFamily="49" charset="0"/>
              </a:rPr>
              <a:t> </a:t>
            </a:r>
            <a:r>
              <a:rPr lang="en-US" sz="2200" dirty="0"/>
              <a:t>to query for the host’s address</a:t>
            </a:r>
          </a:p>
          <a:p>
            <a:pPr lvl="1"/>
            <a:r>
              <a:rPr lang="en-US" sz="2200" dirty="0"/>
              <a:t>In interactive mode, you can simply type </a:t>
            </a:r>
            <a:r>
              <a:rPr lang="en-US" sz="2200" i="1" dirty="0">
                <a:latin typeface="Courier New" panose="02070309020205020404" pitchFamily="49" charset="0"/>
                <a:cs typeface="Courier New" panose="02070309020205020404" pitchFamily="49" charset="0"/>
              </a:rPr>
              <a:t>host</a:t>
            </a:r>
            <a:r>
              <a:rPr lang="en-US" sz="2200" dirty="0"/>
              <a:t> to get the host’s address</a:t>
            </a:r>
          </a:p>
          <a:p>
            <a:endParaRPr lang="en-US" sz="2200" dirty="0"/>
          </a:p>
          <a:p>
            <a:endParaRPr lang="en-US" dirty="0"/>
          </a:p>
        </p:txBody>
      </p:sp>
    </p:spTree>
    <p:extLst>
      <p:ext uri="{BB962C8B-B14F-4D97-AF65-F5344CB8AC3E}">
        <p14:creationId xmlns:p14="http://schemas.microsoft.com/office/powerpoint/2010/main" val="4081542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D228C-68B0-65B4-F50C-C63D8A7DEC82}"/>
              </a:ext>
            </a:extLst>
          </p:cNvPr>
          <p:cNvSpPr>
            <a:spLocks noGrp="1"/>
          </p:cNvSpPr>
          <p:nvPr>
            <p:ph type="title"/>
          </p:nvPr>
        </p:nvSpPr>
        <p:spPr/>
        <p:txBody>
          <a:bodyPr/>
          <a:lstStyle/>
          <a:p>
            <a:r>
              <a:rPr lang="en-US" dirty="0"/>
              <a:t>Network Address Translation (1 of 4)</a:t>
            </a:r>
          </a:p>
        </p:txBody>
      </p:sp>
      <p:sp>
        <p:nvSpPr>
          <p:cNvPr id="3" name="Content Placeholder 2">
            <a:extLst>
              <a:ext uri="{FF2B5EF4-FFF2-40B4-BE49-F238E27FC236}">
                <a16:creationId xmlns:a16="http://schemas.microsoft.com/office/drawing/2014/main" id="{2B0CD0C0-29AF-6D19-0399-986D21827194}"/>
              </a:ext>
            </a:extLst>
          </p:cNvPr>
          <p:cNvSpPr>
            <a:spLocks noGrp="1"/>
          </p:cNvSpPr>
          <p:nvPr>
            <p:ph idx="1"/>
          </p:nvPr>
        </p:nvSpPr>
        <p:spPr/>
        <p:txBody>
          <a:bodyPr/>
          <a:lstStyle/>
          <a:p>
            <a:r>
              <a:rPr lang="en-US" b="1" dirty="0"/>
              <a:t>Network Address Translation </a:t>
            </a:r>
            <a:r>
              <a:rPr lang="en-US" dirty="0"/>
              <a:t>(</a:t>
            </a:r>
            <a:r>
              <a:rPr lang="en-US" b="1" dirty="0"/>
              <a:t>NAT</a:t>
            </a:r>
            <a:r>
              <a:rPr lang="en-US" dirty="0"/>
              <a:t>) allows an organization to use private IP addresses while connected to the Internet</a:t>
            </a:r>
          </a:p>
          <a:p>
            <a:pPr lvl="1"/>
            <a:r>
              <a:rPr lang="en-US" sz="2200" dirty="0"/>
              <a:t>The NAT process translates a workstation’s private address (as a packet leaves the corporate network) into a valid public Internet address</a:t>
            </a:r>
          </a:p>
          <a:p>
            <a:pPr lvl="1"/>
            <a:r>
              <a:rPr lang="en-US" sz="2200" dirty="0"/>
              <a:t>When data returns to the workstation, the address is translated back to the original private address</a:t>
            </a:r>
          </a:p>
          <a:p>
            <a:r>
              <a:rPr lang="en-US" dirty="0"/>
              <a:t>NAT is usually handled by a network device connected to the Internet, such as a router</a:t>
            </a:r>
          </a:p>
          <a:p>
            <a:r>
              <a:rPr lang="en-US" dirty="0"/>
              <a:t>Address translation is kept track of in a NAT table</a:t>
            </a:r>
          </a:p>
          <a:p>
            <a:endParaRPr lang="en-US" dirty="0"/>
          </a:p>
        </p:txBody>
      </p:sp>
    </p:spTree>
    <p:extLst>
      <p:ext uri="{BB962C8B-B14F-4D97-AF65-F5344CB8AC3E}">
        <p14:creationId xmlns:p14="http://schemas.microsoft.com/office/powerpoint/2010/main" val="1197870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A860-C418-851C-BA36-F2176751F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F8AAC-4B9F-8962-DB58-23CCE2D46313}"/>
              </a:ext>
            </a:extLst>
          </p:cNvPr>
          <p:cNvSpPr>
            <a:spLocks noGrp="1"/>
          </p:cNvSpPr>
          <p:nvPr>
            <p:ph type="title"/>
          </p:nvPr>
        </p:nvSpPr>
        <p:spPr/>
        <p:txBody>
          <a:bodyPr/>
          <a:lstStyle/>
          <a:p>
            <a:r>
              <a:rPr lang="en-US" dirty="0"/>
              <a:t>Network Address Translation (2 of 4)</a:t>
            </a:r>
          </a:p>
        </p:txBody>
      </p:sp>
      <p:sp>
        <p:nvSpPr>
          <p:cNvPr id="5" name="TextBox 4">
            <a:extLst>
              <a:ext uri="{FF2B5EF4-FFF2-40B4-BE49-F238E27FC236}">
                <a16:creationId xmlns:a16="http://schemas.microsoft.com/office/drawing/2014/main" id="{BAA0215C-6072-43C3-F797-E0E9D75A20F5}"/>
              </a:ext>
            </a:extLst>
          </p:cNvPr>
          <p:cNvSpPr txBox="1"/>
          <p:nvPr/>
        </p:nvSpPr>
        <p:spPr>
          <a:xfrm>
            <a:off x="7424160" y="3013501"/>
            <a:ext cx="4294598" cy="1200329"/>
          </a:xfrm>
          <a:prstGeom prst="rect">
            <a:avLst/>
          </a:prstGeom>
          <a:noFill/>
        </p:spPr>
        <p:txBody>
          <a:bodyPr wrap="square" rtlCol="0">
            <a:spAutoFit/>
          </a:bodyPr>
          <a:lstStyle/>
          <a:p>
            <a:r>
              <a:rPr lang="en-US" sz="2400" b="1" dirty="0">
                <a:latin typeface="Work Sans" pitchFamily="2" charset="0"/>
              </a:rPr>
              <a:t>Figure 6-8  </a:t>
            </a:r>
            <a:r>
              <a:rPr lang="en-US" sz="2400" dirty="0">
                <a:latin typeface="Work Sans" pitchFamily="2" charset="0"/>
              </a:rPr>
              <a:t>Private addresses translated to public addresses with NAT</a:t>
            </a:r>
          </a:p>
        </p:txBody>
      </p:sp>
      <p:pic>
        <p:nvPicPr>
          <p:cNvPr id="4" name="Picture 3" descr="A NAT table maintained by a router which provides a public address for every private address in the network for Internet access. Two computers are connected to a switch and the switch is connected to a router. The router provides Internet access and maintains the following NAT table for the two computers in its network. Row 1: Private Address: 10 dot 0 dot 0 dot 1; Public Address: 198 dot 60 dot 123 dot 101. Row 2: Private Address: 10 dot 0 dot 0 dot 2; Public Address: 198 dot 60 dot 123 dot 102.&#10;">
            <a:extLst>
              <a:ext uri="{FF2B5EF4-FFF2-40B4-BE49-F238E27FC236}">
                <a16:creationId xmlns:a16="http://schemas.microsoft.com/office/drawing/2014/main" id="{877D916E-81A7-77B3-49CD-97F2D8D105F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83865" y="1810592"/>
            <a:ext cx="4829951" cy="3606146"/>
          </a:xfrm>
          <a:prstGeom prst="rect">
            <a:avLst/>
          </a:prstGeom>
        </p:spPr>
      </p:pic>
    </p:spTree>
    <p:extLst>
      <p:ext uri="{BB962C8B-B14F-4D97-AF65-F5344CB8AC3E}">
        <p14:creationId xmlns:p14="http://schemas.microsoft.com/office/powerpoint/2010/main" val="1428950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72A8-974D-6FD8-11E4-3C72A12C6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F1014-0CE9-20A2-491C-EB837D1AE182}"/>
              </a:ext>
            </a:extLst>
          </p:cNvPr>
          <p:cNvSpPr>
            <a:spLocks noGrp="1"/>
          </p:cNvSpPr>
          <p:nvPr>
            <p:ph type="title"/>
          </p:nvPr>
        </p:nvSpPr>
        <p:spPr/>
        <p:txBody>
          <a:bodyPr/>
          <a:lstStyle/>
          <a:p>
            <a:r>
              <a:rPr lang="en-US" dirty="0"/>
              <a:t>Network Address Translation (3 of 4)</a:t>
            </a:r>
          </a:p>
        </p:txBody>
      </p:sp>
      <p:sp>
        <p:nvSpPr>
          <p:cNvPr id="3" name="Content Placeholder 2">
            <a:extLst>
              <a:ext uri="{FF2B5EF4-FFF2-40B4-BE49-F238E27FC236}">
                <a16:creationId xmlns:a16="http://schemas.microsoft.com/office/drawing/2014/main" id="{38BE7BA0-6F91-3DE6-C999-84C08A38ED53}"/>
              </a:ext>
            </a:extLst>
          </p:cNvPr>
          <p:cNvSpPr>
            <a:spLocks noGrp="1"/>
          </p:cNvSpPr>
          <p:nvPr>
            <p:ph idx="1"/>
          </p:nvPr>
        </p:nvSpPr>
        <p:spPr/>
        <p:txBody>
          <a:bodyPr/>
          <a:lstStyle/>
          <a:p>
            <a:r>
              <a:rPr lang="en-US" b="1" dirty="0"/>
              <a:t>Port Address Translation </a:t>
            </a:r>
            <a:r>
              <a:rPr lang="en-US" dirty="0"/>
              <a:t>(</a:t>
            </a:r>
            <a:r>
              <a:rPr lang="en-US" b="1" dirty="0"/>
              <a:t>PAT</a:t>
            </a:r>
            <a:r>
              <a:rPr lang="en-US" dirty="0"/>
              <a:t>) allows several hundred workstations to access the Internet with a single public Internet address </a:t>
            </a:r>
          </a:p>
          <a:p>
            <a:r>
              <a:rPr lang="en-US" dirty="0"/>
              <a:t>Each packet contains source and destination IP addresses along with source and destination port numbers</a:t>
            </a:r>
          </a:p>
          <a:p>
            <a:r>
              <a:rPr lang="en-US" dirty="0"/>
              <a:t>A single public IP address is used for all workstations, but different source port numbers are used for each communication session</a:t>
            </a:r>
          </a:p>
          <a:p>
            <a:endParaRPr lang="en-US" dirty="0"/>
          </a:p>
        </p:txBody>
      </p:sp>
    </p:spTree>
    <p:extLst>
      <p:ext uri="{BB962C8B-B14F-4D97-AF65-F5344CB8AC3E}">
        <p14:creationId xmlns:p14="http://schemas.microsoft.com/office/powerpoint/2010/main" val="40614529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8ECC-7316-9B9A-7E01-6DD9B516F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803C4-A147-6777-4D02-D0DDB16976CA}"/>
              </a:ext>
            </a:extLst>
          </p:cNvPr>
          <p:cNvSpPr>
            <a:spLocks noGrp="1"/>
          </p:cNvSpPr>
          <p:nvPr>
            <p:ph type="title"/>
          </p:nvPr>
        </p:nvSpPr>
        <p:spPr/>
        <p:txBody>
          <a:bodyPr/>
          <a:lstStyle/>
          <a:p>
            <a:r>
              <a:rPr lang="en-US" dirty="0"/>
              <a:t>Network Address Translation (4 of 4)</a:t>
            </a:r>
          </a:p>
        </p:txBody>
      </p:sp>
      <p:sp>
        <p:nvSpPr>
          <p:cNvPr id="5" name="TextBox 4">
            <a:extLst>
              <a:ext uri="{FF2B5EF4-FFF2-40B4-BE49-F238E27FC236}">
                <a16:creationId xmlns:a16="http://schemas.microsoft.com/office/drawing/2014/main" id="{7393DDEB-85D2-251F-7143-FBA7F1B2DA74}"/>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6-9  </a:t>
            </a:r>
            <a:r>
              <a:rPr lang="en-US" sz="2400" dirty="0">
                <a:latin typeface="Work Sans" pitchFamily="2" charset="0"/>
              </a:rPr>
              <a:t>PAT uses the port number to allow using a single public IP address</a:t>
            </a:r>
          </a:p>
        </p:txBody>
      </p:sp>
      <p:pic>
        <p:nvPicPr>
          <p:cNvPr id="4" name="Picture 3" descr="A NAT and PAT table is maintained by a router to provide Internet access to computers connected to it. Two computers are connected to a switch and the switch is connected to a router. Computer 1 has the I P address 10 dot 0 dot 0 dot 1. Computer 2 has the I P address 10 dot 0 dot 0 dot 2. The interface of the router connected to the Internet has the I P address 198 dot 60 dot 123 dot 100. The router maintains the following NAT and PAT table. Row 1: Private address and port: 10 dot 0 dot 0 dot 1 colon 2562; Public address and port: 198 dot 60 dot 123 dot 100 colon 5311. Row 2: Private address and port: 10 dot 0 dot 0 dot 2 colon 12441; Public address and port: 198 dot 60 dot 123 dot 100 colon 3105. It is to be noted that only one public I P address is used for multiple private addresses in the table.&#10;">
            <a:extLst>
              <a:ext uri="{FF2B5EF4-FFF2-40B4-BE49-F238E27FC236}">
                <a16:creationId xmlns:a16="http://schemas.microsoft.com/office/drawing/2014/main" id="{2B88CFC2-83BD-0F7A-0134-0B8568CC157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60315" y="1466434"/>
            <a:ext cx="2969232" cy="3925131"/>
          </a:xfrm>
          <a:prstGeom prst="rect">
            <a:avLst/>
          </a:prstGeom>
        </p:spPr>
      </p:pic>
    </p:spTree>
    <p:extLst>
      <p:ext uri="{BB962C8B-B14F-4D97-AF65-F5344CB8AC3E}">
        <p14:creationId xmlns:p14="http://schemas.microsoft.com/office/powerpoint/2010/main" val="1736086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64A7-E4AB-A8D1-72E3-C13C81B9C53B}"/>
              </a:ext>
            </a:extLst>
          </p:cNvPr>
          <p:cNvSpPr>
            <a:spLocks noGrp="1"/>
          </p:cNvSpPr>
          <p:nvPr>
            <p:ph type="title"/>
          </p:nvPr>
        </p:nvSpPr>
        <p:spPr/>
        <p:txBody>
          <a:bodyPr/>
          <a:lstStyle/>
          <a:p>
            <a:r>
              <a:rPr lang="en-US" dirty="0"/>
              <a:t>Internet Protocol Version 6</a:t>
            </a:r>
          </a:p>
        </p:txBody>
      </p:sp>
      <p:sp>
        <p:nvSpPr>
          <p:cNvPr id="3" name="Content Placeholder 2">
            <a:extLst>
              <a:ext uri="{FF2B5EF4-FFF2-40B4-BE49-F238E27FC236}">
                <a16:creationId xmlns:a16="http://schemas.microsoft.com/office/drawing/2014/main" id="{B5D5C397-9970-8BB9-D763-6E80586C2CC3}"/>
              </a:ext>
            </a:extLst>
          </p:cNvPr>
          <p:cNvSpPr>
            <a:spLocks noGrp="1"/>
          </p:cNvSpPr>
          <p:nvPr>
            <p:ph idx="1"/>
          </p:nvPr>
        </p:nvSpPr>
        <p:spPr/>
        <p:txBody>
          <a:bodyPr/>
          <a:lstStyle/>
          <a:p>
            <a:r>
              <a:rPr lang="en-US" dirty="0"/>
              <a:t>IPv6 is the replacement for IPv4</a:t>
            </a:r>
          </a:p>
          <a:p>
            <a:r>
              <a:rPr lang="en-US" dirty="0"/>
              <a:t>IPv6 addresses look very different from IPv4 addresses</a:t>
            </a:r>
          </a:p>
          <a:p>
            <a:pPr lvl="1"/>
            <a:r>
              <a:rPr lang="en-US" dirty="0"/>
              <a:t>They have fields with a distinct purpose</a:t>
            </a:r>
          </a:p>
          <a:p>
            <a:r>
              <a:rPr lang="en-US" dirty="0"/>
              <a:t>Configuring an IPv6 address is distinctly different from configuring an IPv4 address</a:t>
            </a:r>
          </a:p>
        </p:txBody>
      </p:sp>
    </p:spTree>
    <p:extLst>
      <p:ext uri="{BB962C8B-B14F-4D97-AF65-F5344CB8AC3E}">
        <p14:creationId xmlns:p14="http://schemas.microsoft.com/office/powerpoint/2010/main" val="41487264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A0A6-EA00-43C4-9C85-C6A0CB674AF8}"/>
              </a:ext>
            </a:extLst>
          </p:cNvPr>
          <p:cNvSpPr>
            <a:spLocks noGrp="1"/>
          </p:cNvSpPr>
          <p:nvPr>
            <p:ph type="title"/>
          </p:nvPr>
        </p:nvSpPr>
        <p:spPr/>
        <p:txBody>
          <a:bodyPr/>
          <a:lstStyle/>
          <a:p>
            <a:r>
              <a:rPr lang="en-US" dirty="0"/>
              <a:t>IPv6 Address Structure (1 of 2)</a:t>
            </a:r>
          </a:p>
        </p:txBody>
      </p:sp>
      <p:sp>
        <p:nvSpPr>
          <p:cNvPr id="3" name="Content Placeholder 2">
            <a:extLst>
              <a:ext uri="{FF2B5EF4-FFF2-40B4-BE49-F238E27FC236}">
                <a16:creationId xmlns:a16="http://schemas.microsoft.com/office/drawing/2014/main" id="{44BCC017-4DB0-1E1E-3341-6E872E239FA6}"/>
              </a:ext>
            </a:extLst>
          </p:cNvPr>
          <p:cNvSpPr>
            <a:spLocks noGrp="1"/>
          </p:cNvSpPr>
          <p:nvPr>
            <p:ph idx="1"/>
          </p:nvPr>
        </p:nvSpPr>
        <p:spPr>
          <a:xfrm>
            <a:off x="476843" y="1677243"/>
            <a:ext cx="11241915" cy="4351338"/>
          </a:xfrm>
        </p:spPr>
        <p:txBody>
          <a:bodyPr/>
          <a:lstStyle/>
          <a:p>
            <a:r>
              <a:rPr lang="en-US" dirty="0"/>
              <a:t>IPv6 uses 128 bits, instead of IPv4’s 32 bits, for an address</a:t>
            </a:r>
          </a:p>
          <a:p>
            <a:r>
              <a:rPr lang="en-US" dirty="0"/>
              <a:t>IPv6 addresses are written as eight 16-bit hexadecimal numbers separated by colons:</a:t>
            </a:r>
          </a:p>
          <a:p>
            <a:pPr marL="457200" lvl="1" indent="0">
              <a:buNone/>
            </a:pPr>
            <a:r>
              <a:rPr lang="en-US" sz="2200" dirty="0"/>
              <a:t>fe80:0:0:0:18ff:0024:8e5a:60</a:t>
            </a:r>
          </a:p>
          <a:p>
            <a:r>
              <a:rPr lang="en-US" dirty="0"/>
              <a:t>Things to note about IPv6 addresses:</a:t>
            </a:r>
          </a:p>
          <a:p>
            <a:pPr lvl="1"/>
            <a:r>
              <a:rPr lang="en-US" sz="2200" dirty="0"/>
              <a:t>One or more consecutive 0 values can be written as a double colon, but only one double colon can exist in an IPv6 address</a:t>
            </a:r>
          </a:p>
          <a:p>
            <a:pPr lvl="1"/>
            <a:r>
              <a:rPr lang="en-US" sz="2200" dirty="0"/>
              <a:t>Leading 0s are optional (the value 0024 above could be written as 24)</a:t>
            </a:r>
          </a:p>
          <a:p>
            <a:pPr lvl="1"/>
            <a:r>
              <a:rPr lang="en-US" sz="2200" dirty="0"/>
              <a:t>Hexadecimal numbers are easier to convert to binary</a:t>
            </a:r>
          </a:p>
          <a:p>
            <a:endParaRPr lang="en-US" dirty="0"/>
          </a:p>
        </p:txBody>
      </p:sp>
    </p:spTree>
    <p:extLst>
      <p:ext uri="{BB962C8B-B14F-4D97-AF65-F5344CB8AC3E}">
        <p14:creationId xmlns:p14="http://schemas.microsoft.com/office/powerpoint/2010/main" val="645675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BE384-45A9-DD3C-C649-53A93CDE9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3494F-A668-F88A-CD8B-4C420D1A876A}"/>
              </a:ext>
            </a:extLst>
          </p:cNvPr>
          <p:cNvSpPr>
            <a:spLocks noGrp="1"/>
          </p:cNvSpPr>
          <p:nvPr>
            <p:ph type="title"/>
          </p:nvPr>
        </p:nvSpPr>
        <p:spPr/>
        <p:txBody>
          <a:bodyPr/>
          <a:lstStyle/>
          <a:p>
            <a:r>
              <a:rPr lang="en-US" dirty="0"/>
              <a:t>IPv6 Address Structure (2 of 2)</a:t>
            </a:r>
          </a:p>
        </p:txBody>
      </p:sp>
      <p:sp>
        <p:nvSpPr>
          <p:cNvPr id="3" name="Content Placeholder 2">
            <a:extLst>
              <a:ext uri="{FF2B5EF4-FFF2-40B4-BE49-F238E27FC236}">
                <a16:creationId xmlns:a16="http://schemas.microsoft.com/office/drawing/2014/main" id="{6C548BDD-92C2-8075-97EF-384D909C6CBA}"/>
              </a:ext>
            </a:extLst>
          </p:cNvPr>
          <p:cNvSpPr>
            <a:spLocks noGrp="1"/>
          </p:cNvSpPr>
          <p:nvPr>
            <p:ph idx="1"/>
          </p:nvPr>
        </p:nvSpPr>
        <p:spPr>
          <a:xfrm>
            <a:off x="476843" y="1677243"/>
            <a:ext cx="11241915" cy="4351338"/>
          </a:xfrm>
        </p:spPr>
        <p:txBody>
          <a:bodyPr/>
          <a:lstStyle/>
          <a:p>
            <a:r>
              <a:rPr lang="en-US" dirty="0"/>
              <a:t>The interface ID of an IPv6 is 64 bits and uses the interface’s 48-bit MAC address, as well as a 16-bit value of FF-FE that is inserted after the first 24 bits of the MAC address</a:t>
            </a:r>
          </a:p>
          <a:p>
            <a:r>
              <a:rPr lang="en-US" dirty="0"/>
              <a:t>An IPv6 interface ID can be assigned to a host in these ways:</a:t>
            </a:r>
          </a:p>
          <a:p>
            <a:pPr lvl="1"/>
            <a:r>
              <a:rPr lang="en-US" sz="2200" dirty="0"/>
              <a:t>Using the 48-bit MAC address</a:t>
            </a:r>
          </a:p>
          <a:p>
            <a:pPr lvl="1"/>
            <a:r>
              <a:rPr lang="en-US" sz="2200" dirty="0"/>
              <a:t>A randomly generated permanent interface identifier</a:t>
            </a:r>
          </a:p>
          <a:p>
            <a:pPr lvl="1"/>
            <a:r>
              <a:rPr lang="en-US" sz="2200" dirty="0"/>
              <a:t>A temporary interface identifier</a:t>
            </a:r>
          </a:p>
          <a:p>
            <a:pPr lvl="1"/>
            <a:r>
              <a:rPr lang="en-US" sz="2200" dirty="0"/>
              <a:t>Via DHCPv6</a:t>
            </a:r>
          </a:p>
          <a:p>
            <a:pPr lvl="1"/>
            <a:r>
              <a:rPr lang="en-US" sz="2200" dirty="0"/>
              <a:t>Manually</a:t>
            </a:r>
          </a:p>
          <a:p>
            <a:endParaRPr lang="en-US" dirty="0"/>
          </a:p>
        </p:txBody>
      </p:sp>
    </p:spTree>
    <p:extLst>
      <p:ext uri="{BB962C8B-B14F-4D97-AF65-F5344CB8AC3E}">
        <p14:creationId xmlns:p14="http://schemas.microsoft.com/office/powerpoint/2010/main" val="26268744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D7D4-C4BA-1863-A80B-104F8BB6DB28}"/>
              </a:ext>
            </a:extLst>
          </p:cNvPr>
          <p:cNvSpPr>
            <a:spLocks noGrp="1"/>
          </p:cNvSpPr>
          <p:nvPr>
            <p:ph type="title"/>
          </p:nvPr>
        </p:nvSpPr>
        <p:spPr/>
        <p:txBody>
          <a:bodyPr/>
          <a:lstStyle/>
          <a:p>
            <a:r>
              <a:rPr lang="en-US" dirty="0"/>
              <a:t>IPv6 Address Types (1 of 2)</a:t>
            </a:r>
          </a:p>
        </p:txBody>
      </p:sp>
      <p:sp>
        <p:nvSpPr>
          <p:cNvPr id="3" name="Content Placeholder 2">
            <a:extLst>
              <a:ext uri="{FF2B5EF4-FFF2-40B4-BE49-F238E27FC236}">
                <a16:creationId xmlns:a16="http://schemas.microsoft.com/office/drawing/2014/main" id="{C7B5EC31-DFF0-0BB0-6E7A-0479CA27A577}"/>
              </a:ext>
            </a:extLst>
          </p:cNvPr>
          <p:cNvSpPr>
            <a:spLocks noGrp="1"/>
          </p:cNvSpPr>
          <p:nvPr>
            <p:ph idx="1"/>
          </p:nvPr>
        </p:nvSpPr>
        <p:spPr/>
        <p:txBody>
          <a:bodyPr/>
          <a:lstStyle/>
          <a:p>
            <a:r>
              <a:rPr lang="en-US" dirty="0"/>
              <a:t>IPv6 defines the following address types: unicast, multicast, and anycast</a:t>
            </a:r>
          </a:p>
          <a:p>
            <a:r>
              <a:rPr lang="en-US" dirty="0"/>
              <a:t>A unicast address specifies a single interface on a device</a:t>
            </a:r>
          </a:p>
          <a:p>
            <a:r>
              <a:rPr lang="en-US" dirty="0"/>
              <a:t>Three primary types of unicast addresses:</a:t>
            </a:r>
          </a:p>
          <a:p>
            <a:pPr lvl="1"/>
            <a:r>
              <a:rPr lang="en-US" sz="2200" dirty="0"/>
              <a:t>Link-local addresses can’t be routed</a:t>
            </a:r>
          </a:p>
          <a:p>
            <a:pPr lvl="1"/>
            <a:r>
              <a:rPr lang="en-US" sz="2200" dirty="0"/>
              <a:t>Unique local addresses are for use behind a firewall and are preconfigured on routers </a:t>
            </a:r>
          </a:p>
          <a:p>
            <a:pPr lvl="1"/>
            <a:r>
              <a:rPr lang="en-US" sz="2200" dirty="0"/>
              <a:t>Global unicast addresses are accessible on the public Internet and can be routed</a:t>
            </a:r>
          </a:p>
          <a:p>
            <a:endParaRPr lang="en-US" dirty="0"/>
          </a:p>
        </p:txBody>
      </p:sp>
    </p:spTree>
    <p:extLst>
      <p:ext uri="{BB962C8B-B14F-4D97-AF65-F5344CB8AC3E}">
        <p14:creationId xmlns:p14="http://schemas.microsoft.com/office/powerpoint/2010/main" val="35829088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218AE-F492-3DB9-FF52-A9F9A96E1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DD4C9-EBB4-CD13-1B87-6E776BFF3444}"/>
              </a:ext>
            </a:extLst>
          </p:cNvPr>
          <p:cNvSpPr>
            <a:spLocks noGrp="1"/>
          </p:cNvSpPr>
          <p:nvPr>
            <p:ph type="title"/>
          </p:nvPr>
        </p:nvSpPr>
        <p:spPr/>
        <p:txBody>
          <a:bodyPr/>
          <a:lstStyle/>
          <a:p>
            <a:r>
              <a:rPr lang="en-US" dirty="0"/>
              <a:t>IPv6 Address Types (2 of 2)</a:t>
            </a:r>
          </a:p>
        </p:txBody>
      </p:sp>
      <p:sp>
        <p:nvSpPr>
          <p:cNvPr id="3" name="Content Placeholder 2">
            <a:extLst>
              <a:ext uri="{FF2B5EF4-FFF2-40B4-BE49-F238E27FC236}">
                <a16:creationId xmlns:a16="http://schemas.microsoft.com/office/drawing/2014/main" id="{ADFF1643-49C1-E992-62CE-A1A8B8F1D149}"/>
              </a:ext>
            </a:extLst>
          </p:cNvPr>
          <p:cNvSpPr>
            <a:spLocks noGrp="1"/>
          </p:cNvSpPr>
          <p:nvPr>
            <p:ph idx="1"/>
          </p:nvPr>
        </p:nvSpPr>
        <p:spPr/>
        <p:txBody>
          <a:bodyPr/>
          <a:lstStyle/>
          <a:p>
            <a:r>
              <a:rPr lang="en-US" dirty="0"/>
              <a:t>IPv6 Special-Purpose Addresses</a:t>
            </a:r>
          </a:p>
          <a:p>
            <a:pPr lvl="1"/>
            <a:r>
              <a:rPr lang="en-US" sz="2200" dirty="0"/>
              <a:t>Loopback address is equivalent to 127.0.0.1 used in IPv4 and is written as </a:t>
            </a:r>
            <a:r>
              <a:rPr lang="en-US" sz="2200" dirty="0">
                <a:latin typeface="Courier New" panose="02070309020205020404" pitchFamily="49" charset="0"/>
                <a:cs typeface="Courier New" panose="02070309020205020404" pitchFamily="49" charset="0"/>
              </a:rPr>
              <a:t>::1</a:t>
            </a:r>
          </a:p>
          <a:p>
            <a:pPr lvl="1"/>
            <a:r>
              <a:rPr lang="en-US" sz="2200" dirty="0"/>
              <a:t>Zero address is used as a placeholder in the source address field of an outgoing IPv6 packet and is written as </a:t>
            </a:r>
            <a:r>
              <a:rPr lang="en-US" sz="2200" dirty="0">
                <a:latin typeface="Courier New" panose="02070309020205020404" pitchFamily="49" charset="0"/>
                <a:cs typeface="Courier New" panose="02070309020205020404" pitchFamily="49" charset="0"/>
              </a:rPr>
              <a:t>:: </a:t>
            </a:r>
          </a:p>
          <a:p>
            <a:pPr lvl="1"/>
            <a:r>
              <a:rPr lang="en-US" sz="2200" dirty="0"/>
              <a:t>Documentation—the global unicast address </a:t>
            </a:r>
            <a:r>
              <a:rPr lang="en-US" sz="2200" dirty="0">
                <a:latin typeface="Courier New" panose="02070309020205020404" pitchFamily="49" charset="0"/>
                <a:cs typeface="Courier New" panose="02070309020205020404" pitchFamily="49" charset="0"/>
              </a:rPr>
              <a:t>2001:db8::/32 </a:t>
            </a:r>
            <a:r>
              <a:rPr lang="en-US" sz="2200" dirty="0"/>
              <a:t>has been reserved for use in books and other documentation discussing IPv6</a:t>
            </a:r>
          </a:p>
          <a:p>
            <a:pPr lvl="1"/>
            <a:r>
              <a:rPr lang="en-US" sz="2200" dirty="0"/>
              <a:t>IPv4-to-IPv6 transition—several address prefixes are used for transitioning from IPv4 to IPv6</a:t>
            </a:r>
          </a:p>
          <a:p>
            <a:endParaRPr lang="en-US" dirty="0"/>
          </a:p>
        </p:txBody>
      </p:sp>
    </p:spTree>
    <p:extLst>
      <p:ext uri="{BB962C8B-B14F-4D97-AF65-F5344CB8AC3E}">
        <p14:creationId xmlns:p14="http://schemas.microsoft.com/office/powerpoint/2010/main" val="27643319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B17D2-0EF5-032B-D957-926B75498728}"/>
              </a:ext>
            </a:extLst>
          </p:cNvPr>
          <p:cNvSpPr>
            <a:spLocks noGrp="1"/>
          </p:cNvSpPr>
          <p:nvPr>
            <p:ph type="title"/>
          </p:nvPr>
        </p:nvSpPr>
        <p:spPr/>
        <p:txBody>
          <a:bodyPr/>
          <a:lstStyle/>
          <a:p>
            <a:r>
              <a:rPr lang="en-US" dirty="0"/>
              <a:t>Subnetting with IPv6 (1 of 2)</a:t>
            </a:r>
          </a:p>
        </p:txBody>
      </p:sp>
      <p:sp>
        <p:nvSpPr>
          <p:cNvPr id="3" name="Content Placeholder 2">
            <a:extLst>
              <a:ext uri="{FF2B5EF4-FFF2-40B4-BE49-F238E27FC236}">
                <a16:creationId xmlns:a16="http://schemas.microsoft.com/office/drawing/2014/main" id="{EF234836-EC86-F8DF-02A5-11D0248CD5B4}"/>
              </a:ext>
            </a:extLst>
          </p:cNvPr>
          <p:cNvSpPr>
            <a:spLocks noGrp="1"/>
          </p:cNvSpPr>
          <p:nvPr>
            <p:ph idx="1"/>
          </p:nvPr>
        </p:nvSpPr>
        <p:spPr/>
        <p:txBody>
          <a:bodyPr/>
          <a:lstStyle/>
          <a:p>
            <a:r>
              <a:rPr lang="en-US" dirty="0"/>
              <a:t>Subnetting will still exist in IPv6, but due to the large address space available, most address allocations will have a /48 prefix</a:t>
            </a:r>
          </a:p>
          <a:p>
            <a:r>
              <a:rPr lang="en-US" dirty="0"/>
              <a:t>This means the network ID is 48 bits, and the network administrator has 80 bits for assigning subnets and host IDs</a:t>
            </a:r>
          </a:p>
          <a:p>
            <a:r>
              <a:rPr lang="en-US" dirty="0"/>
              <a:t>80 bits allows 16 subnet bits (since the interface ID requires 64 bits), allowing up to 65,536 subnets</a:t>
            </a:r>
          </a:p>
          <a:p>
            <a:endParaRPr lang="en-US" dirty="0"/>
          </a:p>
        </p:txBody>
      </p:sp>
    </p:spTree>
    <p:extLst>
      <p:ext uri="{BB962C8B-B14F-4D97-AF65-F5344CB8AC3E}">
        <p14:creationId xmlns:p14="http://schemas.microsoft.com/office/powerpoint/2010/main" val="4086098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65154-5C94-0EAD-3DA7-2140203D2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5EEC1-8F84-6B13-391E-092594312184}"/>
              </a:ext>
            </a:extLst>
          </p:cNvPr>
          <p:cNvSpPr>
            <a:spLocks noGrp="1"/>
          </p:cNvSpPr>
          <p:nvPr>
            <p:ph type="title"/>
          </p:nvPr>
        </p:nvSpPr>
        <p:spPr/>
        <p:txBody>
          <a:bodyPr/>
          <a:lstStyle/>
          <a:p>
            <a:r>
              <a:rPr lang="en-US" dirty="0"/>
              <a:t>Subnetting with IPv6 (2 of 2)</a:t>
            </a:r>
          </a:p>
        </p:txBody>
      </p:sp>
      <p:sp>
        <p:nvSpPr>
          <p:cNvPr id="5" name="TextBox 4">
            <a:extLst>
              <a:ext uri="{FF2B5EF4-FFF2-40B4-BE49-F238E27FC236}">
                <a16:creationId xmlns:a16="http://schemas.microsoft.com/office/drawing/2014/main" id="{36AC2406-6EE4-26F2-B911-B59F82B5B9A4}"/>
              </a:ext>
            </a:extLst>
          </p:cNvPr>
          <p:cNvSpPr txBox="1"/>
          <p:nvPr/>
        </p:nvSpPr>
        <p:spPr>
          <a:xfrm>
            <a:off x="7315200" y="3013501"/>
            <a:ext cx="4294598" cy="830997"/>
          </a:xfrm>
          <a:prstGeom prst="rect">
            <a:avLst/>
          </a:prstGeom>
          <a:noFill/>
        </p:spPr>
        <p:txBody>
          <a:bodyPr wrap="square" rtlCol="0">
            <a:spAutoFit/>
          </a:bodyPr>
          <a:lstStyle/>
          <a:p>
            <a:r>
              <a:rPr lang="en-US" sz="2400" b="1" dirty="0">
                <a:latin typeface="Work Sans" pitchFamily="2" charset="0"/>
              </a:rPr>
              <a:t>Figure 6-10  </a:t>
            </a:r>
            <a:r>
              <a:rPr lang="en-US" sz="2400" dirty="0">
                <a:latin typeface="Work Sans" pitchFamily="2" charset="0"/>
              </a:rPr>
              <a:t>Structure of a typical IPv6 address</a:t>
            </a:r>
          </a:p>
        </p:txBody>
      </p:sp>
      <p:pic>
        <p:nvPicPr>
          <p:cNvPr id="4" name="Picture 3" descr="A typical I P v 6 address has a global routing prefix of 48 bits, subnet I D of 16 bits, and Interface I D of 64 bits.&#10;">
            <a:extLst>
              <a:ext uri="{FF2B5EF4-FFF2-40B4-BE49-F238E27FC236}">
                <a16:creationId xmlns:a16="http://schemas.microsoft.com/office/drawing/2014/main" id="{A25A381E-8F14-4F07-8477-6540029BB4FF}"/>
              </a:ext>
            </a:extLst>
          </p:cNvPr>
          <p:cNvPicPr>
            <a:picLocks noChangeAspect="1"/>
          </p:cNvPicPr>
          <p:nvPr/>
        </p:nvPicPr>
        <p:blipFill>
          <a:blip r:embed="rId2"/>
          <a:stretch>
            <a:fillRect/>
          </a:stretch>
        </p:blipFill>
        <p:spPr>
          <a:xfrm>
            <a:off x="1017141" y="3225412"/>
            <a:ext cx="5763803" cy="407173"/>
          </a:xfrm>
          <a:prstGeom prst="rect">
            <a:avLst/>
          </a:prstGeom>
        </p:spPr>
      </p:pic>
    </p:spTree>
    <p:extLst>
      <p:ext uri="{BB962C8B-B14F-4D97-AF65-F5344CB8AC3E}">
        <p14:creationId xmlns:p14="http://schemas.microsoft.com/office/powerpoint/2010/main" val="4273022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8A99B-E758-BAF5-9731-8DDD581E0B09}"/>
              </a:ext>
            </a:extLst>
          </p:cNvPr>
          <p:cNvSpPr>
            <a:spLocks noGrp="1"/>
          </p:cNvSpPr>
          <p:nvPr>
            <p:ph type="title"/>
          </p:nvPr>
        </p:nvSpPr>
        <p:spPr/>
        <p:txBody>
          <a:bodyPr/>
          <a:lstStyle/>
          <a:p>
            <a:r>
              <a:rPr lang="en-US" dirty="0"/>
              <a:t>IPv6 Multicast Addresses</a:t>
            </a:r>
          </a:p>
        </p:txBody>
      </p:sp>
      <p:sp>
        <p:nvSpPr>
          <p:cNvPr id="3" name="Content Placeholder 2">
            <a:extLst>
              <a:ext uri="{FF2B5EF4-FFF2-40B4-BE49-F238E27FC236}">
                <a16:creationId xmlns:a16="http://schemas.microsoft.com/office/drawing/2014/main" id="{484F08B9-AFEB-C67E-C117-2D602B86D24C}"/>
              </a:ext>
            </a:extLst>
          </p:cNvPr>
          <p:cNvSpPr>
            <a:spLocks noGrp="1"/>
          </p:cNvSpPr>
          <p:nvPr>
            <p:ph idx="1"/>
          </p:nvPr>
        </p:nvSpPr>
        <p:spPr/>
        <p:txBody>
          <a:bodyPr/>
          <a:lstStyle/>
          <a:p>
            <a:r>
              <a:rPr lang="en-US" dirty="0"/>
              <a:t>A </a:t>
            </a:r>
            <a:r>
              <a:rPr lang="en-US" b="1" dirty="0"/>
              <a:t>multicast address </a:t>
            </a:r>
            <a:r>
              <a:rPr lang="en-US" dirty="0"/>
              <a:t>in IPv6 performs the same function as its counterpart in IPv4</a:t>
            </a:r>
          </a:p>
          <a:p>
            <a:r>
              <a:rPr lang="en-US" dirty="0"/>
              <a:t>Multicast addresses begin with </a:t>
            </a:r>
            <a:r>
              <a:rPr lang="en-US" dirty="0">
                <a:latin typeface="Courier New" panose="02070309020205020404" pitchFamily="49" charset="0"/>
                <a:cs typeface="Courier New" panose="02070309020205020404" pitchFamily="49" charset="0"/>
              </a:rPr>
              <a:t>ff</a:t>
            </a:r>
            <a:r>
              <a:rPr lang="en-US" dirty="0"/>
              <a:t> and have the following structure:</a:t>
            </a:r>
          </a:p>
          <a:p>
            <a:pPr lvl="1"/>
            <a:r>
              <a:rPr lang="en-US" dirty="0">
                <a:latin typeface="Courier New" panose="02070309020205020404" pitchFamily="49" charset="0"/>
                <a:cs typeface="Courier New" panose="02070309020205020404" pitchFamily="49" charset="0"/>
              </a:rPr>
              <a:t>ffxy:zzzz:zzzz:zzzz:zzzz:zzzz:zzzz:zzzz</a:t>
            </a:r>
          </a:p>
          <a:p>
            <a:pPr lvl="1"/>
            <a:r>
              <a:rPr lang="en-US" sz="2200" dirty="0"/>
              <a:t>Flags—4-bit field, indicated by the </a:t>
            </a:r>
            <a:r>
              <a:rPr lang="en-US" sz="2200" dirty="0">
                <a:latin typeface="Courier New" panose="02070309020205020404" pitchFamily="49" charset="0"/>
                <a:cs typeface="Courier New" panose="02070309020205020404" pitchFamily="49" charset="0"/>
              </a:rPr>
              <a:t>x</a:t>
            </a:r>
            <a:r>
              <a:rPr lang="en-US" sz="2200" dirty="0"/>
              <a:t>, uses the three low-order bits</a:t>
            </a:r>
          </a:p>
          <a:p>
            <a:pPr lvl="1"/>
            <a:r>
              <a:rPr lang="en-US" sz="2200" dirty="0"/>
              <a:t>Scope—indicated by the </a:t>
            </a:r>
            <a:r>
              <a:rPr lang="en-US" sz="2200" dirty="0">
                <a:latin typeface="Courier New" panose="02070309020205020404" pitchFamily="49" charset="0"/>
                <a:cs typeface="Courier New" panose="02070309020205020404" pitchFamily="49" charset="0"/>
              </a:rPr>
              <a:t>y</a:t>
            </a:r>
            <a:r>
              <a:rPr lang="en-US" sz="2200" dirty="0"/>
              <a:t>, specifies whether and where the multicast packet can be routed</a:t>
            </a:r>
          </a:p>
          <a:p>
            <a:pPr lvl="1"/>
            <a:r>
              <a:rPr lang="en-US" sz="2200" dirty="0"/>
              <a:t>Group ID—represented by the </a:t>
            </a:r>
            <a:r>
              <a:rPr lang="en-US" sz="2200" dirty="0">
                <a:latin typeface="Courier New" panose="02070309020205020404" pitchFamily="49" charset="0"/>
                <a:cs typeface="Courier New" panose="02070309020205020404" pitchFamily="49" charset="0"/>
              </a:rPr>
              <a:t>z</a:t>
            </a:r>
            <a:r>
              <a:rPr lang="en-US" sz="2200" dirty="0"/>
              <a:t> characters, identifies a multicast group</a:t>
            </a:r>
          </a:p>
          <a:p>
            <a:endParaRPr lang="en-US" dirty="0"/>
          </a:p>
        </p:txBody>
      </p:sp>
    </p:spTree>
    <p:extLst>
      <p:ext uri="{BB962C8B-B14F-4D97-AF65-F5344CB8AC3E}">
        <p14:creationId xmlns:p14="http://schemas.microsoft.com/office/powerpoint/2010/main" val="2931052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89CE0-D659-10FD-317D-7C1C0CBBCF51}"/>
              </a:ext>
            </a:extLst>
          </p:cNvPr>
          <p:cNvSpPr>
            <a:spLocks noGrp="1"/>
          </p:cNvSpPr>
          <p:nvPr>
            <p:ph type="title"/>
          </p:nvPr>
        </p:nvSpPr>
        <p:spPr/>
        <p:txBody>
          <a:bodyPr/>
          <a:lstStyle/>
          <a:p>
            <a:r>
              <a:rPr lang="en-US" dirty="0"/>
              <a:t>Anycast Addresses</a:t>
            </a:r>
          </a:p>
        </p:txBody>
      </p:sp>
      <p:sp>
        <p:nvSpPr>
          <p:cNvPr id="3" name="Content Placeholder 2">
            <a:extLst>
              <a:ext uri="{FF2B5EF4-FFF2-40B4-BE49-F238E27FC236}">
                <a16:creationId xmlns:a16="http://schemas.microsoft.com/office/drawing/2014/main" id="{0E9840B7-3674-D06F-9415-C05C4CC0C92F}"/>
              </a:ext>
            </a:extLst>
          </p:cNvPr>
          <p:cNvSpPr>
            <a:spLocks noGrp="1"/>
          </p:cNvSpPr>
          <p:nvPr>
            <p:ph idx="1"/>
          </p:nvPr>
        </p:nvSpPr>
        <p:spPr/>
        <p:txBody>
          <a:bodyPr/>
          <a:lstStyle/>
          <a:p>
            <a:r>
              <a:rPr lang="en-US" b="1" dirty="0"/>
              <a:t>Anycast addresses </a:t>
            </a:r>
            <a:r>
              <a:rPr lang="en-US" dirty="0"/>
              <a:t>can be assigned to multiple interfaces on different nodes</a:t>
            </a:r>
          </a:p>
          <a:p>
            <a:r>
              <a:rPr lang="en-US" dirty="0"/>
              <a:t>Anycast addresses don’t have a special format</a:t>
            </a:r>
          </a:p>
          <a:p>
            <a:r>
              <a:rPr lang="en-US" dirty="0"/>
              <a:t>They are used when there are multiple nodes providing the same service and the client computer doesn’t care which device actually provides the service</a:t>
            </a:r>
          </a:p>
          <a:p>
            <a:r>
              <a:rPr lang="en-US" dirty="0"/>
              <a:t>Services that benefit from using anycast addresses include DNS servers, </a:t>
            </a:r>
            <a:r>
              <a:rPr lang="en-US" b="1" dirty="0"/>
              <a:t>content delivery networks </a:t>
            </a:r>
            <a:r>
              <a:rPr lang="en-US" dirty="0"/>
              <a:t>(</a:t>
            </a:r>
            <a:r>
              <a:rPr lang="en-US" b="1" dirty="0"/>
              <a:t>CDNs</a:t>
            </a:r>
            <a:r>
              <a:rPr lang="en-US" dirty="0"/>
              <a:t>), and web servers</a:t>
            </a:r>
          </a:p>
          <a:p>
            <a:endParaRPr lang="en-US" dirty="0"/>
          </a:p>
        </p:txBody>
      </p:sp>
    </p:spTree>
    <p:extLst>
      <p:ext uri="{BB962C8B-B14F-4D97-AF65-F5344CB8AC3E}">
        <p14:creationId xmlns:p14="http://schemas.microsoft.com/office/powerpoint/2010/main" val="37468337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05A95-A2C4-2D15-E911-3D2C137E70E7}"/>
              </a:ext>
            </a:extLst>
          </p:cNvPr>
          <p:cNvSpPr>
            <a:spLocks noGrp="1"/>
          </p:cNvSpPr>
          <p:nvPr>
            <p:ph type="title"/>
          </p:nvPr>
        </p:nvSpPr>
        <p:spPr/>
        <p:txBody>
          <a:bodyPr/>
          <a:lstStyle/>
          <a:p>
            <a:r>
              <a:rPr lang="en-US" dirty="0"/>
              <a:t>IPv6 Autoconfiguration and IPv4 Transitioning Methods</a:t>
            </a:r>
          </a:p>
        </p:txBody>
      </p:sp>
      <p:sp>
        <p:nvSpPr>
          <p:cNvPr id="3" name="Content Placeholder 2">
            <a:extLst>
              <a:ext uri="{FF2B5EF4-FFF2-40B4-BE49-F238E27FC236}">
                <a16:creationId xmlns:a16="http://schemas.microsoft.com/office/drawing/2014/main" id="{850F726D-6678-C9ED-B782-76916A2F54BF}"/>
              </a:ext>
            </a:extLst>
          </p:cNvPr>
          <p:cNvSpPr>
            <a:spLocks noGrp="1"/>
          </p:cNvSpPr>
          <p:nvPr>
            <p:ph idx="1"/>
          </p:nvPr>
        </p:nvSpPr>
        <p:spPr/>
        <p:txBody>
          <a:bodyPr/>
          <a:lstStyle/>
          <a:p>
            <a:r>
              <a:rPr lang="en-US" dirty="0"/>
              <a:t>IPv6 autoconfiguration occurs by two methods:</a:t>
            </a:r>
          </a:p>
          <a:p>
            <a:pPr lvl="1"/>
            <a:r>
              <a:rPr lang="en-US" sz="2200" b="1" dirty="0"/>
              <a:t>Stateless autoconfiguration</a:t>
            </a:r>
            <a:r>
              <a:rPr lang="en-US" sz="2200" dirty="0"/>
              <a:t>—the node listens for </a:t>
            </a:r>
            <a:r>
              <a:rPr lang="en-US" sz="2200" b="1" dirty="0"/>
              <a:t>router advertisement </a:t>
            </a:r>
            <a:r>
              <a:rPr lang="en-US" sz="2200" dirty="0"/>
              <a:t>messages from a local router</a:t>
            </a:r>
          </a:p>
          <a:p>
            <a:pPr lvl="1"/>
            <a:r>
              <a:rPr lang="en-US" sz="2200" b="1" dirty="0"/>
              <a:t>Stateful autoconfiguration</a:t>
            </a:r>
            <a:r>
              <a:rPr lang="en-US" sz="2200" dirty="0"/>
              <a:t>—the node uses an autoconfiguration protocol, such as DHCPv6, to obtain its IPv6 address and other configuration information</a:t>
            </a:r>
          </a:p>
          <a:p>
            <a:endParaRPr lang="en-US" dirty="0"/>
          </a:p>
        </p:txBody>
      </p:sp>
    </p:spTree>
    <p:extLst>
      <p:ext uri="{BB962C8B-B14F-4D97-AF65-F5344CB8AC3E}">
        <p14:creationId xmlns:p14="http://schemas.microsoft.com/office/powerpoint/2010/main" val="30276702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75ECD-C61F-55EE-BB49-B1441A8127AA}"/>
              </a:ext>
            </a:extLst>
          </p:cNvPr>
          <p:cNvSpPr>
            <a:spLocks noGrp="1"/>
          </p:cNvSpPr>
          <p:nvPr>
            <p:ph type="title"/>
          </p:nvPr>
        </p:nvSpPr>
        <p:spPr/>
        <p:txBody>
          <a:bodyPr/>
          <a:lstStyle/>
          <a:p>
            <a:r>
              <a:rPr lang="en-US" dirty="0"/>
              <a:t>Autoconfiguration on Windows Hosts</a:t>
            </a:r>
          </a:p>
        </p:txBody>
      </p:sp>
      <p:sp>
        <p:nvSpPr>
          <p:cNvPr id="3" name="Content Placeholder 2">
            <a:extLst>
              <a:ext uri="{FF2B5EF4-FFF2-40B4-BE49-F238E27FC236}">
                <a16:creationId xmlns:a16="http://schemas.microsoft.com/office/drawing/2014/main" id="{D11B9412-1F6F-40F1-C2A5-A188EA9CC863}"/>
              </a:ext>
            </a:extLst>
          </p:cNvPr>
          <p:cNvSpPr>
            <a:spLocks noGrp="1"/>
          </p:cNvSpPr>
          <p:nvPr>
            <p:ph idx="1"/>
          </p:nvPr>
        </p:nvSpPr>
        <p:spPr/>
        <p:txBody>
          <a:bodyPr/>
          <a:lstStyle/>
          <a:p>
            <a:r>
              <a:rPr lang="en-US" dirty="0"/>
              <a:t>The Windows autoconfiguration steps:</a:t>
            </a:r>
          </a:p>
          <a:p>
            <a:pPr marL="914400" lvl="1" indent="-457200">
              <a:buFont typeface="+mj-lt"/>
              <a:buAutoNum type="arabicPeriod"/>
            </a:pPr>
            <a:r>
              <a:rPr lang="en-US" sz="2200" dirty="0"/>
              <a:t>At initialization, a link-local address is determined</a:t>
            </a:r>
          </a:p>
          <a:p>
            <a:pPr marL="914400" lvl="1" indent="-457200">
              <a:buFont typeface="+mj-lt"/>
              <a:buAutoNum type="arabicPeriod"/>
            </a:pPr>
            <a:r>
              <a:rPr lang="en-US" sz="2200" dirty="0"/>
              <a:t>The link-local address is verified using duplicate address detection</a:t>
            </a:r>
          </a:p>
          <a:p>
            <a:pPr marL="914400" lvl="1" indent="-457200">
              <a:buFont typeface="+mj-lt"/>
              <a:buAutoNum type="arabicPeriod"/>
            </a:pPr>
            <a:r>
              <a:rPr lang="en-US" sz="2200" dirty="0"/>
              <a:t>If the address is verified as unique, address is assigned to the interface</a:t>
            </a:r>
          </a:p>
          <a:p>
            <a:pPr marL="914400" lvl="1" indent="-457200">
              <a:buFont typeface="+mj-lt"/>
              <a:buAutoNum type="arabicPeriod"/>
            </a:pPr>
            <a:r>
              <a:rPr lang="en-US" sz="2200" dirty="0"/>
              <a:t>The host transmits a </a:t>
            </a:r>
            <a:r>
              <a:rPr lang="en-US" sz="2200" b="1" dirty="0"/>
              <a:t>router solicitation </a:t>
            </a:r>
            <a:r>
              <a:rPr lang="en-US" sz="2200" dirty="0"/>
              <a:t>message</a:t>
            </a:r>
          </a:p>
          <a:p>
            <a:pPr marL="914400" lvl="1" indent="-457200">
              <a:buFont typeface="+mj-lt"/>
              <a:buAutoNum type="arabicPeriod"/>
            </a:pPr>
            <a:r>
              <a:rPr lang="en-US" sz="2200" dirty="0"/>
              <a:t>If no router advertisement messages are received in response to the solicitation message, the host attempts to use DHCPv6 to get an address</a:t>
            </a:r>
          </a:p>
          <a:p>
            <a:pPr marL="914400" lvl="1" indent="-457200">
              <a:buFont typeface="+mj-lt"/>
              <a:buAutoNum type="arabicPeriod"/>
            </a:pPr>
            <a:r>
              <a:rPr lang="en-US" sz="2200" dirty="0"/>
              <a:t>If router advertisement message is received, the prefix in the message is used along with interface ID to configure the IPv6 address</a:t>
            </a:r>
          </a:p>
          <a:p>
            <a:endParaRPr lang="en-US" dirty="0"/>
          </a:p>
        </p:txBody>
      </p:sp>
    </p:spTree>
    <p:extLst>
      <p:ext uri="{BB962C8B-B14F-4D97-AF65-F5344CB8AC3E}">
        <p14:creationId xmlns:p14="http://schemas.microsoft.com/office/powerpoint/2010/main" val="3556079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8DFE-3C25-BECE-4618-3867B7E52897}"/>
              </a:ext>
            </a:extLst>
          </p:cNvPr>
          <p:cNvSpPr>
            <a:spLocks noGrp="1"/>
          </p:cNvSpPr>
          <p:nvPr>
            <p:ph type="title"/>
          </p:nvPr>
        </p:nvSpPr>
        <p:spPr/>
        <p:txBody>
          <a:bodyPr/>
          <a:lstStyle/>
          <a:p>
            <a:r>
              <a:rPr lang="en-US" dirty="0"/>
              <a:t>Transitioning from IPv4 to IPv6 (1 of 5)</a:t>
            </a:r>
          </a:p>
        </p:txBody>
      </p:sp>
      <p:sp>
        <p:nvSpPr>
          <p:cNvPr id="3" name="Content Placeholder 2">
            <a:extLst>
              <a:ext uri="{FF2B5EF4-FFF2-40B4-BE49-F238E27FC236}">
                <a16:creationId xmlns:a16="http://schemas.microsoft.com/office/drawing/2014/main" id="{40A55E5E-2BE3-9A5A-9236-3E67A21F2F8F}"/>
              </a:ext>
            </a:extLst>
          </p:cNvPr>
          <p:cNvSpPr>
            <a:spLocks noGrp="1"/>
          </p:cNvSpPr>
          <p:nvPr>
            <p:ph idx="1"/>
          </p:nvPr>
        </p:nvSpPr>
        <p:spPr/>
        <p:txBody>
          <a:bodyPr/>
          <a:lstStyle/>
          <a:p>
            <a:r>
              <a:rPr lang="en-US" dirty="0"/>
              <a:t>A </a:t>
            </a:r>
            <a:r>
              <a:rPr lang="en-US" b="1" dirty="0"/>
              <a:t>dual IP layer architecture </a:t>
            </a:r>
            <a:r>
              <a:rPr lang="en-US" dirty="0"/>
              <a:t>means that the computer can communicate directly with both IPv4 and IPv6 devices by using the native packet types</a:t>
            </a:r>
          </a:p>
          <a:p>
            <a:pPr lvl="1"/>
            <a:r>
              <a:rPr lang="en-US" sz="2200" dirty="0"/>
              <a:t>Computers running either architecture can encapsulate IPv6 packets in an IPV4 header, a process called “tunneling”</a:t>
            </a:r>
          </a:p>
          <a:p>
            <a:r>
              <a:rPr lang="en-US" b="1" dirty="0"/>
              <a:t>Tunneling</a:t>
            </a:r>
            <a:r>
              <a:rPr lang="en-US" dirty="0"/>
              <a:t> is a network protocol technique that allows transmitting a packet in a format that’s incompatible with the network architecture by encapsulating the packet in a compatible header format</a:t>
            </a:r>
          </a:p>
          <a:p>
            <a:pPr lvl="1"/>
            <a:r>
              <a:rPr lang="en-US" sz="2200" dirty="0"/>
              <a:t>It’s needed when packets must traverse a network in which their protocol isn’t used</a:t>
            </a:r>
          </a:p>
          <a:p>
            <a:endParaRPr lang="en-US" dirty="0"/>
          </a:p>
        </p:txBody>
      </p:sp>
    </p:spTree>
    <p:extLst>
      <p:ext uri="{BB962C8B-B14F-4D97-AF65-F5344CB8AC3E}">
        <p14:creationId xmlns:p14="http://schemas.microsoft.com/office/powerpoint/2010/main" val="2879181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Transitioning from IPv4 to IPv6 (2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45721"/>
            <a:ext cx="4294598" cy="830997"/>
          </a:xfrm>
          <a:prstGeom prst="rect">
            <a:avLst/>
          </a:prstGeom>
          <a:noFill/>
        </p:spPr>
        <p:txBody>
          <a:bodyPr wrap="square" rtlCol="0">
            <a:spAutoFit/>
          </a:bodyPr>
          <a:lstStyle/>
          <a:p>
            <a:r>
              <a:rPr lang="en-US" sz="2400" b="1" dirty="0">
                <a:latin typeface="Work Sans" pitchFamily="2" charset="0"/>
              </a:rPr>
              <a:t>Figure 6-12  </a:t>
            </a:r>
            <a:r>
              <a:rPr lang="en-US" sz="2400" dirty="0">
                <a:latin typeface="Work Sans" pitchFamily="2" charset="0"/>
              </a:rPr>
              <a:t>IPv6-over-IPv4 tunneling</a:t>
            </a:r>
          </a:p>
        </p:txBody>
      </p:sp>
      <p:pic>
        <p:nvPicPr>
          <p:cNvPr id="4" name="Picture 3" descr="Accessing a server running an I P v 6 application on the Internet through an I P v 4 network. An I P v 6 over I P v 4 tunnel is used to transfer the information. The I P v 6 packets from the server are encapsulated in I P v 4 headers and traverse the Internet as I P v 4 packets.&#10;">
            <a:extLst>
              <a:ext uri="{FF2B5EF4-FFF2-40B4-BE49-F238E27FC236}">
                <a16:creationId xmlns:a16="http://schemas.microsoft.com/office/drawing/2014/main" id="{C905F66C-E6F5-D0B0-CC2B-D0D9162FE3B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36037" y="2744653"/>
            <a:ext cx="5968767" cy="1293091"/>
          </a:xfrm>
          <a:prstGeom prst="rect">
            <a:avLst/>
          </a:prstGeom>
        </p:spPr>
      </p:pic>
    </p:spTree>
    <p:extLst>
      <p:ext uri="{BB962C8B-B14F-4D97-AF65-F5344CB8AC3E}">
        <p14:creationId xmlns:p14="http://schemas.microsoft.com/office/powerpoint/2010/main" val="3850630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FF277-7A2E-C437-FFD4-DDAECF3D9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CFA2E-500E-B7AA-A3E9-36706FCC41BE}"/>
              </a:ext>
            </a:extLst>
          </p:cNvPr>
          <p:cNvSpPr>
            <a:spLocks noGrp="1"/>
          </p:cNvSpPr>
          <p:nvPr>
            <p:ph type="title"/>
          </p:nvPr>
        </p:nvSpPr>
        <p:spPr/>
        <p:txBody>
          <a:bodyPr/>
          <a:lstStyle/>
          <a:p>
            <a:r>
              <a:rPr lang="en-US" dirty="0"/>
              <a:t>Transitioning from IPv4 to IPv6 (3 of 5)</a:t>
            </a:r>
          </a:p>
        </p:txBody>
      </p:sp>
      <p:sp>
        <p:nvSpPr>
          <p:cNvPr id="3" name="Content Placeholder 2">
            <a:extLst>
              <a:ext uri="{FF2B5EF4-FFF2-40B4-BE49-F238E27FC236}">
                <a16:creationId xmlns:a16="http://schemas.microsoft.com/office/drawing/2014/main" id="{716AB491-6D56-AC47-5403-EA9E95F6CF5A}"/>
              </a:ext>
            </a:extLst>
          </p:cNvPr>
          <p:cNvSpPr>
            <a:spLocks noGrp="1"/>
          </p:cNvSpPr>
          <p:nvPr>
            <p:ph idx="1"/>
          </p:nvPr>
        </p:nvSpPr>
        <p:spPr/>
        <p:txBody>
          <a:bodyPr/>
          <a:lstStyle/>
          <a:p>
            <a:r>
              <a:rPr lang="en-US" b="1" dirty="0"/>
              <a:t>Intra-Site Automatic Tunnel Addressing Protocol (ISATAP) </a:t>
            </a:r>
            <a:r>
              <a:rPr lang="en-US" dirty="0"/>
              <a:t>is used to transmit IPv6 packets between dual IP layer hosts across an IPv4 network</a:t>
            </a:r>
          </a:p>
          <a:p>
            <a:pPr lvl="1"/>
            <a:r>
              <a:rPr lang="en-US" sz="2200" dirty="0"/>
              <a:t>ISATAP addresses have the following format:</a:t>
            </a:r>
          </a:p>
          <a:p>
            <a:pPr lvl="2"/>
            <a:r>
              <a:rPr lang="en-US" sz="2200" dirty="0">
                <a:latin typeface="Courier New" panose="02070309020205020404" pitchFamily="49" charset="0"/>
                <a:cs typeface="Courier New" panose="02070309020205020404" pitchFamily="49" charset="0"/>
              </a:rPr>
              <a:t>fe80::5efe:n:n:n:n</a:t>
            </a:r>
          </a:p>
          <a:p>
            <a:pPr lvl="2"/>
            <a:r>
              <a:rPr lang="en-US" sz="2200" dirty="0"/>
              <a:t>The first 64 bits of an ISATAP address are the link-local IPv6 address fe80 followed by 48 0 bits and the next 16 bits are typically </a:t>
            </a:r>
            <a:r>
              <a:rPr lang="en-US" sz="2200" dirty="0">
                <a:latin typeface="Courier New" panose="02070309020205020404" pitchFamily="49" charset="0"/>
                <a:cs typeface="Courier New" panose="02070309020205020404" pitchFamily="49" charset="0"/>
              </a:rPr>
              <a:t>5efe</a:t>
            </a:r>
          </a:p>
          <a:p>
            <a:pPr lvl="2"/>
            <a:r>
              <a:rPr lang="en-US" sz="2200" dirty="0"/>
              <a:t>ISATAP embeds the IPv4 address in the last 32 bits of the IPv6 address</a:t>
            </a:r>
          </a:p>
          <a:p>
            <a:endParaRPr lang="en-US" dirty="0"/>
          </a:p>
        </p:txBody>
      </p:sp>
    </p:spTree>
    <p:extLst>
      <p:ext uri="{BB962C8B-B14F-4D97-AF65-F5344CB8AC3E}">
        <p14:creationId xmlns:p14="http://schemas.microsoft.com/office/powerpoint/2010/main" val="3864950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A8E0-DD07-9D3C-656A-0EFC4970E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1D0F8-499D-0D60-934C-A343F3FF54E9}"/>
              </a:ext>
            </a:extLst>
          </p:cNvPr>
          <p:cNvSpPr>
            <a:spLocks noGrp="1"/>
          </p:cNvSpPr>
          <p:nvPr>
            <p:ph type="title"/>
          </p:nvPr>
        </p:nvSpPr>
        <p:spPr/>
        <p:txBody>
          <a:bodyPr/>
          <a:lstStyle/>
          <a:p>
            <a:r>
              <a:rPr lang="en-US" dirty="0"/>
              <a:t>Transitioning from IPv4 to IPv6 (4 of 5)</a:t>
            </a:r>
          </a:p>
        </p:txBody>
      </p:sp>
      <p:sp>
        <p:nvSpPr>
          <p:cNvPr id="3" name="Content Placeholder 2">
            <a:extLst>
              <a:ext uri="{FF2B5EF4-FFF2-40B4-BE49-F238E27FC236}">
                <a16:creationId xmlns:a16="http://schemas.microsoft.com/office/drawing/2014/main" id="{7B7890C4-EF8A-4BAB-B4DF-1D355C02A5B4}"/>
              </a:ext>
            </a:extLst>
          </p:cNvPr>
          <p:cNvSpPr>
            <a:spLocks noGrp="1"/>
          </p:cNvSpPr>
          <p:nvPr>
            <p:ph idx="1"/>
          </p:nvPr>
        </p:nvSpPr>
        <p:spPr/>
        <p:txBody>
          <a:bodyPr/>
          <a:lstStyle/>
          <a:p>
            <a:r>
              <a:rPr lang="en-US" b="1" dirty="0"/>
              <a:t>6to4</a:t>
            </a:r>
            <a:r>
              <a:rPr lang="en-US" dirty="0"/>
              <a:t> provides automatic tunneling of IPv6 traffic over an IPv4 network</a:t>
            </a:r>
          </a:p>
          <a:p>
            <a:pPr lvl="1"/>
            <a:r>
              <a:rPr lang="en-US" sz="2200" dirty="0"/>
              <a:t>It can provide host-to-router or router-to-host tunneling but is most often used to create a router-to-router tunnel</a:t>
            </a:r>
          </a:p>
          <a:p>
            <a:pPr lvl="1"/>
            <a:r>
              <a:rPr lang="en-US" sz="2200" dirty="0"/>
              <a:t>The key to 6to4 tunneling is the </a:t>
            </a:r>
            <a:r>
              <a:rPr lang="en-US" sz="2200" dirty="0">
                <a:latin typeface="Courier New" panose="02070309020205020404" pitchFamily="49" charset="0"/>
                <a:cs typeface="Courier New" panose="02070309020205020404" pitchFamily="49" charset="0"/>
              </a:rPr>
              <a:t>2002::/16 </a:t>
            </a:r>
            <a:r>
              <a:rPr lang="en-US" sz="2200" dirty="0"/>
              <a:t>prefix</a:t>
            </a:r>
          </a:p>
          <a:p>
            <a:pPr lvl="1"/>
            <a:r>
              <a:rPr lang="en-US" sz="2200" dirty="0"/>
              <a:t>Routers configured to perform 6to4 tunneling recognize the </a:t>
            </a:r>
            <a:r>
              <a:rPr lang="en-US" sz="2200" dirty="0">
                <a:latin typeface="Courier New" panose="02070309020205020404" pitchFamily="49" charset="0"/>
                <a:cs typeface="Courier New" panose="02070309020205020404" pitchFamily="49" charset="0"/>
              </a:rPr>
              <a:t>2002</a:t>
            </a:r>
            <a:r>
              <a:rPr lang="en-US" sz="2200" dirty="0"/>
              <a:t> prefix as a 6to4 address</a:t>
            </a:r>
          </a:p>
          <a:p>
            <a:r>
              <a:rPr lang="en-US" dirty="0"/>
              <a:t>The IPv4 address embedded in the 6to4 address must be a public address, which limits its use</a:t>
            </a:r>
          </a:p>
        </p:txBody>
      </p:sp>
    </p:spTree>
    <p:extLst>
      <p:ext uri="{BB962C8B-B14F-4D97-AF65-F5344CB8AC3E}">
        <p14:creationId xmlns:p14="http://schemas.microsoft.com/office/powerpoint/2010/main" val="30626563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0ACD-E94F-B959-35EB-4659E5490D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C55FB-205F-E9B9-30DC-0C47C527052E}"/>
              </a:ext>
            </a:extLst>
          </p:cNvPr>
          <p:cNvSpPr>
            <a:spLocks noGrp="1"/>
          </p:cNvSpPr>
          <p:nvPr>
            <p:ph type="title"/>
          </p:nvPr>
        </p:nvSpPr>
        <p:spPr/>
        <p:txBody>
          <a:bodyPr/>
          <a:lstStyle/>
          <a:p>
            <a:r>
              <a:rPr lang="en-US" dirty="0"/>
              <a:t>Transitioning from IPv4 to IPv6 (5 of 5)</a:t>
            </a:r>
          </a:p>
        </p:txBody>
      </p:sp>
      <p:sp>
        <p:nvSpPr>
          <p:cNvPr id="3" name="Content Placeholder 2">
            <a:extLst>
              <a:ext uri="{FF2B5EF4-FFF2-40B4-BE49-F238E27FC236}">
                <a16:creationId xmlns:a16="http://schemas.microsoft.com/office/drawing/2014/main" id="{30AC2936-E881-B50F-30EA-613B1BBE214D}"/>
              </a:ext>
            </a:extLst>
          </p:cNvPr>
          <p:cNvSpPr>
            <a:spLocks noGrp="1"/>
          </p:cNvSpPr>
          <p:nvPr>
            <p:ph idx="1"/>
          </p:nvPr>
        </p:nvSpPr>
        <p:spPr>
          <a:xfrm>
            <a:off x="476843" y="1690692"/>
            <a:ext cx="11241915" cy="4351338"/>
          </a:xfrm>
        </p:spPr>
        <p:txBody>
          <a:bodyPr/>
          <a:lstStyle/>
          <a:p>
            <a:r>
              <a:rPr lang="en-US" b="1" dirty="0"/>
              <a:t>Teredo</a:t>
            </a:r>
            <a:r>
              <a:rPr lang="en-US" dirty="0"/>
              <a:t> is an automatic IPv6-over-IPv4 tunneling protocol that solves the problem of 6to4’s requirement of a public IPv4 address</a:t>
            </a:r>
          </a:p>
          <a:p>
            <a:pPr lvl="1"/>
            <a:r>
              <a:rPr lang="en-US" sz="2200" dirty="0"/>
              <a:t>A Teredo address has the following format:</a:t>
            </a:r>
          </a:p>
          <a:p>
            <a:pPr lvl="2"/>
            <a:r>
              <a:rPr lang="en-US" sz="2000" dirty="0">
                <a:latin typeface="Courier New" panose="02070309020205020404" pitchFamily="49" charset="0"/>
                <a:cs typeface="Courier New" panose="02070309020205020404" pitchFamily="49" charset="0"/>
              </a:rPr>
              <a:t>2001:tttt:tttt:gggg:pppp:xxxx:xxxx</a:t>
            </a:r>
          </a:p>
          <a:p>
            <a:pPr lvl="2"/>
            <a:r>
              <a:rPr lang="en-US" sz="2000" dirty="0"/>
              <a:t>The first 16 bits are always the Teredo prefix </a:t>
            </a:r>
            <a:r>
              <a:rPr lang="en-US" sz="2000" dirty="0">
                <a:latin typeface="Courier New" panose="02070309020205020404" pitchFamily="49" charset="0"/>
                <a:cs typeface="Courier New" panose="02070309020205020404" pitchFamily="49" charset="0"/>
              </a:rPr>
              <a:t>2001</a:t>
            </a:r>
          </a:p>
          <a:p>
            <a:pPr lvl="2"/>
            <a:r>
              <a:rPr lang="en-US" sz="2000" dirty="0"/>
              <a:t>The next 32 bits are the Teredo server’s IPv4 public address</a:t>
            </a:r>
          </a:p>
          <a:p>
            <a:pPr lvl="2"/>
            <a:r>
              <a:rPr lang="en-US" sz="2000" dirty="0"/>
              <a:t>The next 16 bits are Teredo flags that specify processing options</a:t>
            </a:r>
          </a:p>
          <a:p>
            <a:pPr lvl="2"/>
            <a:r>
              <a:rPr lang="en-US" sz="2000" dirty="0"/>
              <a:t>The </a:t>
            </a:r>
            <a:r>
              <a:rPr lang="en-US" sz="2000" dirty="0">
                <a:latin typeface="Courier New" panose="02070309020205020404" pitchFamily="49" charset="0"/>
                <a:cs typeface="Courier New" panose="02070309020205020404" pitchFamily="49" charset="0"/>
              </a:rPr>
              <a:t>p</a:t>
            </a:r>
            <a:r>
              <a:rPr lang="en-US" sz="2000" dirty="0"/>
              <a:t> characters represent an obscured UDP port the client uses for Teredo traffic</a:t>
            </a:r>
          </a:p>
          <a:p>
            <a:pPr lvl="2"/>
            <a:r>
              <a:rPr lang="en-US" sz="2000" dirty="0"/>
              <a:t>The last 32 bits are the IPv4 address the client uses for Teredo traffic</a:t>
            </a:r>
          </a:p>
        </p:txBody>
      </p:sp>
    </p:spTree>
    <p:extLst>
      <p:ext uri="{BB962C8B-B14F-4D97-AF65-F5344CB8AC3E}">
        <p14:creationId xmlns:p14="http://schemas.microsoft.com/office/powerpoint/2010/main" val="13819112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6-2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When does a computer send a packet to its default gateway?</a:t>
            </a:r>
          </a:p>
          <a:p>
            <a:pPr marL="0" indent="0">
              <a:buNone/>
            </a:pPr>
            <a:r>
              <a:rPr lang="en-US" dirty="0"/>
              <a:t>a. When the ARP broadcast did not receive a reply.</a:t>
            </a:r>
          </a:p>
          <a:p>
            <a:pPr marL="0" indent="0">
              <a:buNone/>
            </a:pPr>
            <a:r>
              <a:rPr lang="en-US" dirty="0"/>
              <a:t>b. When the destination address has a different network ID than its own network ID.</a:t>
            </a:r>
          </a:p>
          <a:p>
            <a:pPr marL="0" indent="0">
              <a:buNone/>
            </a:pPr>
            <a:r>
              <a:rPr lang="en-US" dirty="0"/>
              <a:t>c. When the destination address has a different host ID than its own host ID.</a:t>
            </a:r>
          </a:p>
          <a:p>
            <a:pPr marL="0" indent="0">
              <a:buNone/>
            </a:pPr>
            <a:r>
              <a:rPr lang="en-US" dirty="0"/>
              <a:t>d. When the destination address can’t be found by a DNS lookup.</a:t>
            </a:r>
          </a:p>
        </p:txBody>
      </p:sp>
    </p:spTree>
    <p:extLst>
      <p:ext uri="{BB962C8B-B14F-4D97-AF65-F5344CB8AC3E}">
        <p14:creationId xmlns:p14="http://schemas.microsoft.com/office/powerpoint/2010/main" val="1225153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6-2: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When does a computer send a packet to its default gateway?</a:t>
            </a:r>
          </a:p>
          <a:p>
            <a:pPr marL="0" indent="0">
              <a:buNone/>
            </a:pPr>
            <a:r>
              <a:rPr lang="en-US" b="1" dirty="0"/>
              <a:t>Answer: b</a:t>
            </a:r>
            <a:r>
              <a:rPr lang="en-US" dirty="0"/>
              <a:t>. When the destination address has a different network ID than its own network ID.</a:t>
            </a:r>
          </a:p>
          <a:p>
            <a:pPr marL="0" indent="0">
              <a:buNone/>
            </a:pPr>
            <a:r>
              <a:rPr lang="en-US" b="1" dirty="0"/>
              <a:t>Explanation:</a:t>
            </a:r>
            <a:r>
              <a:rPr lang="en-US" dirty="0"/>
              <a:t> When a computer has a packet in which the network ID of the destination IP address is different than its own network ID, that means that the destination device is on a different network and the host must send the packet to the default gateway so the packet can be routed to the correct network.</a:t>
            </a:r>
          </a:p>
        </p:txBody>
      </p:sp>
    </p:spTree>
    <p:extLst>
      <p:ext uri="{BB962C8B-B14F-4D97-AF65-F5344CB8AC3E}">
        <p14:creationId xmlns:p14="http://schemas.microsoft.com/office/powerpoint/2010/main" val="19977629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Explain the differences between an IPv4 address and an IPv6 address.</a:t>
            </a:r>
          </a:p>
          <a:p>
            <a:pPr marL="0" indent="0">
              <a:buNone/>
            </a:pPr>
            <a:endParaRPr lang="en-US" dirty="0"/>
          </a:p>
          <a:p>
            <a:pPr marL="0" indent="0">
              <a:buNone/>
            </a:pPr>
            <a:r>
              <a:rPr lang="en-US" dirty="0"/>
              <a:t>Name some reasons why a network administrator may need to subnet a network.</a:t>
            </a:r>
          </a:p>
        </p:txBody>
      </p:sp>
    </p:spTree>
    <p:extLst>
      <p:ext uri="{BB962C8B-B14F-4D97-AF65-F5344CB8AC3E}">
        <p14:creationId xmlns:p14="http://schemas.microsoft.com/office/powerpoint/2010/main" val="6237428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3242" y="1690692"/>
            <a:ext cx="11241915"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sz="2200" dirty="0"/>
              <a:t>Explain IPv4 addressing</a:t>
            </a:r>
          </a:p>
          <a:p>
            <a:pPr marL="457200" indent="-457200">
              <a:buFont typeface="+mj-lt"/>
              <a:buAutoNum type="arabicPeriod"/>
            </a:pPr>
            <a:r>
              <a:rPr lang="en-US" altLang="zh-CN" sz="2200" dirty="0"/>
              <a:t>Use Classless Interdomain Routing Notation</a:t>
            </a:r>
          </a:p>
          <a:p>
            <a:pPr marL="457200" indent="-457200">
              <a:buFont typeface="+mj-lt"/>
              <a:buAutoNum type="arabicPeriod"/>
            </a:pPr>
            <a:r>
              <a:rPr lang="en-US" altLang="zh-CN" sz="2200" dirty="0"/>
              <a:t>Perform subnetting calculations</a:t>
            </a:r>
          </a:p>
          <a:p>
            <a:pPr marL="457200" indent="-457200">
              <a:buFont typeface="+mj-lt"/>
              <a:buAutoNum type="arabicPeriod"/>
            </a:pPr>
            <a:r>
              <a:rPr lang="en-US" altLang="zh-CN" sz="2200" dirty="0"/>
              <a:t>Configure IPv4 addresses</a:t>
            </a:r>
          </a:p>
          <a:p>
            <a:pPr marL="457200" indent="-457200">
              <a:buFont typeface="+mj-lt"/>
              <a:buAutoNum type="arabicPeriod"/>
            </a:pPr>
            <a:r>
              <a:rPr lang="en-US" altLang="zh-CN" sz="2200" dirty="0"/>
              <a:t>Describe Network Address Translation</a:t>
            </a:r>
          </a:p>
          <a:p>
            <a:pPr marL="457200" indent="-457200">
              <a:buFont typeface="+mj-lt"/>
              <a:buAutoNum type="arabicPeriod"/>
            </a:pPr>
            <a:r>
              <a:rPr lang="en-US" altLang="zh-CN" sz="2200" dirty="0"/>
              <a:t>Describe IPv6</a:t>
            </a:r>
          </a:p>
          <a:p>
            <a:pPr marL="457200" indent="-457200">
              <a:buFont typeface="+mj-lt"/>
              <a:buAutoNum type="arabicPeriod"/>
            </a:pPr>
            <a:r>
              <a:rPr lang="en-US" altLang="zh-CN" sz="2200" dirty="0"/>
              <a:t>Explain IPv6 autoconfiguration and IPv4 transitioning methods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2.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12396</TotalTime>
  <Words>4380</Words>
  <Application>Microsoft Office PowerPoint</Application>
  <PresentationFormat>Widescreen</PresentationFormat>
  <Paragraphs>408</Paragraphs>
  <Slides>62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IPv4 Addressing (1 of 2)</vt:lpstr>
      <vt:lpstr>IPv4 Addressing (2 of 2)</vt:lpstr>
      <vt:lpstr>Binary Math (1 of 8)</vt:lpstr>
      <vt:lpstr>Binary Math (2 of 8)</vt:lpstr>
      <vt:lpstr>Binary Math (3 of 8)</vt:lpstr>
      <vt:lpstr>Binary Math (4 of 8)</vt:lpstr>
      <vt:lpstr>Binary Math (5 of 8)</vt:lpstr>
      <vt:lpstr>Binary Math (6 of 8)</vt:lpstr>
      <vt:lpstr>Binary Math (7 of 8)</vt:lpstr>
      <vt:lpstr>Binary Math (8 of 8)</vt:lpstr>
      <vt:lpstr>IPv4 Address Classes (1 of 3)</vt:lpstr>
      <vt:lpstr>IPv4 Address Classes (2 of 3)</vt:lpstr>
      <vt:lpstr>IPv4 Address Classes (3 of 3)</vt:lpstr>
      <vt:lpstr>Private IP Addresses</vt:lpstr>
      <vt:lpstr>Classless Interdomain Routing</vt:lpstr>
      <vt:lpstr>CIDR Notation</vt:lpstr>
      <vt:lpstr>Broadcast Domains</vt:lpstr>
      <vt:lpstr>IPv4 Subnetting</vt:lpstr>
      <vt:lpstr>Calculating a Subnet Mask (1 of 4)</vt:lpstr>
      <vt:lpstr>Calculating a Subnet Mask (2 of 4)</vt:lpstr>
      <vt:lpstr>Calculating a Subnet Mask (3 of 4)</vt:lpstr>
      <vt:lpstr>Calculating a Subnet Mask (4 of 4)</vt:lpstr>
      <vt:lpstr>Supernetting (1 of 2)</vt:lpstr>
      <vt:lpstr>Supernetting (2 of 2)</vt:lpstr>
      <vt:lpstr>Knowledge Check Activity 6-1</vt:lpstr>
      <vt:lpstr>Knowledge Check Activity 6-1: Answer</vt:lpstr>
      <vt:lpstr>Configuring IPv4 Addresses (1 of 2)</vt:lpstr>
      <vt:lpstr>Configuring IPv4 Addresses (2 of 2)</vt:lpstr>
      <vt:lpstr>Configuring Multiple IP Addresses</vt:lpstr>
      <vt:lpstr>Configuring the Default Gateway (1 of 4)</vt:lpstr>
      <vt:lpstr>Configuring the Default Gateway (2 of 4)</vt:lpstr>
      <vt:lpstr>Configuring the Default Gateway (3 of 4)</vt:lpstr>
      <vt:lpstr>Configuring the Default Gateway (4 of 4)</vt:lpstr>
      <vt:lpstr>IP Configuration Command-Line Tools (1 of 3)</vt:lpstr>
      <vt:lpstr>IP Configuration Command-Line Tools (2 of 3)</vt:lpstr>
      <vt:lpstr>IP Configuration Command-Line Tools (3 of 3)</vt:lpstr>
      <vt:lpstr>Network Address Translation (1 of 4)</vt:lpstr>
      <vt:lpstr>Network Address Translation (2 of 4)</vt:lpstr>
      <vt:lpstr>Network Address Translation (3 of 4)</vt:lpstr>
      <vt:lpstr>Network Address Translation (4 of 4)</vt:lpstr>
      <vt:lpstr>Internet Protocol Version 6</vt:lpstr>
      <vt:lpstr>IPv6 Address Structure (1 of 2)</vt:lpstr>
      <vt:lpstr>IPv6 Address Structure (2 of 2)</vt:lpstr>
      <vt:lpstr>IPv6 Address Types (1 of 2)</vt:lpstr>
      <vt:lpstr>IPv6 Address Types (2 of 2)</vt:lpstr>
      <vt:lpstr>Subnetting with IPv6 (1 of 2)</vt:lpstr>
      <vt:lpstr>Subnetting with IPv6 (2 of 2)</vt:lpstr>
      <vt:lpstr>IPv6 Multicast Addresses</vt:lpstr>
      <vt:lpstr>Anycast Addresses</vt:lpstr>
      <vt:lpstr>IPv6 Autoconfiguration and IPv4 Transitioning Methods</vt:lpstr>
      <vt:lpstr>Autoconfiguration on Windows Hosts</vt:lpstr>
      <vt:lpstr>Transitioning from IPv4 to IPv6 (1 of 5)</vt:lpstr>
      <vt:lpstr>Transitioning from IPv4 to IPv6 (2 of 5)</vt:lpstr>
      <vt:lpstr>Transitioning from IPv4 to IPv6 (3 of 5)</vt:lpstr>
      <vt:lpstr>Transitioning from IPv4 to IPv6 (4 of 5)</vt:lpstr>
      <vt:lpstr>Transitioning from IPv4 to IPv6 (5 of 5)</vt:lpstr>
      <vt:lpstr>Knowledge Check Activity 6-2</vt:lpstr>
      <vt:lpstr>Knowledge Check Activity 6-2: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Anthony Pacheco</cp:lastModifiedBy>
  <cp:revision>413</cp:revision>
  <cp:lastPrinted>2016-10-03T15:29:39Z</cp:lastPrinted>
  <dcterms:created xsi:type="dcterms:W3CDTF">2021-12-10T16:21:02Z</dcterms:created>
  <dcterms:modified xsi:type="dcterms:W3CDTF">2026-02-26T19:42:22Z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